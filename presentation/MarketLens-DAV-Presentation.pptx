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DHANASHREE SAINIS · about 35s
Good morning, everyone. We are Shreya Sharma, Krish Potanwar and I, Dhanashree Sainis, and this is MarketLens, our Data Analytics and Visualization project for semester five. It is a research workstation and paper-trading platform for Indian stocks, built around one promise: show the truth after costs. I will explain the problem and the product. Shreya will cover how it is built, the research engine and the AI. Krish will cover what we found when we audited our own code, what we fixed, and how we tested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DHANASHREE SAINIS · about 55s
Most paper-trading apps are flattering. They ignore statutory charges: STT, GST, stamp duty and exchange fees. They let you trade at any hour, and they fill you instantly at the price you see. Typical DAV projects share the weakness: a notebook, a stale CSV, no live data and no costs. Here is what that hides. On a one-lakh-rupee intraday round trip our engine charges 82 rupees in statutory fees plus 100 rupees of slippage. That is 182 rupees, or 0.18 percent, so the stock has to move that much just for you to break even. MarketLens shows that on every order.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DHANASHREE SAINIS · about 55s
MarketLens has nine modules in four groups. Market: a stocks explorer covering 13,109 NSE and BSE listings, mutual funds with a SIP calculator, and an IPO hub. Intelligence: the AI Strategy Lab and Trends and Signals. Execution: a paper-trading terminal with strict market hours. Research: Overview, Forecast Lab and Run Receipt, the audited and reproducible side. This screenshot is the running app on live market data, not a mock-up. The prices come from Yahoo Finance's unofficial API, so they can be delayed, and when the feed is down the app shows a dash instead of a number.
HAND-OFF: Over to Shreya for how it is built.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SHREYA SHARMA · about 60s
The stack is deliberately small. The browser runs React 19 with TypeScript and plain CSS, served from Vercel. Behind it a FastAPI service on Render exposes 17 read-only routes with a ten-second cache. It pulls quotes and candles from Yahoo's chart API, IPOs from the NSE website, headlines from Google News and fund NAVs from mfapi. The pages refresh every fifteen seconds. Separately, the research core, a normalizer, backtester, forecaster, validator and publisher, runs offline on a synthetic fixture of 224 five-minute bars and publishes immutable runs that the API serves. Keeping that core apart is what lets us audit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SHREYA SHARMA · about 75s
The research core is where the rigor lives. Every trade must satisfy one identity: gross profit minus charges minus slippage equals net. It is checked per trade, per run, and again by the validator. Orders fill at the next bar's open, so there is no look-ahead. Money is Decimal, rounded to the paisa. Gaps are flagged, never forward-filled. The forecast splits whole sessions in time order, sixty, twenty, twenty. Results are published as run bundles, each fingerprinted with SHA-256, and the database refuses updates and deletes, so a published run cannot be edited. And here is the honest result from today: on the shipped fixture the strategy makes zero trades, buy-and-hold loses 589 rupees, and the forecast scores a Brier of 0.537, worse than the 0.334 of a forecast that simply repeats the training base rate. The pipeline reports no edge, which is the honest answer on a synthetic fixture.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SHREYA SHARMA · about 60s
The paper-trading terminal treats the market like the real one. Sessions run 9:15 to 3:30 IST, weekends and exchange holidays are closed, and intraday positions are squared off automatically at 3:15 PM. A 24/7 simulator switch allows off-hours testing. Every order produces an itemised charge slip. This breakdown shows where the 182 rupees goes on a one-lakh round trip: slippage is the biggest bite at 100 rupees, then brokerage 40, STT 25, GST about 8, exchange fee about 6, stamp duty 3 and the SEBI fee twenty paise. The fee rates live in one file, and that file says they mirror published broker schedules and are not yet verified against NSE circulars.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SHREYA SHARMA · about 60s
The AI Strategy Lab takes a stock, a preset such as the 20/50 SMA crossover, and optional news or earnings-call text, and produces four timelines: bull, base, bear and black swan, each with target and stop prices and an invalidation condition. Its indicators come from the stock's real daily prices. A jump-diffusion Monte Carlo of 500 paths over 30 days draws the fan chart and reports value at risk at 95 and 99 percent. The drift is a stated assumption, and the volatility is measured from a year of closes when the feed has them. It works with no API key using a deterministic offline engine, and calls Groq, Gemini or Grok if you paste a key. One click sends the setup to the paper terminal, costs included.
HAND-OFF: Krish will take you through what we found when we audited ourselves, and what we fixed.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 POTANWAR · about 90s
We audited our own repository, and then fixed what we found. Four things. First, the public demo run. The engine on the project's fixture makes zero trades, but the demo served by our API showed one winning trade, plus 47 rupees 90, typed by hand, with placeholder fingerprints. The API now serves the engine's own run: zero trades, net zero, Brier 0.5370, and real SHA-256 fingerprints. Second, two fee engines disagreed: 95 rupees 58 in the paper terminal against 82 rupees 44 in the backend, because the terminal applied the delivery stamp duty to an intraday trade. One schedule file now feeds both, a test catches drift, and both say 82 rupees 44. Third, invented data. A failed feed used to produce a made-up 1,000 rupee quote, an invented RSI, a drawn-up chart and a hard-coded NIFTY level. Now a failed feed shows a dash and says so, and orders are refused without a live price. Fourth, security. AI keys set at build time would have shipped in the public JavaScript. Keys are now only typed in, a test fails if a build-time key returns, and query parameters are allow-listed.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KRISH POTANWAR · about 85s
How did we test it? Like a user would. We drove the app in a real browser through every module: search, charts, a paper trade from order to square-off, the AI lab to paper-trade bridge, funds, IPOs, light and dark themes, phone and tablet widths. Against live data that is 138 checks and no console errors. With the market feed switched off, 124 checks. With the backend not running at all, 124 again, and nothing breaks or invents a price. The backend suite is 107 tests on Python 3.12, which Render runs, and on 3.14, and it passes with every network socket blocked. There are 112 front-end tests, 15 end-to-end tests that pass offline at any hour, and an accessibility scan that finds no serious issue on any page in either theme. That user-style run caught what unit tests had missed: Tata Motors had no price because Yahoo retired its old ticker; the AI lab showed a value-at-risk of minus 99 percent because a percentage was printed as rupees; a VWAP of 2,938 sat beside a price of 1,158; the light theme was unreadable; and one of our own changes would have crashed the Python 3.12 server. All fixed, each with a test.
HAND-OFF: Back to Dhanashree to close.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DHANASHREE SAINIS · about 45s
Thank you. To close: this project covered the whole DAV pipeline: ingesting and cleaning data, modelling and validating it, simulating risk with Monte Carlo, and visualising it in an interface people can use. Our biggest lesson is that a dashboard is only as good as the numbers behind it. What is next: the browser tests in CI, rate limiting and stricter CORS, a documented broker data adapter behind the rights gate, and a check of the fee schedule against NSE circulars. The live demo is at market-lens-kappa.vercel.app and the code is on GitHub under Krishpotanwar slash MarketLens. We are happy to take questions.
PRESENTER NOTE: Presenter-only, do not read out: the Vercel site updates on every push, but the Render API redeploys on its own schedule. Before a live demo, open /api/v1/market/status on the Render URL: it should name Yahoo Finance (unofficial), not Angel One SmartAPI.</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hyperlink" Target="https://market-lens-kappa.vercel.app" TargetMode="External"/><Relationship Id="rId1" Type="http://schemas.openxmlformats.org/officeDocument/2006/relationships/image" Target="../media/Slide-1-image-1.jpeg"/><Relationship Id="rId3" Type="http://schemas.openxmlformats.org/officeDocument/2006/relationships/slideLayout" Target="../slideLayouts/slideLayout1.xml"/><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slideLayout" Target="../slideLayouts/slideLayout1.xml"/><Relationship Id="rId5"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market-lens-kappa.vercel.app" TargetMode="External"/><Relationship Id="rId3" Type="http://schemas.openxmlformats.org/officeDocument/2006/relationships/hyperlink" Target="https://github.com/Krishpotanwar/MarketLens" TargetMode="External"/><Relationship Id="rId1" Type="http://schemas.openxmlformats.org/officeDocument/2006/relationships/image" Target="../media/Slide-10-image-1.jpeg"/><Relationship Id="rId4" Type="http://schemas.openxmlformats.org/officeDocument/2006/relationships/slideLayout" Target="../slideLayouts/slideLayout1.xml"/><Relationship Id="rId5"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48640"/>
            <a:ext cx="3657600" cy="365760"/>
          </a:xfrm>
          <a:prstGeom prst="rect">
            <a:avLst/>
          </a:prstGeom>
          <a:noFill/>
          <a:ln/>
        </p:spPr>
        <p:txBody>
          <a:bodyPr wrap="square" lIns="0" tIns="0" rIns="0" bIns="0" rtlCol="0" anchor="t"/>
          <a:lstStyle/>
          <a:p>
            <a:pPr algn="l" indent="0" marL="0">
              <a:buNone/>
            </a:pPr>
            <a:r>
              <a:rPr lang="en-US" sz="1700" spc="-30" kern="0" dirty="0">
                <a:solidFill>
                  <a:srgbClr val="111111"/>
                </a:solidFill>
                <a:latin typeface="Georgia" pitchFamily="34" charset="0"/>
                <a:ea typeface="Georgia" pitchFamily="34" charset="-122"/>
                <a:cs typeface="Georgia" pitchFamily="34" charset="-120"/>
              </a:rPr>
              <a:t>MarketLens</a:t>
            </a:r>
            <a:endParaRPr lang="en-US" sz="1700" dirty="0"/>
          </a:p>
        </p:txBody>
      </p:sp>
      <p:sp>
        <p:nvSpPr>
          <p:cNvPr id="3" name="Text 1"/>
          <p:cNvSpPr txBox="1"/>
          <p:nvPr/>
        </p:nvSpPr>
        <p:spPr>
          <a:xfrm>
            <a:off x="5425135" y="603504"/>
            <a:ext cx="5943600" cy="228600"/>
          </a:xfrm>
          <a:prstGeom prst="rect">
            <a:avLst/>
          </a:prstGeom>
          <a:noFill/>
          <a:ln/>
        </p:spPr>
        <p:txBody>
          <a:bodyPr wrap="square" lIns="0" tIns="0" rIns="0" bIns="0" rtlCol="0" anchor="t"/>
          <a:lstStyle/>
          <a:p>
            <a:pPr algn="r" indent="0" marL="0">
              <a:buNone/>
            </a:pPr>
            <a:r>
              <a:rPr lang="en-US" sz="950" spc="200" kern="0" dirty="0">
                <a:solidFill>
                  <a:srgbClr val="787774"/>
                </a:solidFill>
                <a:latin typeface="Arial" pitchFamily="34" charset="0"/>
                <a:ea typeface="Arial" pitchFamily="34" charset="-122"/>
                <a:cs typeface="Arial" pitchFamily="34" charset="-120"/>
              </a:rPr>
              <a:t>DATA ANALYTICS AND VISUALIZATION  ·  SEMESTER 5</a:t>
            </a:r>
            <a:endParaRPr lang="en-US" sz="950" dirty="0"/>
          </a:p>
        </p:txBody>
      </p:sp>
      <p:sp>
        <p:nvSpPr>
          <p:cNvPr id="4" name="Text 2"/>
          <p:cNvSpPr txBox="1"/>
          <p:nvPr/>
        </p:nvSpPr>
        <p:spPr>
          <a:xfrm>
            <a:off x="822960" y="1737360"/>
            <a:ext cx="9601200" cy="2468880"/>
          </a:xfrm>
          <a:prstGeom prst="rect">
            <a:avLst/>
          </a:prstGeom>
          <a:noFill/>
          <a:ln/>
        </p:spPr>
        <p:txBody>
          <a:bodyPr wrap="square" lIns="0" tIns="0" rIns="0" bIns="0" rtlCol="0" anchor="t"/>
          <a:lstStyle/>
          <a:p>
            <a:pPr algn="l" indent="0" marL="0">
              <a:lnSpc>
                <a:spcPct val="90000"/>
              </a:lnSpc>
              <a:buNone/>
            </a:pPr>
            <a:r>
              <a:rPr lang="en-US" sz="6800" spc="-140" kern="0" dirty="0">
                <a:solidFill>
                  <a:srgbClr val="111111"/>
                </a:solidFill>
                <a:latin typeface="Georgia" pitchFamily="34" charset="0"/>
                <a:ea typeface="Georgia" pitchFamily="34" charset="-122"/>
                <a:cs typeface="Georgia" pitchFamily="34" charset="-120"/>
              </a:rPr>
              <a:t>Show the truth</a:t>
            </a:r>
            <a:endParaRPr lang="en-US" sz="6800" dirty="0"/>
          </a:p>
          <a:p>
            <a:pPr algn="l" indent="0" marL="0">
              <a:lnSpc>
                <a:spcPct val="90000"/>
              </a:lnSpc>
              <a:buNone/>
            </a:pPr>
            <a:r>
              <a:rPr lang="en-US" sz="6800" spc="-140" kern="0" dirty="0">
                <a:solidFill>
                  <a:srgbClr val="111111"/>
                </a:solidFill>
                <a:latin typeface="Georgia" pitchFamily="34" charset="0"/>
                <a:ea typeface="Georgia" pitchFamily="34" charset="-122"/>
                <a:cs typeface="Georgia" pitchFamily="34" charset="-120"/>
              </a:rPr>
              <a:t>after costs.</a:t>
            </a:r>
            <a:endParaRPr lang="en-US" sz="6800" dirty="0"/>
          </a:p>
        </p:txBody>
      </p:sp>
      <p:sp>
        <p:nvSpPr>
          <p:cNvPr id="5" name="Text 3"/>
          <p:cNvSpPr txBox="1"/>
          <p:nvPr/>
        </p:nvSpPr>
        <p:spPr>
          <a:xfrm>
            <a:off x="822960" y="4389120"/>
            <a:ext cx="7315200" cy="822960"/>
          </a:xfrm>
          <a:prstGeom prst="rect">
            <a:avLst/>
          </a:prstGeom>
          <a:noFill/>
          <a:ln/>
        </p:spPr>
        <p:txBody>
          <a:bodyPr wrap="square" lIns="0" tIns="0" rIns="0" bIns="0" rtlCol="0" anchor="t"/>
          <a:lstStyle/>
          <a:p>
            <a:pPr algn="l" indent="0" marL="0">
              <a:lnSpc>
                <a:spcPct val="115000"/>
              </a:lnSpc>
              <a:buNone/>
            </a:pPr>
            <a:r>
              <a:rPr lang="en-US" sz="1600" dirty="0">
                <a:solidFill>
                  <a:srgbClr val="787774"/>
                </a:solidFill>
                <a:latin typeface="Arial" pitchFamily="34" charset="0"/>
                <a:ea typeface="Arial" pitchFamily="34" charset="-122"/>
                <a:cs typeface="Arial" pitchFamily="34" charset="-120"/>
              </a:rPr>
              <a:t>A research workstation and paper-trading platform for Indian stocks. Live prices, itemised costs, and a dash where data is missing.</a:t>
            </a:r>
            <a:endParaRPr lang="en-US" sz="1600" dirty="0"/>
          </a:p>
        </p:txBody>
      </p:sp>
      <p:sp>
        <p:nvSpPr>
          <p:cNvPr id="6" name="Shape 4"/>
          <p:cNvSpPr/>
          <p:nvPr/>
        </p:nvSpPr>
        <p:spPr>
          <a:xfrm>
            <a:off x="822960" y="5486400"/>
            <a:ext cx="10545775" cy="0"/>
          </a:xfrm>
          <a:prstGeom prst="line">
            <a:avLst/>
          </a:prstGeom>
          <a:noFill/>
          <a:ln w="9525">
            <a:solidFill>
              <a:srgbClr val="D9D7D0"/>
            </a:solidFill>
            <a:prstDash val="solid"/>
          </a:ln>
        </p:spPr>
      </p:sp>
      <p:sp>
        <p:nvSpPr>
          <p:cNvPr id="7" name="Text 5"/>
          <p:cNvSpPr txBox="1"/>
          <p:nvPr/>
        </p:nvSpPr>
        <p:spPr>
          <a:xfrm>
            <a:off x="822960" y="5669280"/>
            <a:ext cx="2743200" cy="292608"/>
          </a:xfrm>
          <a:prstGeom prst="rect">
            <a:avLst/>
          </a:prstGeom>
          <a:noFill/>
          <a:ln/>
        </p:spPr>
        <p:txBody>
          <a:bodyPr wrap="square" lIns="0" tIns="0" rIns="0" bIns="0" rtlCol="0" anchor="t"/>
          <a:lstStyle/>
          <a:p>
            <a:pPr algn="l" indent="0" marL="0">
              <a:buNone/>
            </a:pPr>
            <a:r>
              <a:rPr lang="en-US" sz="1450" dirty="0">
                <a:solidFill>
                  <a:srgbClr val="111111"/>
                </a:solidFill>
                <a:latin typeface="Georgia" pitchFamily="34" charset="0"/>
                <a:ea typeface="Georgia" pitchFamily="34" charset="-122"/>
                <a:cs typeface="Georgia" pitchFamily="34" charset="-120"/>
              </a:rPr>
              <a:t>Shreya Sharma</a:t>
            </a:r>
            <a:endParaRPr lang="en-US" sz="1450" dirty="0"/>
          </a:p>
        </p:txBody>
      </p:sp>
      <p:sp>
        <p:nvSpPr>
          <p:cNvPr id="8" name="Text 6"/>
          <p:cNvSpPr txBox="1"/>
          <p:nvPr/>
        </p:nvSpPr>
        <p:spPr>
          <a:xfrm>
            <a:off x="822960" y="5998464"/>
            <a:ext cx="2743200" cy="228600"/>
          </a:xfrm>
          <a:prstGeom prst="rect">
            <a:avLst/>
          </a:prstGeom>
          <a:noFill/>
          <a:ln/>
        </p:spPr>
        <p:txBody>
          <a:bodyPr wrap="square" lIns="0" tIns="0" rIns="0" bIns="0" rtlCol="0" anchor="t"/>
          <a:lstStyle/>
          <a:p>
            <a:pPr algn="l" indent="0" marL="0">
              <a:buNone/>
            </a:pPr>
            <a:r>
              <a:rPr lang="en-US" sz="1050" dirty="0">
                <a:solidFill>
                  <a:srgbClr val="787774"/>
                </a:solidFill>
                <a:latin typeface="Arial" pitchFamily="34" charset="0"/>
                <a:ea typeface="Arial" pitchFamily="34" charset="-122"/>
                <a:cs typeface="Arial" pitchFamily="34" charset="-120"/>
              </a:rPr>
              <a:t>Roll 14  ·  Batch B1</a:t>
            </a:r>
            <a:endParaRPr lang="en-US" sz="1050" dirty="0"/>
          </a:p>
        </p:txBody>
      </p:sp>
      <p:sp>
        <p:nvSpPr>
          <p:cNvPr id="9" name="Text 7"/>
          <p:cNvSpPr txBox="1"/>
          <p:nvPr/>
        </p:nvSpPr>
        <p:spPr>
          <a:xfrm>
            <a:off x="3657600" y="5669280"/>
            <a:ext cx="2743200" cy="292608"/>
          </a:xfrm>
          <a:prstGeom prst="rect">
            <a:avLst/>
          </a:prstGeom>
          <a:noFill/>
          <a:ln/>
        </p:spPr>
        <p:txBody>
          <a:bodyPr wrap="square" lIns="0" tIns="0" rIns="0" bIns="0" rtlCol="0" anchor="t"/>
          <a:lstStyle/>
          <a:p>
            <a:pPr algn="l" indent="0" marL="0">
              <a:buNone/>
            </a:pPr>
            <a:r>
              <a:rPr lang="en-US" sz="1450" dirty="0">
                <a:solidFill>
                  <a:srgbClr val="111111"/>
                </a:solidFill>
                <a:latin typeface="Georgia" pitchFamily="34" charset="0"/>
                <a:ea typeface="Georgia" pitchFamily="34" charset="-122"/>
                <a:cs typeface="Georgia" pitchFamily="34" charset="-120"/>
              </a:rPr>
              <a:t>Krish Potanwar</a:t>
            </a:r>
            <a:endParaRPr lang="en-US" sz="1450" dirty="0"/>
          </a:p>
        </p:txBody>
      </p:sp>
      <p:sp>
        <p:nvSpPr>
          <p:cNvPr id="10" name="Text 8"/>
          <p:cNvSpPr txBox="1"/>
          <p:nvPr/>
        </p:nvSpPr>
        <p:spPr>
          <a:xfrm>
            <a:off x="3657600" y="5998464"/>
            <a:ext cx="2743200" cy="228600"/>
          </a:xfrm>
          <a:prstGeom prst="rect">
            <a:avLst/>
          </a:prstGeom>
          <a:noFill/>
          <a:ln/>
        </p:spPr>
        <p:txBody>
          <a:bodyPr wrap="square" lIns="0" tIns="0" rIns="0" bIns="0" rtlCol="0" anchor="t"/>
          <a:lstStyle/>
          <a:p>
            <a:pPr algn="l" indent="0" marL="0">
              <a:buNone/>
            </a:pPr>
            <a:r>
              <a:rPr lang="en-US" sz="1050" dirty="0">
                <a:solidFill>
                  <a:srgbClr val="787774"/>
                </a:solidFill>
                <a:latin typeface="Arial" pitchFamily="34" charset="0"/>
                <a:ea typeface="Arial" pitchFamily="34" charset="-122"/>
                <a:cs typeface="Arial" pitchFamily="34" charset="-120"/>
              </a:rPr>
              <a:t>Roll 21  ·  Batch B2</a:t>
            </a:r>
            <a:endParaRPr lang="en-US" sz="1050" dirty="0"/>
          </a:p>
        </p:txBody>
      </p:sp>
      <p:sp>
        <p:nvSpPr>
          <p:cNvPr id="11" name="Text 9"/>
          <p:cNvSpPr txBox="1"/>
          <p:nvPr/>
        </p:nvSpPr>
        <p:spPr>
          <a:xfrm>
            <a:off x="6492240" y="5669280"/>
            <a:ext cx="2743200" cy="292608"/>
          </a:xfrm>
          <a:prstGeom prst="rect">
            <a:avLst/>
          </a:prstGeom>
          <a:noFill/>
          <a:ln/>
        </p:spPr>
        <p:txBody>
          <a:bodyPr wrap="square" lIns="0" tIns="0" rIns="0" bIns="0" rtlCol="0" anchor="t"/>
          <a:lstStyle/>
          <a:p>
            <a:pPr algn="l" indent="0" marL="0">
              <a:buNone/>
            </a:pPr>
            <a:r>
              <a:rPr lang="en-US" sz="1450" dirty="0">
                <a:solidFill>
                  <a:srgbClr val="111111"/>
                </a:solidFill>
                <a:latin typeface="Georgia" pitchFamily="34" charset="0"/>
                <a:ea typeface="Georgia" pitchFamily="34" charset="-122"/>
                <a:cs typeface="Georgia" pitchFamily="34" charset="-120"/>
              </a:rPr>
              <a:t>Dhanashree Sainis</a:t>
            </a:r>
            <a:endParaRPr lang="en-US" sz="1450" dirty="0"/>
          </a:p>
        </p:txBody>
      </p:sp>
      <p:sp>
        <p:nvSpPr>
          <p:cNvPr id="12" name="Text 10"/>
          <p:cNvSpPr txBox="1"/>
          <p:nvPr/>
        </p:nvSpPr>
        <p:spPr>
          <a:xfrm>
            <a:off x="6492240" y="5998464"/>
            <a:ext cx="2743200" cy="228600"/>
          </a:xfrm>
          <a:prstGeom prst="rect">
            <a:avLst/>
          </a:prstGeom>
          <a:noFill/>
          <a:ln/>
        </p:spPr>
        <p:txBody>
          <a:bodyPr wrap="square" lIns="0" tIns="0" rIns="0" bIns="0" rtlCol="0" anchor="t"/>
          <a:lstStyle/>
          <a:p>
            <a:pPr algn="l" indent="0" marL="0">
              <a:buNone/>
            </a:pPr>
            <a:r>
              <a:rPr lang="en-US" sz="1050" dirty="0">
                <a:solidFill>
                  <a:srgbClr val="787774"/>
                </a:solidFill>
                <a:latin typeface="Arial" pitchFamily="34" charset="0"/>
                <a:ea typeface="Arial" pitchFamily="34" charset="-122"/>
                <a:cs typeface="Arial" pitchFamily="34" charset="-120"/>
              </a:rPr>
              <a:t>Roll 28  ·  Batch B2</a:t>
            </a:r>
            <a:endParaRPr lang="en-US" sz="1050" dirty="0"/>
          </a:p>
        </p:txBody>
      </p:sp>
      <p:sp>
        <p:nvSpPr>
          <p:cNvPr id="13" name="Text 11"/>
          <p:cNvSpPr txBox="1"/>
          <p:nvPr/>
        </p:nvSpPr>
        <p:spPr>
          <a:xfrm>
            <a:off x="7345375" y="5733288"/>
            <a:ext cx="4023360" cy="274320"/>
          </a:xfrm>
          <a:prstGeom prst="rect">
            <a:avLst/>
          </a:prstGeom>
          <a:noFill/>
          <a:ln/>
        </p:spPr>
        <p:txBody>
          <a:bodyPr wrap="square" lIns="0" tIns="0" rIns="0" bIns="0" rtlCol="0" anchor="t"/>
          <a:lstStyle/>
          <a:p>
            <a:pPr algn="r" indent="0" marL="0">
              <a:buNone/>
            </a:pPr>
            <a:r>
              <a:rPr lang="en-US" sz="1100" dirty="0">
                <a:solidFill>
                  <a:srgbClr val="787774"/>
                </a:solidFill>
                <a:latin typeface="Arial" pitchFamily="34" charset="0"/>
                <a:ea typeface="Arial" pitchFamily="34" charset="-122"/>
                <a:cs typeface="Arial" pitchFamily="34" charset="-120"/>
              </a:rPr>
              <a:t>Live demo   </a:t>
            </a:r>
            <a:pPr algn="r" indent="0" marL="0">
              <a:buNone/>
            </a:pPr>
            <a:r>
              <a:rPr lang="en-US" sz="1100" u="sng" dirty="0">
                <a:solidFill>
                  <a:srgbClr val="111111"/>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market-lens-kappa.vercel.app</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02920"/>
            <a:ext cx="5486400" cy="201168"/>
          </a:xfrm>
          <a:prstGeom prst="rect">
            <a:avLst/>
          </a:prstGeom>
          <a:noFill/>
          <a:ln/>
        </p:spPr>
        <p:txBody>
          <a:bodyPr wrap="square" lIns="0" tIns="0" rIns="0" bIns="0" rtlCol="0" anchor="t"/>
          <a:lstStyle/>
          <a:p>
            <a:pPr algn="l" indent="0" marL="0">
              <a:buNone/>
            </a:pPr>
            <a:r>
              <a:rPr lang="en-US" sz="950" b="1" spc="180" kern="0" dirty="0">
                <a:solidFill>
                  <a:srgbClr val="111111"/>
                </a:solidFill>
                <a:latin typeface="Arial" pitchFamily="34" charset="0"/>
                <a:ea typeface="Arial" pitchFamily="34" charset="-122"/>
                <a:cs typeface="Arial" pitchFamily="34" charset="-120"/>
              </a:rPr>
              <a:t>NO. 02</a:t>
            </a:r>
            <a:pPr algn="l" indent="0" marL="0">
              <a:buNone/>
            </a:pPr>
            <a:r>
              <a:rPr lang="en-US" sz="950" spc="180" kern="0" dirty="0">
                <a:solidFill>
                  <a:srgbClr val="787774"/>
                </a:solidFill>
                <a:latin typeface="Arial" pitchFamily="34" charset="0"/>
                <a:ea typeface="Arial" pitchFamily="34" charset="-122"/>
                <a:cs typeface="Arial" pitchFamily="34" charset="-120"/>
              </a:rPr>
              <a:t>   THE PROBLEM</a:t>
            </a:r>
            <a:endParaRPr lang="en-US" sz="950" dirty="0"/>
          </a:p>
        </p:txBody>
      </p:sp>
      <p:sp>
        <p:nvSpPr>
          <p:cNvPr id="3" name="Text 1"/>
          <p:cNvSpPr txBox="1"/>
          <p:nvPr/>
        </p:nvSpPr>
        <p:spPr>
          <a:xfrm>
            <a:off x="822960" y="1005840"/>
            <a:ext cx="3977640" cy="2103120"/>
          </a:xfrm>
          <a:prstGeom prst="rect">
            <a:avLst/>
          </a:prstGeom>
          <a:noFill/>
          <a:ln/>
        </p:spPr>
        <p:txBody>
          <a:bodyPr wrap="square" lIns="0" tIns="0" rIns="0" bIns="0" rtlCol="0" anchor="t"/>
          <a:lstStyle/>
          <a:p>
            <a:pPr algn="l" indent="0" marL="0">
              <a:lnSpc>
                <a:spcPct val="95000"/>
              </a:lnSpc>
              <a:buNone/>
            </a:pPr>
            <a:r>
              <a:rPr lang="en-US" sz="3000" spc="-60" kern="0" dirty="0">
                <a:solidFill>
                  <a:srgbClr val="111111"/>
                </a:solidFill>
                <a:latin typeface="Georgia" pitchFamily="34" charset="0"/>
                <a:ea typeface="Georgia" pitchFamily="34" charset="-122"/>
                <a:cs typeface="Georgia" pitchFamily="34" charset="-120"/>
              </a:rPr>
              <a:t>Most paper trading hides what trading costs.</a:t>
            </a:r>
            <a:endParaRPr lang="en-US" sz="3000" dirty="0"/>
          </a:p>
        </p:txBody>
      </p:sp>
      <p:sp>
        <p:nvSpPr>
          <p:cNvPr id="4" name="Text 2"/>
          <p:cNvSpPr txBox="1"/>
          <p:nvPr/>
        </p:nvSpPr>
        <p:spPr>
          <a:xfrm>
            <a:off x="822960" y="3429000"/>
            <a:ext cx="274320" cy="274320"/>
          </a:xfrm>
          <a:prstGeom prst="rect">
            <a:avLst/>
          </a:prstGeom>
          <a:noFill/>
          <a:ln/>
        </p:spPr>
        <p:txBody>
          <a:bodyPr wrap="square" lIns="0" tIns="0" rIns="0" bIns="0" rtlCol="0" anchor="t"/>
          <a:lstStyle/>
          <a:p>
            <a:pPr algn="l" indent="0" marL="0">
              <a:buNone/>
            </a:pPr>
            <a:r>
              <a:rPr lang="en-US" sz="1300" dirty="0">
                <a:solidFill>
                  <a:srgbClr val="787774"/>
                </a:solidFill>
                <a:latin typeface="Georgia" pitchFamily="34" charset="0"/>
                <a:ea typeface="Georgia" pitchFamily="34" charset="-122"/>
                <a:cs typeface="Georgia" pitchFamily="34" charset="-120"/>
              </a:rPr>
              <a:t>1</a:t>
            </a:r>
            <a:endParaRPr lang="en-US" sz="1300" dirty="0"/>
          </a:p>
        </p:txBody>
      </p:sp>
      <p:sp>
        <p:nvSpPr>
          <p:cNvPr id="5" name="Text 3"/>
          <p:cNvSpPr txBox="1"/>
          <p:nvPr/>
        </p:nvSpPr>
        <p:spPr>
          <a:xfrm>
            <a:off x="1170432" y="3429000"/>
            <a:ext cx="3611880" cy="566928"/>
          </a:xfrm>
          <a:prstGeom prst="rect">
            <a:avLst/>
          </a:prstGeom>
          <a:noFill/>
          <a:ln/>
        </p:spPr>
        <p:txBody>
          <a:bodyPr wrap="square" lIns="0" tIns="0" rIns="0" bIns="0" rtlCol="0" anchor="t"/>
          <a:lstStyle/>
          <a:p>
            <a:pPr algn="l" indent="0" marL="0">
              <a:lnSpc>
                <a:spcPct val="110000"/>
              </a:lnSpc>
              <a:buNone/>
            </a:pPr>
            <a:r>
              <a:rPr lang="en-US" sz="1250" dirty="0">
                <a:solidFill>
                  <a:srgbClr val="2F3437"/>
                </a:solidFill>
                <a:latin typeface="Arial" pitchFamily="34" charset="0"/>
                <a:ea typeface="Arial" pitchFamily="34" charset="-122"/>
                <a:cs typeface="Arial" pitchFamily="34" charset="-120"/>
              </a:rPr>
              <a:t>Statutory charges are left out: STT, GST, stamp duty, exchange fees.</a:t>
            </a:r>
            <a:endParaRPr lang="en-US" sz="1250" dirty="0"/>
          </a:p>
        </p:txBody>
      </p:sp>
      <p:sp>
        <p:nvSpPr>
          <p:cNvPr id="6" name="Text 4"/>
          <p:cNvSpPr txBox="1"/>
          <p:nvPr/>
        </p:nvSpPr>
        <p:spPr>
          <a:xfrm>
            <a:off x="822960" y="4160520"/>
            <a:ext cx="274320" cy="274320"/>
          </a:xfrm>
          <a:prstGeom prst="rect">
            <a:avLst/>
          </a:prstGeom>
          <a:noFill/>
          <a:ln/>
        </p:spPr>
        <p:txBody>
          <a:bodyPr wrap="square" lIns="0" tIns="0" rIns="0" bIns="0" rtlCol="0" anchor="t"/>
          <a:lstStyle/>
          <a:p>
            <a:pPr algn="l" indent="0" marL="0">
              <a:buNone/>
            </a:pPr>
            <a:r>
              <a:rPr lang="en-US" sz="1300" dirty="0">
                <a:solidFill>
                  <a:srgbClr val="787774"/>
                </a:solidFill>
                <a:latin typeface="Georgia" pitchFamily="34" charset="0"/>
                <a:ea typeface="Georgia" pitchFamily="34" charset="-122"/>
                <a:cs typeface="Georgia" pitchFamily="34" charset="-120"/>
              </a:rPr>
              <a:t>2</a:t>
            </a:r>
            <a:endParaRPr lang="en-US" sz="1300" dirty="0"/>
          </a:p>
        </p:txBody>
      </p:sp>
      <p:sp>
        <p:nvSpPr>
          <p:cNvPr id="7" name="Text 5"/>
          <p:cNvSpPr txBox="1"/>
          <p:nvPr/>
        </p:nvSpPr>
        <p:spPr>
          <a:xfrm>
            <a:off x="1170432" y="4160520"/>
            <a:ext cx="3611880" cy="566928"/>
          </a:xfrm>
          <a:prstGeom prst="rect">
            <a:avLst/>
          </a:prstGeom>
          <a:noFill/>
          <a:ln/>
        </p:spPr>
        <p:txBody>
          <a:bodyPr wrap="square" lIns="0" tIns="0" rIns="0" bIns="0" rtlCol="0" anchor="t"/>
          <a:lstStyle/>
          <a:p>
            <a:pPr algn="l" indent="0" marL="0">
              <a:lnSpc>
                <a:spcPct val="110000"/>
              </a:lnSpc>
              <a:buNone/>
            </a:pPr>
            <a:r>
              <a:rPr lang="en-US" sz="1250" dirty="0">
                <a:solidFill>
                  <a:srgbClr val="2F3437"/>
                </a:solidFill>
                <a:latin typeface="Arial" pitchFamily="34" charset="0"/>
                <a:ea typeface="Arial" pitchFamily="34" charset="-122"/>
                <a:cs typeface="Arial" pitchFamily="34" charset="-120"/>
              </a:rPr>
              <a:t>Orders fill instantly at any hour, as if the market never closed.</a:t>
            </a:r>
            <a:endParaRPr lang="en-US" sz="1250" dirty="0"/>
          </a:p>
        </p:txBody>
      </p:sp>
      <p:sp>
        <p:nvSpPr>
          <p:cNvPr id="8" name="Text 6"/>
          <p:cNvSpPr txBox="1"/>
          <p:nvPr/>
        </p:nvSpPr>
        <p:spPr>
          <a:xfrm>
            <a:off x="822960" y="4892040"/>
            <a:ext cx="274320" cy="274320"/>
          </a:xfrm>
          <a:prstGeom prst="rect">
            <a:avLst/>
          </a:prstGeom>
          <a:noFill/>
          <a:ln/>
        </p:spPr>
        <p:txBody>
          <a:bodyPr wrap="square" lIns="0" tIns="0" rIns="0" bIns="0" rtlCol="0" anchor="t"/>
          <a:lstStyle/>
          <a:p>
            <a:pPr algn="l" indent="0" marL="0">
              <a:buNone/>
            </a:pPr>
            <a:r>
              <a:rPr lang="en-US" sz="1300" dirty="0">
                <a:solidFill>
                  <a:srgbClr val="787774"/>
                </a:solidFill>
                <a:latin typeface="Georgia" pitchFamily="34" charset="0"/>
                <a:ea typeface="Georgia" pitchFamily="34" charset="-122"/>
                <a:cs typeface="Georgia" pitchFamily="34" charset="-120"/>
              </a:rPr>
              <a:t>3</a:t>
            </a:r>
            <a:endParaRPr lang="en-US" sz="1300" dirty="0"/>
          </a:p>
        </p:txBody>
      </p:sp>
      <p:sp>
        <p:nvSpPr>
          <p:cNvPr id="9" name="Text 7"/>
          <p:cNvSpPr txBox="1"/>
          <p:nvPr/>
        </p:nvSpPr>
        <p:spPr>
          <a:xfrm>
            <a:off x="1170432" y="4892040"/>
            <a:ext cx="3611880" cy="566928"/>
          </a:xfrm>
          <a:prstGeom prst="rect">
            <a:avLst/>
          </a:prstGeom>
          <a:noFill/>
          <a:ln/>
        </p:spPr>
        <p:txBody>
          <a:bodyPr wrap="square" lIns="0" tIns="0" rIns="0" bIns="0" rtlCol="0" anchor="t"/>
          <a:lstStyle/>
          <a:p>
            <a:pPr algn="l" indent="0" marL="0">
              <a:lnSpc>
                <a:spcPct val="110000"/>
              </a:lnSpc>
              <a:buNone/>
            </a:pPr>
            <a:r>
              <a:rPr lang="en-US" sz="1250" dirty="0">
                <a:solidFill>
                  <a:srgbClr val="2F3437"/>
                </a:solidFill>
                <a:latin typeface="Arial" pitchFamily="34" charset="0"/>
                <a:ea typeface="Arial" pitchFamily="34" charset="-122"/>
                <a:cs typeface="Arial" pitchFamily="34" charset="-120"/>
              </a:rPr>
              <a:t>Most DAV projects stop at a notebook and a stale CSV file.</a:t>
            </a:r>
            <a:endParaRPr lang="en-US" sz="1250" dirty="0"/>
          </a:p>
        </p:txBody>
      </p:sp>
      <p:sp>
        <p:nvSpPr>
          <p:cNvPr id="10" name="Text 8"/>
          <p:cNvSpPr txBox="1"/>
          <p:nvPr/>
        </p:nvSpPr>
        <p:spPr>
          <a:xfrm>
            <a:off x="4663440" y="640080"/>
            <a:ext cx="7406640" cy="3017520"/>
          </a:xfrm>
          <a:prstGeom prst="rect">
            <a:avLst/>
          </a:prstGeom>
          <a:noFill/>
          <a:ln/>
        </p:spPr>
        <p:txBody>
          <a:bodyPr wrap="square" lIns="0" tIns="0" rIns="0" bIns="0" rtlCol="0" anchor="t"/>
          <a:lstStyle/>
          <a:p>
            <a:pPr algn="l" indent="0" marL="0">
              <a:buNone/>
            </a:pPr>
            <a:r>
              <a:rPr lang="en-US" sz="19000" spc="-600" kern="0" dirty="0">
                <a:solidFill>
                  <a:srgbClr val="111111"/>
                </a:solidFill>
                <a:latin typeface="Arial" pitchFamily="34" charset="0"/>
                <a:ea typeface="Arial" pitchFamily="34" charset="-122"/>
                <a:cs typeface="Arial" pitchFamily="34" charset="-120"/>
              </a:rPr>
              <a:t>0.18%</a:t>
            </a:r>
            <a:endParaRPr lang="en-US" sz="19000" dirty="0"/>
          </a:p>
        </p:txBody>
      </p:sp>
      <p:sp>
        <p:nvSpPr>
          <p:cNvPr id="11" name="Shape 9"/>
          <p:cNvSpPr/>
          <p:nvPr/>
        </p:nvSpPr>
        <p:spPr>
          <a:xfrm>
            <a:off x="4846320" y="3246120"/>
            <a:ext cx="6522415" cy="0"/>
          </a:xfrm>
          <a:prstGeom prst="line">
            <a:avLst/>
          </a:prstGeom>
          <a:noFill/>
          <a:ln w="9525">
            <a:solidFill>
              <a:srgbClr val="D9D7D0"/>
            </a:solidFill>
            <a:prstDash val="solid"/>
          </a:ln>
        </p:spPr>
      </p:sp>
      <p:sp>
        <p:nvSpPr>
          <p:cNvPr id="12" name="Text 10"/>
          <p:cNvSpPr txBox="1"/>
          <p:nvPr/>
        </p:nvSpPr>
        <p:spPr>
          <a:xfrm>
            <a:off x="4846320" y="3401568"/>
            <a:ext cx="6400800" cy="640080"/>
          </a:xfrm>
          <a:prstGeom prst="rect">
            <a:avLst/>
          </a:prstGeom>
          <a:noFill/>
          <a:ln/>
        </p:spPr>
        <p:txBody>
          <a:bodyPr wrap="square" lIns="0" tIns="0" rIns="0" bIns="0" rtlCol="0" anchor="t"/>
          <a:lstStyle/>
          <a:p>
            <a:pPr algn="l" indent="0" marL="0">
              <a:lnSpc>
                <a:spcPct val="115000"/>
              </a:lnSpc>
              <a:buNone/>
            </a:pPr>
            <a:r>
              <a:rPr lang="en-US" sz="1500" dirty="0">
                <a:solidFill>
                  <a:srgbClr val="2F3437"/>
                </a:solidFill>
                <a:latin typeface="Arial" pitchFamily="34" charset="0"/>
                <a:ea typeface="Arial" pitchFamily="34" charset="-122"/>
                <a:cs typeface="Arial" pitchFamily="34" charset="-120"/>
              </a:rPr>
              <a:t>The price has to move this far, in your favour, just for a ₹1,00,000 intraday round trip to break even.</a:t>
            </a:r>
            <a:endParaRPr lang="en-US" sz="1500" dirty="0"/>
          </a:p>
        </p:txBody>
      </p:sp>
      <p:sp>
        <p:nvSpPr>
          <p:cNvPr id="13" name="Shape 11"/>
          <p:cNvSpPr/>
          <p:nvPr/>
        </p:nvSpPr>
        <p:spPr>
          <a:xfrm>
            <a:off x="4846320" y="4343400"/>
            <a:ext cx="6522415" cy="0"/>
          </a:xfrm>
          <a:prstGeom prst="line">
            <a:avLst/>
          </a:prstGeom>
          <a:noFill/>
          <a:ln w="9525">
            <a:solidFill>
              <a:srgbClr val="D9D7D0"/>
            </a:solidFill>
            <a:prstDash val="solid"/>
          </a:ln>
        </p:spPr>
      </p:sp>
      <p:sp>
        <p:nvSpPr>
          <p:cNvPr id="14" name="Text 12"/>
          <p:cNvSpPr txBox="1"/>
          <p:nvPr/>
        </p:nvSpPr>
        <p:spPr>
          <a:xfrm>
            <a:off x="4846320" y="4462272"/>
            <a:ext cx="4114800" cy="228600"/>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Statutory charges and brokerage</a:t>
            </a:r>
            <a:endParaRPr lang="en-US" sz="1250" dirty="0"/>
          </a:p>
        </p:txBody>
      </p:sp>
      <p:sp>
        <p:nvSpPr>
          <p:cNvPr id="15" name="Text 13"/>
          <p:cNvSpPr txBox="1"/>
          <p:nvPr/>
        </p:nvSpPr>
        <p:spPr>
          <a:xfrm>
            <a:off x="9174175" y="4462272"/>
            <a:ext cx="2194560" cy="228600"/>
          </a:xfrm>
          <a:prstGeom prst="rect">
            <a:avLst/>
          </a:prstGeom>
          <a:noFill/>
          <a:ln/>
        </p:spPr>
        <p:txBody>
          <a:bodyPr wrap="square" lIns="0" tIns="0" rIns="0" bIns="0" rtlCol="0" anchor="t"/>
          <a:lstStyle/>
          <a:p>
            <a:pPr algn="r" indent="0" marL="0">
              <a:buNone/>
            </a:pPr>
            <a:r>
              <a:rPr lang="en-US" sz="1250" dirty="0">
                <a:solidFill>
                  <a:srgbClr val="111111"/>
                </a:solidFill>
                <a:latin typeface="Arial" pitchFamily="34" charset="0"/>
                <a:ea typeface="Arial" pitchFamily="34" charset="-122"/>
                <a:cs typeface="Arial" pitchFamily="34" charset="-120"/>
              </a:rPr>
              <a:t>₹82.44</a:t>
            </a:r>
            <a:endParaRPr lang="en-US" sz="1250" dirty="0"/>
          </a:p>
        </p:txBody>
      </p:sp>
      <p:sp>
        <p:nvSpPr>
          <p:cNvPr id="16" name="Shape 14"/>
          <p:cNvSpPr/>
          <p:nvPr/>
        </p:nvSpPr>
        <p:spPr>
          <a:xfrm>
            <a:off x="4846320" y="4800600"/>
            <a:ext cx="6522415" cy="0"/>
          </a:xfrm>
          <a:prstGeom prst="line">
            <a:avLst/>
          </a:prstGeom>
          <a:noFill/>
          <a:ln w="9525">
            <a:solidFill>
              <a:srgbClr val="D9D7D0"/>
            </a:solidFill>
            <a:prstDash val="solid"/>
          </a:ln>
        </p:spPr>
      </p:sp>
      <p:sp>
        <p:nvSpPr>
          <p:cNvPr id="17" name="Text 15"/>
          <p:cNvSpPr txBox="1"/>
          <p:nvPr/>
        </p:nvSpPr>
        <p:spPr>
          <a:xfrm>
            <a:off x="4846320" y="4919472"/>
            <a:ext cx="4114800" cy="228600"/>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Slippage, 0.05% each way</a:t>
            </a:r>
            <a:endParaRPr lang="en-US" sz="1250" dirty="0"/>
          </a:p>
        </p:txBody>
      </p:sp>
      <p:sp>
        <p:nvSpPr>
          <p:cNvPr id="18" name="Text 16"/>
          <p:cNvSpPr txBox="1"/>
          <p:nvPr/>
        </p:nvSpPr>
        <p:spPr>
          <a:xfrm>
            <a:off x="9174175" y="4919472"/>
            <a:ext cx="2194560" cy="228600"/>
          </a:xfrm>
          <a:prstGeom prst="rect">
            <a:avLst/>
          </a:prstGeom>
          <a:noFill/>
          <a:ln/>
        </p:spPr>
        <p:txBody>
          <a:bodyPr wrap="square" lIns="0" tIns="0" rIns="0" bIns="0" rtlCol="0" anchor="t"/>
          <a:lstStyle/>
          <a:p>
            <a:pPr algn="r" indent="0" marL="0">
              <a:buNone/>
            </a:pPr>
            <a:r>
              <a:rPr lang="en-US" sz="1250" dirty="0">
                <a:solidFill>
                  <a:srgbClr val="111111"/>
                </a:solidFill>
                <a:latin typeface="Arial" pitchFamily="34" charset="0"/>
                <a:ea typeface="Arial" pitchFamily="34" charset="-122"/>
                <a:cs typeface="Arial" pitchFamily="34" charset="-120"/>
              </a:rPr>
              <a:t>₹100.00</a:t>
            </a:r>
            <a:endParaRPr lang="en-US" sz="1250" dirty="0"/>
          </a:p>
        </p:txBody>
      </p:sp>
      <p:sp>
        <p:nvSpPr>
          <p:cNvPr id="19" name="Shape 17"/>
          <p:cNvSpPr/>
          <p:nvPr/>
        </p:nvSpPr>
        <p:spPr>
          <a:xfrm>
            <a:off x="4846320" y="5257800"/>
            <a:ext cx="6522415" cy="0"/>
          </a:xfrm>
          <a:prstGeom prst="line">
            <a:avLst/>
          </a:prstGeom>
          <a:noFill/>
          <a:ln w="9525">
            <a:solidFill>
              <a:srgbClr val="D9D7D0"/>
            </a:solidFill>
            <a:prstDash val="solid"/>
          </a:ln>
        </p:spPr>
      </p:sp>
      <p:sp>
        <p:nvSpPr>
          <p:cNvPr id="20" name="Text 18"/>
          <p:cNvSpPr txBox="1"/>
          <p:nvPr/>
        </p:nvSpPr>
        <p:spPr>
          <a:xfrm>
            <a:off x="4846320" y="5376672"/>
            <a:ext cx="4114800" cy="228600"/>
          </a:xfrm>
          <a:prstGeom prst="rect">
            <a:avLst/>
          </a:prstGeom>
          <a:noFill/>
          <a:ln/>
        </p:spPr>
        <p:txBody>
          <a:bodyPr wrap="square" lIns="0" tIns="0" rIns="0" bIns="0" rtlCol="0" anchor="t"/>
          <a:lstStyle/>
          <a:p>
            <a:pPr algn="l" indent="0" marL="0">
              <a:buNone/>
            </a:pPr>
            <a:r>
              <a:rPr lang="en-US" sz="1250" b="1" dirty="0">
                <a:solidFill>
                  <a:srgbClr val="111111"/>
                </a:solidFill>
                <a:latin typeface="Arial" pitchFamily="34" charset="0"/>
                <a:ea typeface="Arial" pitchFamily="34" charset="-122"/>
                <a:cs typeface="Arial" pitchFamily="34" charset="-120"/>
              </a:rPr>
              <a:t>Cost of the round trip</a:t>
            </a:r>
            <a:endParaRPr lang="en-US" sz="1250" dirty="0"/>
          </a:p>
        </p:txBody>
      </p:sp>
      <p:sp>
        <p:nvSpPr>
          <p:cNvPr id="21" name="Text 19"/>
          <p:cNvSpPr txBox="1"/>
          <p:nvPr/>
        </p:nvSpPr>
        <p:spPr>
          <a:xfrm>
            <a:off x="9174175" y="5376672"/>
            <a:ext cx="2194560" cy="228600"/>
          </a:xfrm>
          <a:prstGeom prst="rect">
            <a:avLst/>
          </a:prstGeom>
          <a:noFill/>
          <a:ln/>
        </p:spPr>
        <p:txBody>
          <a:bodyPr wrap="square" lIns="0" tIns="0" rIns="0" bIns="0" rtlCol="0" anchor="t"/>
          <a:lstStyle/>
          <a:p>
            <a:pPr algn="r" indent="0" marL="0">
              <a:buNone/>
            </a:pPr>
            <a:r>
              <a:rPr lang="en-US" sz="1250" b="1" dirty="0">
                <a:solidFill>
                  <a:srgbClr val="111111"/>
                </a:solidFill>
                <a:latin typeface="Arial" pitchFamily="34" charset="0"/>
                <a:ea typeface="Arial" pitchFamily="34" charset="-122"/>
                <a:cs typeface="Arial" pitchFamily="34" charset="-120"/>
              </a:rPr>
              <a:t>₹182.44</a:t>
            </a:r>
            <a:endParaRPr lang="en-US" sz="1250" dirty="0"/>
          </a:p>
        </p:txBody>
      </p:sp>
      <p:sp>
        <p:nvSpPr>
          <p:cNvPr id="22" name="Shape 20"/>
          <p:cNvSpPr/>
          <p:nvPr/>
        </p:nvSpPr>
        <p:spPr>
          <a:xfrm>
            <a:off x="4846320" y="5715000"/>
            <a:ext cx="6522415" cy="0"/>
          </a:xfrm>
          <a:prstGeom prst="line">
            <a:avLst/>
          </a:prstGeom>
          <a:noFill/>
          <a:ln w="9525">
            <a:solidFill>
              <a:srgbClr val="D9D7D0"/>
            </a:solidFill>
            <a:prstDash val="solid"/>
          </a:ln>
        </p:spPr>
      </p:sp>
      <p:sp>
        <p:nvSpPr>
          <p:cNvPr id="23" name="Text 21"/>
          <p:cNvSpPr txBox="1"/>
          <p:nvPr/>
        </p:nvSpPr>
        <p:spPr>
          <a:xfrm>
            <a:off x="822960" y="6400800"/>
            <a:ext cx="2743200" cy="201168"/>
          </a:xfrm>
          <a:prstGeom prst="rect">
            <a:avLst/>
          </a:prstGeom>
          <a:noFill/>
          <a:ln/>
        </p:spPr>
        <p:txBody>
          <a:bodyPr wrap="square" lIns="0" tIns="0" rIns="0" bIns="0" rtlCol="0" anchor="t"/>
          <a:lstStyle/>
          <a:p>
            <a:pPr algn="l" indent="0" marL="0">
              <a:buNone/>
            </a:pPr>
            <a:r>
              <a:rPr lang="en-US" sz="1000" i="1" dirty="0">
                <a:solidFill>
                  <a:srgbClr val="787774"/>
                </a:solidFill>
                <a:latin typeface="Georgia" pitchFamily="34" charset="0"/>
                <a:ea typeface="Georgia" pitchFamily="34" charset="-122"/>
                <a:cs typeface="Georgia" pitchFamily="34" charset="-120"/>
              </a:rPr>
              <a:t>MarketLens</a:t>
            </a:r>
            <a:endParaRPr lang="en-US" sz="1000" dirty="0"/>
          </a:p>
        </p:txBody>
      </p:sp>
      <p:sp>
        <p:nvSpPr>
          <p:cNvPr id="24" name="Text 22"/>
          <p:cNvSpPr txBox="1"/>
          <p:nvPr/>
        </p:nvSpPr>
        <p:spPr>
          <a:xfrm>
            <a:off x="9997135" y="6400800"/>
            <a:ext cx="1371600" cy="201168"/>
          </a:xfrm>
          <a:prstGeom prst="rect">
            <a:avLst/>
          </a:prstGeom>
          <a:noFill/>
          <a:ln/>
        </p:spPr>
        <p:txBody>
          <a:bodyPr wrap="square" lIns="0" tIns="0" rIns="0" bIns="0" rtlCol="0" anchor="t"/>
          <a:lstStyle/>
          <a:p>
            <a:pPr algn="r" indent="0" marL="0">
              <a:buNone/>
            </a:pPr>
            <a:r>
              <a:rPr lang="en-US" sz="900" spc="100" kern="0" dirty="0">
                <a:solidFill>
                  <a:srgbClr val="787774"/>
                </a:solidFill>
                <a:latin typeface="Arial" pitchFamily="34" charset="0"/>
                <a:ea typeface="Arial" pitchFamily="34" charset="-122"/>
                <a:cs typeface="Arial" pitchFamily="34" charset="-120"/>
              </a:rPr>
              <a:t>02 / 10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02920"/>
            <a:ext cx="5486400" cy="201168"/>
          </a:xfrm>
          <a:prstGeom prst="rect">
            <a:avLst/>
          </a:prstGeom>
          <a:noFill/>
          <a:ln/>
        </p:spPr>
        <p:txBody>
          <a:bodyPr wrap="square" lIns="0" tIns="0" rIns="0" bIns="0" rtlCol="0" anchor="t"/>
          <a:lstStyle/>
          <a:p>
            <a:pPr algn="l" indent="0" marL="0">
              <a:buNone/>
            </a:pPr>
            <a:r>
              <a:rPr lang="en-US" sz="950" b="1" spc="180" kern="0" dirty="0">
                <a:solidFill>
                  <a:srgbClr val="111111"/>
                </a:solidFill>
                <a:latin typeface="Arial" pitchFamily="34" charset="0"/>
                <a:ea typeface="Arial" pitchFamily="34" charset="-122"/>
                <a:cs typeface="Arial" pitchFamily="34" charset="-120"/>
              </a:rPr>
              <a:t>NO. 03</a:t>
            </a:r>
            <a:pPr algn="l" indent="0" marL="0">
              <a:buNone/>
            </a:pPr>
            <a:r>
              <a:rPr lang="en-US" sz="950" spc="180" kern="0" dirty="0">
                <a:solidFill>
                  <a:srgbClr val="787774"/>
                </a:solidFill>
                <a:latin typeface="Arial" pitchFamily="34" charset="0"/>
                <a:ea typeface="Arial" pitchFamily="34" charset="-122"/>
                <a:cs typeface="Arial" pitchFamily="34" charset="-120"/>
              </a:rPr>
              <a:t>   THE PRODUCT</a:t>
            </a:r>
            <a:endParaRPr lang="en-US" sz="950" dirty="0"/>
          </a:p>
        </p:txBody>
      </p:sp>
      <p:sp>
        <p:nvSpPr>
          <p:cNvPr id="3" name="Text 1"/>
          <p:cNvSpPr txBox="1"/>
          <p:nvPr/>
        </p:nvSpPr>
        <p:spPr>
          <a:xfrm>
            <a:off x="822960" y="868680"/>
            <a:ext cx="8229600" cy="548640"/>
          </a:xfrm>
          <a:prstGeom prst="rect">
            <a:avLst/>
          </a:prstGeom>
          <a:noFill/>
          <a:ln/>
        </p:spPr>
        <p:txBody>
          <a:bodyPr wrap="square" lIns="0" tIns="0" rIns="0" bIns="0" rtlCol="0" anchor="t"/>
          <a:lstStyle/>
          <a:p>
            <a:pPr algn="l" indent="0" marL="0">
              <a:lnSpc>
                <a:spcPct val="95000"/>
              </a:lnSpc>
              <a:buNone/>
            </a:pPr>
            <a:r>
              <a:rPr lang="en-US" sz="3000" spc="-60" kern="0" dirty="0">
                <a:solidFill>
                  <a:srgbClr val="111111"/>
                </a:solidFill>
                <a:latin typeface="Georgia" pitchFamily="34" charset="0"/>
                <a:ea typeface="Georgia" pitchFamily="34" charset="-122"/>
                <a:cs typeface="Georgia" pitchFamily="34" charset="-120"/>
              </a:rPr>
              <a:t>One workstation, nine modules.</a:t>
            </a:r>
            <a:endParaRPr lang="en-US" sz="3000" dirty="0"/>
          </a:p>
        </p:txBody>
      </p:sp>
      <p:sp>
        <p:nvSpPr>
          <p:cNvPr id="4" name="Text 2"/>
          <p:cNvSpPr txBox="1"/>
          <p:nvPr/>
        </p:nvSpPr>
        <p:spPr>
          <a:xfrm>
            <a:off x="822960" y="1572768"/>
            <a:ext cx="237744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MARKET</a:t>
            </a:r>
            <a:endParaRPr lang="en-US" sz="850" dirty="0"/>
          </a:p>
        </p:txBody>
      </p:sp>
      <p:sp>
        <p:nvSpPr>
          <p:cNvPr id="5" name="Text 3"/>
          <p:cNvSpPr txBox="1"/>
          <p:nvPr/>
        </p:nvSpPr>
        <p:spPr>
          <a:xfrm>
            <a:off x="822960" y="1828800"/>
            <a:ext cx="2377440" cy="713232"/>
          </a:xfrm>
          <a:prstGeom prst="rect">
            <a:avLst/>
          </a:prstGeom>
          <a:noFill/>
          <a:ln/>
        </p:spPr>
        <p:txBody>
          <a:bodyPr wrap="square" lIns="0" tIns="0" rIns="0" bIns="0" rtlCol="0" anchor="t"/>
          <a:lstStyle/>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Stocks Explorer</a:t>
            </a:r>
            <a:endParaRPr lang="en-US" sz="1250" dirty="0"/>
          </a:p>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Mutual Funds</a:t>
            </a:r>
            <a:endParaRPr lang="en-US" sz="1250" dirty="0"/>
          </a:p>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New IPOs</a:t>
            </a:r>
            <a:endParaRPr lang="en-US" sz="1250" dirty="0"/>
          </a:p>
        </p:txBody>
      </p:sp>
      <p:sp>
        <p:nvSpPr>
          <p:cNvPr id="6" name="Text 4"/>
          <p:cNvSpPr txBox="1"/>
          <p:nvPr/>
        </p:nvSpPr>
        <p:spPr>
          <a:xfrm>
            <a:off x="3474720" y="1572768"/>
            <a:ext cx="237744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INTELLIGENCE</a:t>
            </a:r>
            <a:endParaRPr lang="en-US" sz="850" dirty="0"/>
          </a:p>
        </p:txBody>
      </p:sp>
      <p:sp>
        <p:nvSpPr>
          <p:cNvPr id="7" name="Text 5"/>
          <p:cNvSpPr txBox="1"/>
          <p:nvPr/>
        </p:nvSpPr>
        <p:spPr>
          <a:xfrm>
            <a:off x="3474720" y="1828800"/>
            <a:ext cx="2377440" cy="713232"/>
          </a:xfrm>
          <a:prstGeom prst="rect">
            <a:avLst/>
          </a:prstGeom>
          <a:noFill/>
          <a:ln/>
        </p:spPr>
        <p:txBody>
          <a:bodyPr wrap="square" lIns="0" tIns="0" rIns="0" bIns="0" rtlCol="0" anchor="t"/>
          <a:lstStyle/>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AI Strategy Lab</a:t>
            </a:r>
            <a:endParaRPr lang="en-US" sz="1250" dirty="0"/>
          </a:p>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Trends and Signals</a:t>
            </a:r>
            <a:endParaRPr lang="en-US" sz="1250" dirty="0"/>
          </a:p>
        </p:txBody>
      </p:sp>
      <p:sp>
        <p:nvSpPr>
          <p:cNvPr id="8" name="Text 6"/>
          <p:cNvSpPr txBox="1"/>
          <p:nvPr/>
        </p:nvSpPr>
        <p:spPr>
          <a:xfrm>
            <a:off x="6126480" y="1572768"/>
            <a:ext cx="237744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EXECUTION</a:t>
            </a:r>
            <a:endParaRPr lang="en-US" sz="850" dirty="0"/>
          </a:p>
        </p:txBody>
      </p:sp>
      <p:sp>
        <p:nvSpPr>
          <p:cNvPr id="9" name="Text 7"/>
          <p:cNvSpPr txBox="1"/>
          <p:nvPr/>
        </p:nvSpPr>
        <p:spPr>
          <a:xfrm>
            <a:off x="6126480" y="1828800"/>
            <a:ext cx="2377440" cy="713232"/>
          </a:xfrm>
          <a:prstGeom prst="rect">
            <a:avLst/>
          </a:prstGeom>
          <a:noFill/>
          <a:ln/>
        </p:spPr>
        <p:txBody>
          <a:bodyPr wrap="square" lIns="0" tIns="0" rIns="0" bIns="0" rtlCol="0" anchor="t"/>
          <a:lstStyle/>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Paper Trading</a:t>
            </a:r>
            <a:endParaRPr lang="en-US" sz="1250" dirty="0"/>
          </a:p>
        </p:txBody>
      </p:sp>
      <p:sp>
        <p:nvSpPr>
          <p:cNvPr id="10" name="Text 8"/>
          <p:cNvSpPr txBox="1"/>
          <p:nvPr/>
        </p:nvSpPr>
        <p:spPr>
          <a:xfrm>
            <a:off x="8778240" y="1572768"/>
            <a:ext cx="237744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RESEARCH</a:t>
            </a:r>
            <a:endParaRPr lang="en-US" sz="850" dirty="0"/>
          </a:p>
        </p:txBody>
      </p:sp>
      <p:sp>
        <p:nvSpPr>
          <p:cNvPr id="11" name="Text 9"/>
          <p:cNvSpPr txBox="1"/>
          <p:nvPr/>
        </p:nvSpPr>
        <p:spPr>
          <a:xfrm>
            <a:off x="8778240" y="1828800"/>
            <a:ext cx="2377440" cy="713232"/>
          </a:xfrm>
          <a:prstGeom prst="rect">
            <a:avLst/>
          </a:prstGeom>
          <a:noFill/>
          <a:ln/>
        </p:spPr>
        <p:txBody>
          <a:bodyPr wrap="square" lIns="0" tIns="0" rIns="0" bIns="0" rtlCol="0" anchor="t"/>
          <a:lstStyle/>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Overview</a:t>
            </a:r>
            <a:endParaRPr lang="en-US" sz="1250" dirty="0"/>
          </a:p>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Forecast Lab</a:t>
            </a:r>
            <a:endParaRPr lang="en-US" sz="1250" dirty="0"/>
          </a:p>
          <a:p>
            <a:pPr algn="l" indent="0" marL="0">
              <a:lnSpc>
                <a:spcPct val="110000"/>
              </a:lnSpc>
              <a:buNone/>
            </a:pPr>
            <a:r>
              <a:rPr lang="en-US" sz="1250" dirty="0">
                <a:solidFill>
                  <a:srgbClr val="111111"/>
                </a:solidFill>
                <a:latin typeface="Arial" pitchFamily="34" charset="0"/>
                <a:ea typeface="Arial" pitchFamily="34" charset="-122"/>
                <a:cs typeface="Arial" pitchFamily="34" charset="-120"/>
              </a:rPr>
              <a:t>Run Receipt</a:t>
            </a:r>
            <a:endParaRPr lang="en-US" sz="1250" dirty="0"/>
          </a:p>
        </p:txBody>
      </p:sp>
      <p:sp>
        <p:nvSpPr>
          <p:cNvPr id="12" name="Text 10"/>
          <p:cNvSpPr txBox="1"/>
          <p:nvPr/>
        </p:nvSpPr>
        <p:spPr>
          <a:xfrm>
            <a:off x="5882335" y="2578608"/>
            <a:ext cx="5486400" cy="201168"/>
          </a:xfrm>
          <a:prstGeom prst="rect">
            <a:avLst/>
          </a:prstGeom>
          <a:noFill/>
          <a:ln/>
        </p:spPr>
        <p:txBody>
          <a:bodyPr wrap="square" lIns="0" tIns="0" rIns="0" bIns="0" rtlCol="0" anchor="t"/>
          <a:lstStyle/>
          <a:p>
            <a:pPr algn="r" indent="0" marL="0">
              <a:lnSpc>
                <a:spcPct val="110000"/>
              </a:lnSpc>
              <a:buNone/>
            </a:pPr>
            <a:r>
              <a:rPr lang="en-US" sz="950" b="1" dirty="0">
                <a:solidFill>
                  <a:srgbClr val="111111"/>
                </a:solidFill>
                <a:latin typeface="Arial" pitchFamily="34" charset="0"/>
                <a:ea typeface="Arial" pitchFamily="34" charset="-122"/>
                <a:cs typeface="Arial" pitchFamily="34" charset="-120"/>
              </a:rPr>
              <a:t>Fig. 1  </a:t>
            </a:r>
            <a:pPr algn="r" indent="0" marL="0">
              <a:lnSpc>
                <a:spcPct val="110000"/>
              </a:lnSpc>
              <a:buNone/>
            </a:pPr>
            <a:r>
              <a:rPr lang="en-US" sz="950" dirty="0">
                <a:solidFill>
                  <a:srgbClr val="787774"/>
                </a:solidFill>
                <a:latin typeface="Arial" pitchFamily="34" charset="0"/>
                <a:ea typeface="Arial" pitchFamily="34" charset="-122"/>
                <a:cs typeface="Arial" pitchFamily="34" charset="-120"/>
              </a:rPr>
              <a:t>Stocks Explorer on live Yahoo Finance data, light theme.</a:t>
            </a:r>
            <a:endParaRPr lang="en-US" sz="950" dirty="0"/>
          </a:p>
        </p:txBody>
      </p:sp>
      <p:pic>
        <p:nvPicPr>
          <p:cNvPr id="13" name="Image 0" descr="Screenshot of the Stocks Explorer: index cards, then top gainers, top losers and most active shelves">    </p:cNvPr>
          <p:cNvPicPr>
            <a:picLocks noChangeAspect="1"/>
          </p:cNvPicPr>
          <p:nvPr/>
        </p:nvPicPr>
        <p:blipFill>
          <a:blip r:embed="rId2"/>
          <a:stretch>
            <a:fillRect/>
          </a:stretch>
        </p:blipFill>
        <p:spPr>
          <a:xfrm>
            <a:off x="822960" y="2834640"/>
            <a:ext cx="10515600" cy="4023360"/>
          </a:xfrm>
          <a:prstGeom prst="rect">
            <a:avLst/>
          </a:prstGeom>
        </p:spPr>
      </p:pic>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02920"/>
            <a:ext cx="5486400" cy="201168"/>
          </a:xfrm>
          <a:prstGeom prst="rect">
            <a:avLst/>
          </a:prstGeom>
          <a:noFill/>
          <a:ln/>
        </p:spPr>
        <p:txBody>
          <a:bodyPr wrap="square" lIns="0" tIns="0" rIns="0" bIns="0" rtlCol="0" anchor="t"/>
          <a:lstStyle/>
          <a:p>
            <a:pPr algn="l" indent="0" marL="0">
              <a:buNone/>
            </a:pPr>
            <a:r>
              <a:rPr lang="en-US" sz="950" b="1" spc="180" kern="0" dirty="0">
                <a:solidFill>
                  <a:srgbClr val="111111"/>
                </a:solidFill>
                <a:latin typeface="Arial" pitchFamily="34" charset="0"/>
                <a:ea typeface="Arial" pitchFamily="34" charset="-122"/>
                <a:cs typeface="Arial" pitchFamily="34" charset="-120"/>
              </a:rPr>
              <a:t>NO. 04</a:t>
            </a:r>
            <a:pPr algn="l" indent="0" marL="0">
              <a:buNone/>
            </a:pPr>
            <a:r>
              <a:rPr lang="en-US" sz="950" spc="180" kern="0" dirty="0">
                <a:solidFill>
                  <a:srgbClr val="787774"/>
                </a:solidFill>
                <a:latin typeface="Arial" pitchFamily="34" charset="0"/>
                <a:ea typeface="Arial" pitchFamily="34" charset="-122"/>
                <a:cs typeface="Arial" pitchFamily="34" charset="-120"/>
              </a:rPr>
              <a:t>   HOW IT IS BUILT</a:t>
            </a:r>
            <a:endParaRPr lang="en-US" sz="950" dirty="0"/>
          </a:p>
        </p:txBody>
      </p:sp>
      <p:sp>
        <p:nvSpPr>
          <p:cNvPr id="3" name="Text 1"/>
          <p:cNvSpPr txBox="1"/>
          <p:nvPr/>
        </p:nvSpPr>
        <p:spPr>
          <a:xfrm>
            <a:off x="822960" y="868680"/>
            <a:ext cx="8778240" cy="1097280"/>
          </a:xfrm>
          <a:prstGeom prst="rect">
            <a:avLst/>
          </a:prstGeom>
          <a:noFill/>
          <a:ln/>
        </p:spPr>
        <p:txBody>
          <a:bodyPr wrap="square" lIns="0" tIns="0" rIns="0" bIns="0" rtlCol="0" anchor="t"/>
          <a:lstStyle/>
          <a:p>
            <a:pPr algn="l" indent="0" marL="0">
              <a:lnSpc>
                <a:spcPct val="95000"/>
              </a:lnSpc>
              <a:buNone/>
            </a:pPr>
            <a:r>
              <a:rPr lang="en-US" sz="3000" spc="-60" kern="0" dirty="0">
                <a:solidFill>
                  <a:srgbClr val="111111"/>
                </a:solidFill>
                <a:latin typeface="Georgia" pitchFamily="34" charset="0"/>
                <a:ea typeface="Georgia" pitchFamily="34" charset="-122"/>
                <a:cs typeface="Georgia" pitchFamily="34" charset="-120"/>
              </a:rPr>
              <a:t>A small stack, with the research core kept apart.</a:t>
            </a:r>
            <a:endParaRPr lang="en-US" sz="3000" dirty="0"/>
          </a:p>
        </p:txBody>
      </p:sp>
      <p:sp>
        <p:nvSpPr>
          <p:cNvPr id="4" name="Shape 2"/>
          <p:cNvSpPr/>
          <p:nvPr/>
        </p:nvSpPr>
        <p:spPr>
          <a:xfrm>
            <a:off x="822960" y="2240280"/>
            <a:ext cx="2606040" cy="1463040"/>
          </a:xfrm>
          <a:prstGeom prst="roundRect">
            <a:avLst>
              <a:gd name="adj" fmla="val 5000"/>
            </a:avLst>
          </a:prstGeom>
          <a:solidFill>
            <a:srgbClr val="FFFFFF"/>
          </a:solidFill>
          <a:ln w="9525">
            <a:solidFill>
              <a:srgbClr val="D9D7D0"/>
            </a:solidFill>
            <a:prstDash val="solid"/>
          </a:ln>
        </p:spPr>
      </p:sp>
      <p:sp>
        <p:nvSpPr>
          <p:cNvPr id="5" name="Text 3"/>
          <p:cNvSpPr txBox="1"/>
          <p:nvPr/>
        </p:nvSpPr>
        <p:spPr>
          <a:xfrm>
            <a:off x="1024128" y="2404872"/>
            <a:ext cx="2203704" cy="292608"/>
          </a:xfrm>
          <a:prstGeom prst="rect">
            <a:avLst/>
          </a:prstGeom>
          <a:noFill/>
          <a:ln/>
        </p:spPr>
        <p:txBody>
          <a:bodyPr wrap="square" lIns="0" tIns="0" rIns="0" bIns="0" rtlCol="0" anchor="t"/>
          <a:lstStyle/>
          <a:p>
            <a:pPr algn="l" indent="0" marL="0">
              <a:buNone/>
            </a:pPr>
            <a:r>
              <a:rPr lang="en-US" sz="1600" dirty="0">
                <a:solidFill>
                  <a:srgbClr val="111111"/>
                </a:solidFill>
                <a:latin typeface="Georgia" pitchFamily="34" charset="0"/>
                <a:ea typeface="Georgia" pitchFamily="34" charset="-122"/>
                <a:cs typeface="Georgia" pitchFamily="34" charset="-120"/>
              </a:rPr>
              <a:t>Browser</a:t>
            </a:r>
            <a:endParaRPr lang="en-US" sz="1600" dirty="0"/>
          </a:p>
        </p:txBody>
      </p:sp>
      <p:sp>
        <p:nvSpPr>
          <p:cNvPr id="6" name="Text 4"/>
          <p:cNvSpPr txBox="1"/>
          <p:nvPr/>
        </p:nvSpPr>
        <p:spPr>
          <a:xfrm>
            <a:off x="1024128" y="2770632"/>
            <a:ext cx="2203704" cy="822960"/>
          </a:xfrm>
          <a:prstGeom prst="rect">
            <a:avLst/>
          </a:prstGeom>
          <a:noFill/>
          <a:ln/>
        </p:spPr>
        <p:txBody>
          <a:bodyPr wrap="square" lIns="0" tIns="0" rIns="0" bIns="0" rtlCol="0" anchor="t"/>
          <a:lstStyle/>
          <a:p>
            <a:pPr algn="l" indent="0" marL="0">
              <a:lnSpc>
                <a:spcPct val="115000"/>
              </a:lnSpc>
              <a:buNone/>
            </a:pPr>
            <a:r>
              <a:rPr lang="en-US" sz="1100" dirty="0">
                <a:solidFill>
                  <a:srgbClr val="2F3437"/>
                </a:solidFill>
                <a:latin typeface="Arial" pitchFamily="34" charset="0"/>
                <a:ea typeface="Arial" pitchFamily="34" charset="-122"/>
                <a:cs typeface="Arial" pitchFamily="34" charset="-120"/>
              </a:rPr>
              <a:t>React 19, TypeScript and plain CSS, hosted on Vercel.</a:t>
            </a:r>
            <a:endParaRPr lang="en-US" sz="1100" dirty="0"/>
          </a:p>
        </p:txBody>
      </p:sp>
      <p:sp>
        <p:nvSpPr>
          <p:cNvPr id="7" name="Shape 5"/>
          <p:cNvSpPr/>
          <p:nvPr/>
        </p:nvSpPr>
        <p:spPr>
          <a:xfrm>
            <a:off x="4114800" y="2240280"/>
            <a:ext cx="3017520" cy="1463040"/>
          </a:xfrm>
          <a:prstGeom prst="roundRect">
            <a:avLst>
              <a:gd name="adj" fmla="val 5000"/>
            </a:avLst>
          </a:prstGeom>
          <a:solidFill>
            <a:srgbClr val="FFFFFF"/>
          </a:solidFill>
          <a:ln w="9525">
            <a:solidFill>
              <a:srgbClr val="D9D7D0"/>
            </a:solidFill>
            <a:prstDash val="solid"/>
          </a:ln>
        </p:spPr>
      </p:sp>
      <p:sp>
        <p:nvSpPr>
          <p:cNvPr id="8" name="Text 6"/>
          <p:cNvSpPr txBox="1"/>
          <p:nvPr/>
        </p:nvSpPr>
        <p:spPr>
          <a:xfrm>
            <a:off x="4315968" y="2404872"/>
            <a:ext cx="2615184" cy="292608"/>
          </a:xfrm>
          <a:prstGeom prst="rect">
            <a:avLst/>
          </a:prstGeom>
          <a:noFill/>
          <a:ln/>
        </p:spPr>
        <p:txBody>
          <a:bodyPr wrap="square" lIns="0" tIns="0" rIns="0" bIns="0" rtlCol="0" anchor="t"/>
          <a:lstStyle/>
          <a:p>
            <a:pPr algn="l" indent="0" marL="0">
              <a:buNone/>
            </a:pPr>
            <a:r>
              <a:rPr lang="en-US" sz="1600" dirty="0">
                <a:solidFill>
                  <a:srgbClr val="111111"/>
                </a:solidFill>
                <a:latin typeface="Georgia" pitchFamily="34" charset="0"/>
                <a:ea typeface="Georgia" pitchFamily="34" charset="-122"/>
                <a:cs typeface="Georgia" pitchFamily="34" charset="-120"/>
              </a:rPr>
              <a:t>API</a:t>
            </a:r>
            <a:endParaRPr lang="en-US" sz="1600" dirty="0"/>
          </a:p>
        </p:txBody>
      </p:sp>
      <p:sp>
        <p:nvSpPr>
          <p:cNvPr id="9" name="Text 7"/>
          <p:cNvSpPr txBox="1"/>
          <p:nvPr/>
        </p:nvSpPr>
        <p:spPr>
          <a:xfrm>
            <a:off x="4315968" y="2770632"/>
            <a:ext cx="2615184" cy="822960"/>
          </a:xfrm>
          <a:prstGeom prst="rect">
            <a:avLst/>
          </a:prstGeom>
          <a:noFill/>
          <a:ln/>
        </p:spPr>
        <p:txBody>
          <a:bodyPr wrap="square" lIns="0" tIns="0" rIns="0" bIns="0" rtlCol="0" anchor="t"/>
          <a:lstStyle/>
          <a:p>
            <a:pPr algn="l" indent="0" marL="0">
              <a:lnSpc>
                <a:spcPct val="115000"/>
              </a:lnSpc>
              <a:buNone/>
            </a:pPr>
            <a:r>
              <a:rPr lang="en-US" sz="1100" dirty="0">
                <a:solidFill>
                  <a:srgbClr val="2F3437"/>
                </a:solidFill>
                <a:latin typeface="Arial" pitchFamily="34" charset="0"/>
                <a:ea typeface="Arial" pitchFamily="34" charset="-122"/>
                <a:cs typeface="Arial" pitchFamily="34" charset="-120"/>
              </a:rPr>
              <a:t>FastAPI on Render: 17 read-only routes and a 10-second cache.</a:t>
            </a:r>
            <a:endParaRPr lang="en-US" sz="1100" dirty="0"/>
          </a:p>
        </p:txBody>
      </p:sp>
      <p:sp>
        <p:nvSpPr>
          <p:cNvPr id="10" name="Shape 8"/>
          <p:cNvSpPr/>
          <p:nvPr/>
        </p:nvSpPr>
        <p:spPr>
          <a:xfrm>
            <a:off x="7818120" y="2240280"/>
            <a:ext cx="3550615" cy="1463040"/>
          </a:xfrm>
          <a:prstGeom prst="roundRect">
            <a:avLst>
              <a:gd name="adj" fmla="val 5000"/>
            </a:avLst>
          </a:prstGeom>
          <a:solidFill>
            <a:srgbClr val="FFFFFF"/>
          </a:solidFill>
          <a:ln w="9525">
            <a:solidFill>
              <a:srgbClr val="D9D7D0"/>
            </a:solidFill>
            <a:prstDash val="solid"/>
          </a:ln>
        </p:spPr>
      </p:sp>
      <p:sp>
        <p:nvSpPr>
          <p:cNvPr id="11" name="Text 9"/>
          <p:cNvSpPr txBox="1"/>
          <p:nvPr/>
        </p:nvSpPr>
        <p:spPr>
          <a:xfrm>
            <a:off x="8019288" y="2404872"/>
            <a:ext cx="3148279" cy="292608"/>
          </a:xfrm>
          <a:prstGeom prst="rect">
            <a:avLst/>
          </a:prstGeom>
          <a:noFill/>
          <a:ln/>
        </p:spPr>
        <p:txBody>
          <a:bodyPr wrap="square" lIns="0" tIns="0" rIns="0" bIns="0" rtlCol="0" anchor="t"/>
          <a:lstStyle/>
          <a:p>
            <a:pPr algn="l" indent="0" marL="0">
              <a:buNone/>
            </a:pPr>
            <a:r>
              <a:rPr lang="en-US" sz="1600" dirty="0">
                <a:solidFill>
                  <a:srgbClr val="111111"/>
                </a:solidFill>
                <a:latin typeface="Georgia" pitchFamily="34" charset="0"/>
                <a:ea typeface="Georgia" pitchFamily="34" charset="-122"/>
                <a:cs typeface="Georgia" pitchFamily="34" charset="-120"/>
              </a:rPr>
              <a:t>Public sources</a:t>
            </a:r>
            <a:endParaRPr lang="en-US" sz="1600" dirty="0"/>
          </a:p>
        </p:txBody>
      </p:sp>
      <p:sp>
        <p:nvSpPr>
          <p:cNvPr id="12" name="Text 10"/>
          <p:cNvSpPr txBox="1"/>
          <p:nvPr/>
        </p:nvSpPr>
        <p:spPr>
          <a:xfrm>
            <a:off x="8019288" y="2770632"/>
            <a:ext cx="3148279" cy="822960"/>
          </a:xfrm>
          <a:prstGeom prst="rect">
            <a:avLst/>
          </a:prstGeom>
          <a:noFill/>
          <a:ln/>
        </p:spPr>
        <p:txBody>
          <a:bodyPr wrap="square" lIns="0" tIns="0" rIns="0" bIns="0" rtlCol="0" anchor="t"/>
          <a:lstStyle/>
          <a:p>
            <a:pPr algn="l" indent="0" marL="0">
              <a:lnSpc>
                <a:spcPct val="115000"/>
              </a:lnSpc>
              <a:buNone/>
            </a:pPr>
            <a:r>
              <a:rPr lang="en-US" sz="1100" dirty="0">
                <a:solidFill>
                  <a:srgbClr val="2F3437"/>
                </a:solidFill>
                <a:latin typeface="Arial" pitchFamily="34" charset="0"/>
                <a:ea typeface="Arial" pitchFamily="34" charset="-122"/>
                <a:cs typeface="Arial" pitchFamily="34" charset="-120"/>
              </a:rPr>
              <a:t>Yahoo chart API: quotes, candles, search</a:t>
            </a:r>
            <a:endParaRPr lang="en-US" sz="1100" dirty="0"/>
          </a:p>
          <a:p>
            <a:pPr algn="l" indent="0" marL="0">
              <a:lnSpc>
                <a:spcPct val="115000"/>
              </a:lnSpc>
              <a:buNone/>
            </a:pPr>
            <a:r>
              <a:rPr lang="en-US" sz="1100" dirty="0">
                <a:solidFill>
                  <a:srgbClr val="2F3437"/>
                </a:solidFill>
                <a:latin typeface="Arial" pitchFamily="34" charset="0"/>
                <a:ea typeface="Arial" pitchFamily="34" charset="-122"/>
                <a:cs typeface="Arial" pitchFamily="34" charset="-120"/>
              </a:rPr>
              <a:t>NSE website: IPOs</a:t>
            </a:r>
            <a:endParaRPr lang="en-US" sz="1100" dirty="0"/>
          </a:p>
          <a:p>
            <a:pPr algn="l" indent="0" marL="0">
              <a:lnSpc>
                <a:spcPct val="115000"/>
              </a:lnSpc>
              <a:buNone/>
            </a:pPr>
            <a:r>
              <a:rPr lang="en-US" sz="1100" dirty="0">
                <a:solidFill>
                  <a:srgbClr val="2F3437"/>
                </a:solidFill>
                <a:latin typeface="Arial" pitchFamily="34" charset="0"/>
                <a:ea typeface="Arial" pitchFamily="34" charset="-122"/>
                <a:cs typeface="Arial" pitchFamily="34" charset="-120"/>
              </a:rPr>
              <a:t>Google News RSS: headlines</a:t>
            </a:r>
            <a:endParaRPr lang="en-US" sz="1100" dirty="0"/>
          </a:p>
          <a:p>
            <a:pPr algn="l" indent="0" marL="0">
              <a:lnSpc>
                <a:spcPct val="115000"/>
              </a:lnSpc>
              <a:buNone/>
            </a:pPr>
            <a:r>
              <a:rPr lang="en-US" sz="1100" dirty="0">
                <a:solidFill>
                  <a:srgbClr val="2F3437"/>
                </a:solidFill>
                <a:latin typeface="Arial" pitchFamily="34" charset="0"/>
                <a:ea typeface="Arial" pitchFamily="34" charset="-122"/>
                <a:cs typeface="Arial" pitchFamily="34" charset="-120"/>
              </a:rPr>
              <a:t>mfapi.in: fund NAVs</a:t>
            </a:r>
            <a:endParaRPr lang="en-US" sz="1100" dirty="0"/>
          </a:p>
        </p:txBody>
      </p:sp>
      <p:sp>
        <p:nvSpPr>
          <p:cNvPr id="13" name="Shape 11"/>
          <p:cNvSpPr/>
          <p:nvPr/>
        </p:nvSpPr>
        <p:spPr>
          <a:xfrm>
            <a:off x="3429000" y="2971800"/>
            <a:ext cx="685800" cy="0"/>
          </a:xfrm>
          <a:prstGeom prst="line">
            <a:avLst/>
          </a:prstGeom>
          <a:noFill/>
          <a:ln w="12700">
            <a:solidFill>
              <a:srgbClr val="787774"/>
            </a:solidFill>
            <a:prstDash val="solid"/>
            <a:tailEnd type="triangle"/>
          </a:ln>
        </p:spPr>
      </p:sp>
      <p:sp>
        <p:nvSpPr>
          <p:cNvPr id="14" name="Text 12"/>
          <p:cNvSpPr txBox="1"/>
          <p:nvPr/>
        </p:nvSpPr>
        <p:spPr>
          <a:xfrm>
            <a:off x="3337560" y="2734056"/>
            <a:ext cx="868680" cy="182880"/>
          </a:xfrm>
          <a:prstGeom prst="rect">
            <a:avLst/>
          </a:prstGeom>
          <a:noFill/>
          <a:ln/>
        </p:spPr>
        <p:txBody>
          <a:bodyPr wrap="square" lIns="0" tIns="0" rIns="0" bIns="0" rtlCol="0" anchor="t"/>
          <a:lstStyle/>
          <a:p>
            <a:pPr algn="ctr" indent="0" marL="0">
              <a:buNone/>
            </a:pPr>
            <a:r>
              <a:rPr lang="en-US" sz="800" spc="100" kern="0" dirty="0">
                <a:solidFill>
                  <a:srgbClr val="787774"/>
                </a:solidFill>
                <a:latin typeface="Arial" pitchFamily="34" charset="0"/>
                <a:ea typeface="Arial" pitchFamily="34" charset="-122"/>
                <a:cs typeface="Arial" pitchFamily="34" charset="-120"/>
              </a:rPr>
              <a:t>JSON</a:t>
            </a:r>
            <a:endParaRPr lang="en-US" sz="800" dirty="0"/>
          </a:p>
        </p:txBody>
      </p:sp>
      <p:sp>
        <p:nvSpPr>
          <p:cNvPr id="15" name="Shape 13"/>
          <p:cNvSpPr/>
          <p:nvPr/>
        </p:nvSpPr>
        <p:spPr>
          <a:xfrm>
            <a:off x="7132320" y="2971800"/>
            <a:ext cx="685800" cy="0"/>
          </a:xfrm>
          <a:prstGeom prst="line">
            <a:avLst/>
          </a:prstGeom>
          <a:noFill/>
          <a:ln w="12700">
            <a:solidFill>
              <a:srgbClr val="787774"/>
            </a:solidFill>
            <a:prstDash val="solid"/>
            <a:tailEnd type="triangle"/>
          </a:ln>
        </p:spPr>
      </p:sp>
      <p:sp>
        <p:nvSpPr>
          <p:cNvPr id="16" name="Text 14"/>
          <p:cNvSpPr txBox="1"/>
          <p:nvPr/>
        </p:nvSpPr>
        <p:spPr>
          <a:xfrm>
            <a:off x="7040880" y="2734056"/>
            <a:ext cx="868680" cy="182880"/>
          </a:xfrm>
          <a:prstGeom prst="rect">
            <a:avLst/>
          </a:prstGeom>
          <a:noFill/>
          <a:ln/>
        </p:spPr>
        <p:txBody>
          <a:bodyPr wrap="square" lIns="0" tIns="0" rIns="0" bIns="0" rtlCol="0" anchor="t"/>
          <a:lstStyle/>
          <a:p>
            <a:pPr algn="ctr" indent="0" marL="0">
              <a:buNone/>
            </a:pPr>
            <a:r>
              <a:rPr lang="en-US" sz="800" spc="100" kern="0" dirty="0">
                <a:solidFill>
                  <a:srgbClr val="787774"/>
                </a:solidFill>
                <a:latin typeface="Arial" pitchFamily="34" charset="0"/>
                <a:ea typeface="Arial" pitchFamily="34" charset="-122"/>
                <a:cs typeface="Arial" pitchFamily="34" charset="-120"/>
              </a:rPr>
              <a:t>FETCH</a:t>
            </a:r>
            <a:endParaRPr lang="en-US" sz="800" dirty="0"/>
          </a:p>
        </p:txBody>
      </p:sp>
      <p:sp>
        <p:nvSpPr>
          <p:cNvPr id="17" name="Shape 15"/>
          <p:cNvSpPr/>
          <p:nvPr/>
        </p:nvSpPr>
        <p:spPr>
          <a:xfrm>
            <a:off x="4114800" y="4389120"/>
            <a:ext cx="7253935" cy="1051560"/>
          </a:xfrm>
          <a:prstGeom prst="roundRect">
            <a:avLst>
              <a:gd name="adj" fmla="val 6957"/>
            </a:avLst>
          </a:prstGeom>
          <a:solidFill>
            <a:srgbClr val="FFFFFF"/>
          </a:solidFill>
          <a:ln w="9525">
            <a:solidFill>
              <a:srgbClr val="D9D7D0"/>
            </a:solidFill>
            <a:prstDash val="solid"/>
          </a:ln>
        </p:spPr>
      </p:sp>
      <p:sp>
        <p:nvSpPr>
          <p:cNvPr id="18" name="Text 16"/>
          <p:cNvSpPr txBox="1"/>
          <p:nvPr/>
        </p:nvSpPr>
        <p:spPr>
          <a:xfrm>
            <a:off x="4315968" y="4535424"/>
            <a:ext cx="3657600" cy="292608"/>
          </a:xfrm>
          <a:prstGeom prst="rect">
            <a:avLst/>
          </a:prstGeom>
          <a:noFill/>
          <a:ln/>
        </p:spPr>
        <p:txBody>
          <a:bodyPr wrap="square" lIns="0" tIns="0" rIns="0" bIns="0" rtlCol="0" anchor="t"/>
          <a:lstStyle/>
          <a:p>
            <a:pPr algn="l" indent="0" marL="0">
              <a:buNone/>
            </a:pPr>
            <a:r>
              <a:rPr lang="en-US" sz="1600" dirty="0">
                <a:solidFill>
                  <a:srgbClr val="111111"/>
                </a:solidFill>
                <a:latin typeface="Georgia" pitchFamily="34" charset="0"/>
                <a:ea typeface="Georgia" pitchFamily="34" charset="-122"/>
                <a:cs typeface="Georgia" pitchFamily="34" charset="-120"/>
              </a:rPr>
              <a:t>Research core</a:t>
            </a:r>
            <a:endParaRPr lang="en-US" sz="1600" dirty="0"/>
          </a:p>
        </p:txBody>
      </p:sp>
      <p:sp>
        <p:nvSpPr>
          <p:cNvPr id="19" name="Text 17"/>
          <p:cNvSpPr txBox="1"/>
          <p:nvPr/>
        </p:nvSpPr>
        <p:spPr>
          <a:xfrm>
            <a:off x="4315968" y="4864608"/>
            <a:ext cx="6851599" cy="548640"/>
          </a:xfrm>
          <a:prstGeom prst="rect">
            <a:avLst/>
          </a:prstGeom>
          <a:noFill/>
          <a:ln/>
        </p:spPr>
        <p:txBody>
          <a:bodyPr wrap="square" lIns="0" tIns="0" rIns="0" bIns="0" rtlCol="0" anchor="t"/>
          <a:lstStyle/>
          <a:p>
            <a:pPr algn="l" indent="0" marL="0">
              <a:lnSpc>
                <a:spcPct val="115000"/>
              </a:lnSpc>
              <a:buNone/>
            </a:pPr>
            <a:r>
              <a:rPr lang="en-US" sz="1100" dirty="0">
                <a:solidFill>
                  <a:srgbClr val="2F3437"/>
                </a:solidFill>
                <a:latin typeface="Arial" pitchFamily="34" charset="0"/>
                <a:ea typeface="Arial" pitchFamily="34" charset="-122"/>
                <a:cs typeface="Arial" pitchFamily="34" charset="-120"/>
              </a:rPr>
              <a:t>Normalizer, backtester, forecaster, validator and an SQLite publisher. It runs offline on a fixture of 224 five-minute bars and publishes fingerprinted runs.</a:t>
            </a:r>
            <a:endParaRPr lang="en-US" sz="1100" dirty="0"/>
          </a:p>
        </p:txBody>
      </p:sp>
      <p:sp>
        <p:nvSpPr>
          <p:cNvPr id="20" name="Shape 18"/>
          <p:cNvSpPr/>
          <p:nvPr/>
        </p:nvSpPr>
        <p:spPr>
          <a:xfrm>
            <a:off x="5623560" y="3703320"/>
            <a:ext cx="0" cy="685800"/>
          </a:xfrm>
          <a:prstGeom prst="line">
            <a:avLst/>
          </a:prstGeom>
          <a:noFill/>
          <a:ln w="12700">
            <a:solidFill>
              <a:srgbClr val="787774"/>
            </a:solidFill>
            <a:prstDash val="dash"/>
            <a:headEnd type="triangle"/>
          </a:ln>
        </p:spPr>
      </p:sp>
      <p:sp>
        <p:nvSpPr>
          <p:cNvPr id="21" name="Text 19"/>
          <p:cNvSpPr txBox="1"/>
          <p:nvPr/>
        </p:nvSpPr>
        <p:spPr>
          <a:xfrm>
            <a:off x="5760720" y="3977640"/>
            <a:ext cx="2011680" cy="182880"/>
          </a:xfrm>
          <a:prstGeom prst="rect">
            <a:avLst/>
          </a:prstGeom>
          <a:noFill/>
          <a:ln/>
        </p:spPr>
        <p:txBody>
          <a:bodyPr wrap="square" lIns="0" tIns="0" rIns="0" bIns="0" rtlCol="0" anchor="t"/>
          <a:lstStyle/>
          <a:p>
            <a:pPr algn="l" indent="0" marL="0">
              <a:buNone/>
            </a:pPr>
            <a:r>
              <a:rPr lang="en-US" sz="800" spc="100" kern="0" dirty="0">
                <a:solidFill>
                  <a:srgbClr val="787774"/>
                </a:solidFill>
                <a:latin typeface="Arial" pitchFamily="34" charset="0"/>
                <a:ea typeface="Arial" pitchFamily="34" charset="-122"/>
                <a:cs typeface="Arial" pitchFamily="34" charset="-120"/>
              </a:rPr>
              <a:t>PUBLISHED RUNS</a:t>
            </a:r>
            <a:endParaRPr lang="en-US" sz="800" dirty="0"/>
          </a:p>
        </p:txBody>
      </p:sp>
      <p:sp>
        <p:nvSpPr>
          <p:cNvPr id="22" name="Text 20"/>
          <p:cNvSpPr txBox="1"/>
          <p:nvPr/>
        </p:nvSpPr>
        <p:spPr>
          <a:xfrm>
            <a:off x="822960" y="4434840"/>
            <a:ext cx="274320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WHY APART</a:t>
            </a:r>
            <a:endParaRPr lang="en-US" sz="850" dirty="0"/>
          </a:p>
        </p:txBody>
      </p:sp>
      <p:sp>
        <p:nvSpPr>
          <p:cNvPr id="23" name="Text 21"/>
          <p:cNvSpPr txBox="1"/>
          <p:nvPr/>
        </p:nvSpPr>
        <p:spPr>
          <a:xfrm>
            <a:off x="822960" y="4709160"/>
            <a:ext cx="2926080" cy="914400"/>
          </a:xfrm>
          <a:prstGeom prst="rect">
            <a:avLst/>
          </a:prstGeom>
          <a:noFill/>
          <a:ln/>
        </p:spPr>
        <p:txBody>
          <a:bodyPr wrap="square" lIns="0" tIns="0" rIns="0" bIns="0" rtlCol="0" anchor="t"/>
          <a:lstStyle/>
          <a:p>
            <a:pPr algn="l" indent="0" marL="0">
              <a:lnSpc>
                <a:spcPct val="115000"/>
              </a:lnSpc>
              <a:buNone/>
            </a:pPr>
            <a:r>
              <a:rPr lang="en-US" sz="1200" dirty="0">
                <a:solidFill>
                  <a:srgbClr val="2F3437"/>
                </a:solidFill>
                <a:latin typeface="Arial" pitchFamily="34" charset="0"/>
                <a:ea typeface="Arial" pitchFamily="34" charset="-122"/>
                <a:cs typeface="Arial" pitchFamily="34" charset="-120"/>
              </a:rPr>
              <a:t>The live feed can lag or fail. The research run is deterministic and never reads it, so its numbers can be audited.</a:t>
            </a:r>
            <a:endParaRPr lang="en-US" sz="1200" dirty="0"/>
          </a:p>
        </p:txBody>
      </p:sp>
      <p:sp>
        <p:nvSpPr>
          <p:cNvPr id="24" name="Text 22"/>
          <p:cNvSpPr txBox="1"/>
          <p:nvPr/>
        </p:nvSpPr>
        <p:spPr>
          <a:xfrm>
            <a:off x="822960" y="5669280"/>
            <a:ext cx="6400800" cy="201168"/>
          </a:xfrm>
          <a:prstGeom prst="rect">
            <a:avLst/>
          </a:prstGeom>
          <a:noFill/>
          <a:ln/>
        </p:spPr>
        <p:txBody>
          <a:bodyPr wrap="square" lIns="0" tIns="0" rIns="0" bIns="0" rtlCol="0" anchor="t"/>
          <a:lstStyle/>
          <a:p>
            <a:pPr algn="l" indent="0" marL="0">
              <a:lnSpc>
                <a:spcPct val="110000"/>
              </a:lnSpc>
              <a:buNone/>
            </a:pPr>
            <a:r>
              <a:rPr lang="en-US" sz="950" b="1" dirty="0">
                <a:solidFill>
                  <a:srgbClr val="111111"/>
                </a:solidFill>
                <a:latin typeface="Arial" pitchFamily="34" charset="0"/>
                <a:ea typeface="Arial" pitchFamily="34" charset="-122"/>
                <a:cs typeface="Arial" pitchFamily="34" charset="-120"/>
              </a:rPr>
              <a:t>Fig. 2  </a:t>
            </a:r>
            <a:pPr algn="l" indent="0" marL="0">
              <a:lnSpc>
                <a:spcPct val="110000"/>
              </a:lnSpc>
              <a:buNone/>
            </a:pPr>
            <a:r>
              <a:rPr lang="en-US" sz="950" dirty="0">
                <a:solidFill>
                  <a:srgbClr val="787774"/>
                </a:solidFill>
                <a:latin typeface="Arial" pitchFamily="34" charset="0"/>
                <a:ea typeface="Arial" pitchFamily="34" charset="-122"/>
                <a:cs typeface="Arial" pitchFamily="34" charset="-120"/>
              </a:rPr>
              <a:t>Solid: the live request path. Dashed: published research runs.</a:t>
            </a:r>
            <a:endParaRPr lang="en-US" sz="950" dirty="0"/>
          </a:p>
        </p:txBody>
      </p:sp>
      <p:sp>
        <p:nvSpPr>
          <p:cNvPr id="25" name="Text 23"/>
          <p:cNvSpPr txBox="1"/>
          <p:nvPr/>
        </p:nvSpPr>
        <p:spPr>
          <a:xfrm>
            <a:off x="822960" y="5943600"/>
            <a:ext cx="10545775" cy="228600"/>
          </a:xfrm>
          <a:prstGeom prst="rect">
            <a:avLst/>
          </a:prstGeom>
          <a:noFill/>
          <a:ln/>
        </p:spPr>
        <p:txBody>
          <a:bodyPr wrap="square" lIns="0" tIns="0" rIns="0" bIns="0" rtlCol="0" anchor="t"/>
          <a:lstStyle/>
          <a:p>
            <a:pPr algn="l" indent="0" marL="0">
              <a:buNone/>
            </a:pPr>
            <a:r>
              <a:rPr lang="en-US" sz="1050" dirty="0">
                <a:solidFill>
                  <a:srgbClr val="787774"/>
                </a:solidFill>
                <a:latin typeface="Arial" pitchFamily="34" charset="0"/>
                <a:ea typeface="Arial" pitchFamily="34" charset="-122"/>
                <a:cs typeface="Arial" pitchFamily="34" charset="-120"/>
              </a:rPr>
              <a:t>13,109 listings (2,611 NSE and 10,498 BSE).   Screens refresh every 15 seconds.   No order ever reaches a broker.</a:t>
            </a:r>
            <a:endParaRPr lang="en-US" sz="1050" dirty="0"/>
          </a:p>
        </p:txBody>
      </p:sp>
      <p:sp>
        <p:nvSpPr>
          <p:cNvPr id="26" name="Text 24"/>
          <p:cNvSpPr txBox="1"/>
          <p:nvPr/>
        </p:nvSpPr>
        <p:spPr>
          <a:xfrm>
            <a:off x="822960" y="6400800"/>
            <a:ext cx="2743200" cy="201168"/>
          </a:xfrm>
          <a:prstGeom prst="rect">
            <a:avLst/>
          </a:prstGeom>
          <a:noFill/>
          <a:ln/>
        </p:spPr>
        <p:txBody>
          <a:bodyPr wrap="square" lIns="0" tIns="0" rIns="0" bIns="0" rtlCol="0" anchor="t"/>
          <a:lstStyle/>
          <a:p>
            <a:pPr algn="l" indent="0" marL="0">
              <a:buNone/>
            </a:pPr>
            <a:r>
              <a:rPr lang="en-US" sz="1000" i="1" dirty="0">
                <a:solidFill>
                  <a:srgbClr val="787774"/>
                </a:solidFill>
                <a:latin typeface="Georgia" pitchFamily="34" charset="0"/>
                <a:ea typeface="Georgia" pitchFamily="34" charset="-122"/>
                <a:cs typeface="Georgia" pitchFamily="34" charset="-120"/>
              </a:rPr>
              <a:t>MarketLens</a:t>
            </a:r>
            <a:endParaRPr lang="en-US" sz="1000" dirty="0"/>
          </a:p>
        </p:txBody>
      </p:sp>
      <p:sp>
        <p:nvSpPr>
          <p:cNvPr id="27" name="Text 25"/>
          <p:cNvSpPr txBox="1"/>
          <p:nvPr/>
        </p:nvSpPr>
        <p:spPr>
          <a:xfrm>
            <a:off x="9997135" y="6400800"/>
            <a:ext cx="1371600" cy="201168"/>
          </a:xfrm>
          <a:prstGeom prst="rect">
            <a:avLst/>
          </a:prstGeom>
          <a:noFill/>
          <a:ln/>
        </p:spPr>
        <p:txBody>
          <a:bodyPr wrap="square" lIns="0" tIns="0" rIns="0" bIns="0" rtlCol="0" anchor="t"/>
          <a:lstStyle/>
          <a:p>
            <a:pPr algn="r" indent="0" marL="0">
              <a:buNone/>
            </a:pPr>
            <a:r>
              <a:rPr lang="en-US" sz="900" spc="100" kern="0" dirty="0">
                <a:solidFill>
                  <a:srgbClr val="787774"/>
                </a:solidFill>
                <a:latin typeface="Arial" pitchFamily="34" charset="0"/>
                <a:ea typeface="Arial" pitchFamily="34" charset="-122"/>
                <a:cs typeface="Arial" pitchFamily="34" charset="-120"/>
              </a:rPr>
              <a:t>04 / 10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02920"/>
            <a:ext cx="5486400" cy="201168"/>
          </a:xfrm>
          <a:prstGeom prst="rect">
            <a:avLst/>
          </a:prstGeom>
          <a:noFill/>
          <a:ln/>
        </p:spPr>
        <p:txBody>
          <a:bodyPr wrap="square" lIns="0" tIns="0" rIns="0" bIns="0" rtlCol="0" anchor="t"/>
          <a:lstStyle/>
          <a:p>
            <a:pPr algn="l" indent="0" marL="0">
              <a:buNone/>
            </a:pPr>
            <a:r>
              <a:rPr lang="en-US" sz="950" b="1" spc="180" kern="0" dirty="0">
                <a:solidFill>
                  <a:srgbClr val="111111"/>
                </a:solidFill>
                <a:latin typeface="Arial" pitchFamily="34" charset="0"/>
                <a:ea typeface="Arial" pitchFamily="34" charset="-122"/>
                <a:cs typeface="Arial" pitchFamily="34" charset="-120"/>
              </a:rPr>
              <a:t>NO. 05</a:t>
            </a:r>
            <a:pPr algn="l" indent="0" marL="0">
              <a:buNone/>
            </a:pPr>
            <a:r>
              <a:rPr lang="en-US" sz="950" spc="180" kern="0" dirty="0">
                <a:solidFill>
                  <a:srgbClr val="787774"/>
                </a:solidFill>
                <a:latin typeface="Arial" pitchFamily="34" charset="0"/>
                <a:ea typeface="Arial" pitchFamily="34" charset="-122"/>
                <a:cs typeface="Arial" pitchFamily="34" charset="-120"/>
              </a:rPr>
              <a:t>   THE RESEARCH CORE</a:t>
            </a:r>
            <a:endParaRPr lang="en-US" sz="950" dirty="0"/>
          </a:p>
        </p:txBody>
      </p:sp>
      <p:sp>
        <p:nvSpPr>
          <p:cNvPr id="3" name="Text 1"/>
          <p:cNvSpPr txBox="1"/>
          <p:nvPr/>
        </p:nvSpPr>
        <p:spPr>
          <a:xfrm>
            <a:off x="822960" y="868680"/>
            <a:ext cx="10545775" cy="868680"/>
          </a:xfrm>
          <a:prstGeom prst="rect">
            <a:avLst/>
          </a:prstGeom>
          <a:noFill/>
          <a:ln/>
        </p:spPr>
        <p:txBody>
          <a:bodyPr wrap="square" lIns="0" tIns="0" rIns="0" bIns="0" rtlCol="0" anchor="t"/>
          <a:lstStyle/>
          <a:p>
            <a:pPr algn="ctr" indent="0" marL="0">
              <a:buNone/>
            </a:pPr>
            <a:r>
              <a:rPr lang="en-US" sz="4400" dirty="0">
                <a:solidFill>
                  <a:srgbClr val="111111"/>
                </a:solidFill>
                <a:latin typeface="Georgia" pitchFamily="34" charset="0"/>
                <a:ea typeface="Georgia" pitchFamily="34" charset="-122"/>
                <a:cs typeface="Georgia" pitchFamily="34" charset="-120"/>
              </a:rPr>
              <a:t>gross</a:t>
            </a:r>
            <a:pPr algn="ctr" indent="0" marL="0">
              <a:buNone/>
            </a:pPr>
            <a:r>
              <a:rPr lang="en-US" sz="4400" dirty="0">
                <a:solidFill>
                  <a:srgbClr val="787774"/>
                </a:solidFill>
                <a:latin typeface="Georgia" pitchFamily="34" charset="0"/>
                <a:ea typeface="Georgia" pitchFamily="34" charset="-122"/>
                <a:cs typeface="Georgia" pitchFamily="34" charset="-120"/>
              </a:rPr>
              <a:t>   −   </a:t>
            </a:r>
            <a:pPr algn="ctr" indent="0" marL="0">
              <a:buNone/>
            </a:pPr>
            <a:r>
              <a:rPr lang="en-US" sz="4400" dirty="0">
                <a:solidFill>
                  <a:srgbClr val="111111"/>
                </a:solidFill>
                <a:latin typeface="Georgia" pitchFamily="34" charset="0"/>
                <a:ea typeface="Georgia" pitchFamily="34" charset="-122"/>
                <a:cs typeface="Georgia" pitchFamily="34" charset="-120"/>
              </a:rPr>
              <a:t>charges</a:t>
            </a:r>
            <a:pPr algn="ctr" indent="0" marL="0">
              <a:buNone/>
            </a:pPr>
            <a:r>
              <a:rPr lang="en-US" sz="4400" dirty="0">
                <a:solidFill>
                  <a:srgbClr val="787774"/>
                </a:solidFill>
                <a:latin typeface="Georgia" pitchFamily="34" charset="0"/>
                <a:ea typeface="Georgia" pitchFamily="34" charset="-122"/>
                <a:cs typeface="Georgia" pitchFamily="34" charset="-120"/>
              </a:rPr>
              <a:t>   −   </a:t>
            </a:r>
            <a:pPr algn="ctr" indent="0" marL="0">
              <a:buNone/>
            </a:pPr>
            <a:r>
              <a:rPr lang="en-US" sz="4400" dirty="0">
                <a:solidFill>
                  <a:srgbClr val="111111"/>
                </a:solidFill>
                <a:latin typeface="Georgia" pitchFamily="34" charset="0"/>
                <a:ea typeface="Georgia" pitchFamily="34" charset="-122"/>
                <a:cs typeface="Georgia" pitchFamily="34" charset="-120"/>
              </a:rPr>
              <a:t>slippage</a:t>
            </a:r>
            <a:pPr algn="ctr" indent="0" marL="0">
              <a:buNone/>
            </a:pPr>
            <a:r>
              <a:rPr lang="en-US" sz="4400" dirty="0">
                <a:solidFill>
                  <a:srgbClr val="787774"/>
                </a:solidFill>
                <a:latin typeface="Georgia" pitchFamily="34" charset="0"/>
                <a:ea typeface="Georgia" pitchFamily="34" charset="-122"/>
                <a:cs typeface="Georgia" pitchFamily="34" charset="-120"/>
              </a:rPr>
              <a:t>   =   </a:t>
            </a:r>
            <a:pPr algn="ctr" indent="0" marL="0">
              <a:buNone/>
            </a:pPr>
            <a:r>
              <a:rPr lang="en-US" sz="4400" i="1" dirty="0">
                <a:solidFill>
                  <a:srgbClr val="111111"/>
                </a:solidFill>
                <a:latin typeface="Georgia" pitchFamily="34" charset="0"/>
                <a:ea typeface="Georgia" pitchFamily="34" charset="-122"/>
                <a:cs typeface="Georgia" pitchFamily="34" charset="-120"/>
              </a:rPr>
              <a:t>net</a:t>
            </a:r>
            <a:endParaRPr lang="en-US" sz="4400" dirty="0"/>
          </a:p>
        </p:txBody>
      </p:sp>
      <p:sp>
        <p:nvSpPr>
          <p:cNvPr id="4" name="Text 2"/>
          <p:cNvSpPr txBox="1"/>
          <p:nvPr/>
        </p:nvSpPr>
        <p:spPr>
          <a:xfrm>
            <a:off x="822960" y="1783080"/>
            <a:ext cx="10545775" cy="274320"/>
          </a:xfrm>
          <a:prstGeom prst="rect">
            <a:avLst/>
          </a:prstGeom>
          <a:noFill/>
          <a:ln/>
        </p:spPr>
        <p:txBody>
          <a:bodyPr wrap="square" lIns="0" tIns="0" rIns="0" bIns="0" rtlCol="0" anchor="t"/>
          <a:lstStyle/>
          <a:p>
            <a:pPr algn="ctr" indent="0" marL="0">
              <a:buNone/>
            </a:pPr>
            <a:r>
              <a:rPr lang="en-US" sz="1250" dirty="0">
                <a:solidFill>
                  <a:srgbClr val="787774"/>
                </a:solidFill>
                <a:latin typeface="Arial" pitchFamily="34" charset="0"/>
                <a:ea typeface="Arial" pitchFamily="34" charset="-122"/>
                <a:cs typeface="Arial" pitchFamily="34" charset="-120"/>
              </a:rPr>
              <a:t>Checked for every trade, for the whole run, and again by an independent validator.</a:t>
            </a:r>
            <a:endParaRPr lang="en-US" sz="1250" dirty="0"/>
          </a:p>
        </p:txBody>
      </p:sp>
      <p:sp>
        <p:nvSpPr>
          <p:cNvPr id="5" name="Text 3"/>
          <p:cNvSpPr txBox="1"/>
          <p:nvPr/>
        </p:nvSpPr>
        <p:spPr>
          <a:xfrm>
            <a:off x="822960" y="2468880"/>
            <a:ext cx="457200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WHAT IS GUARANTEED</a:t>
            </a:r>
            <a:endParaRPr lang="en-US" sz="850" dirty="0"/>
          </a:p>
        </p:txBody>
      </p:sp>
      <p:sp>
        <p:nvSpPr>
          <p:cNvPr id="6" name="Text 4"/>
          <p:cNvSpPr txBox="1"/>
          <p:nvPr/>
        </p:nvSpPr>
        <p:spPr>
          <a:xfrm>
            <a:off x="7269480" y="2468880"/>
            <a:ext cx="411480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TODAY'S RUN ON THE SYNTHETIC FIXTURE</a:t>
            </a:r>
            <a:endParaRPr lang="en-US" sz="850" dirty="0"/>
          </a:p>
        </p:txBody>
      </p:sp>
      <p:sp>
        <p:nvSpPr>
          <p:cNvPr id="7" name="Shape 5"/>
          <p:cNvSpPr/>
          <p:nvPr/>
        </p:nvSpPr>
        <p:spPr>
          <a:xfrm>
            <a:off x="822960" y="2788920"/>
            <a:ext cx="5897880" cy="0"/>
          </a:xfrm>
          <a:prstGeom prst="line">
            <a:avLst/>
          </a:prstGeom>
          <a:noFill/>
          <a:ln w="9525">
            <a:solidFill>
              <a:srgbClr val="D9D7D0"/>
            </a:solidFill>
            <a:prstDash val="solid"/>
          </a:ln>
        </p:spPr>
      </p:sp>
      <p:sp>
        <p:nvSpPr>
          <p:cNvPr id="8" name="Text 6"/>
          <p:cNvSpPr txBox="1"/>
          <p:nvPr/>
        </p:nvSpPr>
        <p:spPr>
          <a:xfrm>
            <a:off x="822960" y="2907792"/>
            <a:ext cx="118872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Fills</a:t>
            </a:r>
            <a:endParaRPr lang="en-US" sz="1400" dirty="0"/>
          </a:p>
        </p:txBody>
      </p:sp>
      <p:sp>
        <p:nvSpPr>
          <p:cNvPr id="9" name="Text 7"/>
          <p:cNvSpPr txBox="1"/>
          <p:nvPr/>
        </p:nvSpPr>
        <p:spPr>
          <a:xfrm>
            <a:off x="2057400" y="2916936"/>
            <a:ext cx="4663440" cy="384048"/>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At the next bar's open, never the bar that gave the signal.</a:t>
            </a:r>
            <a:endParaRPr lang="en-US" sz="1250" dirty="0"/>
          </a:p>
        </p:txBody>
      </p:sp>
      <p:sp>
        <p:nvSpPr>
          <p:cNvPr id="10" name="Shape 8"/>
          <p:cNvSpPr/>
          <p:nvPr/>
        </p:nvSpPr>
        <p:spPr>
          <a:xfrm>
            <a:off x="822960" y="3273552"/>
            <a:ext cx="5897880" cy="0"/>
          </a:xfrm>
          <a:prstGeom prst="line">
            <a:avLst/>
          </a:prstGeom>
          <a:noFill/>
          <a:ln w="9525">
            <a:solidFill>
              <a:srgbClr val="D9D7D0"/>
            </a:solidFill>
            <a:prstDash val="solid"/>
          </a:ln>
        </p:spPr>
      </p:sp>
      <p:sp>
        <p:nvSpPr>
          <p:cNvPr id="11" name="Text 9"/>
          <p:cNvSpPr txBox="1"/>
          <p:nvPr/>
        </p:nvSpPr>
        <p:spPr>
          <a:xfrm>
            <a:off x="822960" y="3392424"/>
            <a:ext cx="118872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Splits</a:t>
            </a:r>
            <a:endParaRPr lang="en-US" sz="1400" dirty="0"/>
          </a:p>
        </p:txBody>
      </p:sp>
      <p:sp>
        <p:nvSpPr>
          <p:cNvPr id="12" name="Text 10"/>
          <p:cNvSpPr txBox="1"/>
          <p:nvPr/>
        </p:nvSpPr>
        <p:spPr>
          <a:xfrm>
            <a:off x="2057400" y="3401568"/>
            <a:ext cx="4663440" cy="384048"/>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Whole sessions in time order: 60, 20, 20.</a:t>
            </a:r>
            <a:endParaRPr lang="en-US" sz="1250" dirty="0"/>
          </a:p>
        </p:txBody>
      </p:sp>
      <p:sp>
        <p:nvSpPr>
          <p:cNvPr id="13" name="Shape 11"/>
          <p:cNvSpPr/>
          <p:nvPr/>
        </p:nvSpPr>
        <p:spPr>
          <a:xfrm>
            <a:off x="822960" y="3758184"/>
            <a:ext cx="5897880" cy="0"/>
          </a:xfrm>
          <a:prstGeom prst="line">
            <a:avLst/>
          </a:prstGeom>
          <a:noFill/>
          <a:ln w="9525">
            <a:solidFill>
              <a:srgbClr val="D9D7D0"/>
            </a:solidFill>
            <a:prstDash val="solid"/>
          </a:ln>
        </p:spPr>
      </p:sp>
      <p:sp>
        <p:nvSpPr>
          <p:cNvPr id="14" name="Text 12"/>
          <p:cNvSpPr txBox="1"/>
          <p:nvPr/>
        </p:nvSpPr>
        <p:spPr>
          <a:xfrm>
            <a:off x="822960" y="3877056"/>
            <a:ext cx="118872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Money</a:t>
            </a:r>
            <a:endParaRPr lang="en-US" sz="1400" dirty="0"/>
          </a:p>
        </p:txBody>
      </p:sp>
      <p:sp>
        <p:nvSpPr>
          <p:cNvPr id="15" name="Text 13"/>
          <p:cNvSpPr txBox="1"/>
          <p:nvPr/>
        </p:nvSpPr>
        <p:spPr>
          <a:xfrm>
            <a:off x="2057400" y="3886200"/>
            <a:ext cx="4663440" cy="384048"/>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Decimal, rounded to the paisa.</a:t>
            </a:r>
            <a:endParaRPr lang="en-US" sz="1250" dirty="0"/>
          </a:p>
        </p:txBody>
      </p:sp>
      <p:sp>
        <p:nvSpPr>
          <p:cNvPr id="16" name="Shape 14"/>
          <p:cNvSpPr/>
          <p:nvPr/>
        </p:nvSpPr>
        <p:spPr>
          <a:xfrm>
            <a:off x="822960" y="4242816"/>
            <a:ext cx="5897880" cy="0"/>
          </a:xfrm>
          <a:prstGeom prst="line">
            <a:avLst/>
          </a:prstGeom>
          <a:noFill/>
          <a:ln w="9525">
            <a:solidFill>
              <a:srgbClr val="D9D7D0"/>
            </a:solidFill>
            <a:prstDash val="solid"/>
          </a:ln>
        </p:spPr>
      </p:sp>
      <p:sp>
        <p:nvSpPr>
          <p:cNvPr id="17" name="Text 15"/>
          <p:cNvSpPr txBox="1"/>
          <p:nvPr/>
        </p:nvSpPr>
        <p:spPr>
          <a:xfrm>
            <a:off x="822960" y="4361688"/>
            <a:ext cx="118872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Gaps</a:t>
            </a:r>
            <a:endParaRPr lang="en-US" sz="1400" dirty="0"/>
          </a:p>
        </p:txBody>
      </p:sp>
      <p:sp>
        <p:nvSpPr>
          <p:cNvPr id="18" name="Text 16"/>
          <p:cNvSpPr txBox="1"/>
          <p:nvPr/>
        </p:nvSpPr>
        <p:spPr>
          <a:xfrm>
            <a:off x="2057400" y="4370832"/>
            <a:ext cx="4663440" cy="384048"/>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Flagged. Never forward-filled.</a:t>
            </a:r>
            <a:endParaRPr lang="en-US" sz="1250" dirty="0"/>
          </a:p>
        </p:txBody>
      </p:sp>
      <p:sp>
        <p:nvSpPr>
          <p:cNvPr id="19" name="Shape 17"/>
          <p:cNvSpPr/>
          <p:nvPr/>
        </p:nvSpPr>
        <p:spPr>
          <a:xfrm>
            <a:off x="822960" y="4727448"/>
            <a:ext cx="5897880" cy="0"/>
          </a:xfrm>
          <a:prstGeom prst="line">
            <a:avLst/>
          </a:prstGeom>
          <a:noFill/>
          <a:ln w="9525">
            <a:solidFill>
              <a:srgbClr val="D9D7D0"/>
            </a:solidFill>
            <a:prstDash val="solid"/>
          </a:ln>
        </p:spPr>
      </p:sp>
      <p:sp>
        <p:nvSpPr>
          <p:cNvPr id="20" name="Text 18"/>
          <p:cNvSpPr txBox="1"/>
          <p:nvPr/>
        </p:nvSpPr>
        <p:spPr>
          <a:xfrm>
            <a:off x="822960" y="4846320"/>
            <a:ext cx="118872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Receipts</a:t>
            </a:r>
            <a:endParaRPr lang="en-US" sz="1400" dirty="0"/>
          </a:p>
        </p:txBody>
      </p:sp>
      <p:sp>
        <p:nvSpPr>
          <p:cNvPr id="21" name="Text 19"/>
          <p:cNvSpPr txBox="1"/>
          <p:nvPr/>
        </p:nvSpPr>
        <p:spPr>
          <a:xfrm>
            <a:off x="2057400" y="4855464"/>
            <a:ext cx="4663440" cy="384048"/>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A SHA-256 fingerprint on every run bundle.</a:t>
            </a:r>
            <a:endParaRPr lang="en-US" sz="1250" dirty="0"/>
          </a:p>
        </p:txBody>
      </p:sp>
      <p:sp>
        <p:nvSpPr>
          <p:cNvPr id="22" name="Shape 20"/>
          <p:cNvSpPr/>
          <p:nvPr/>
        </p:nvSpPr>
        <p:spPr>
          <a:xfrm>
            <a:off x="822960" y="5212080"/>
            <a:ext cx="5897880" cy="0"/>
          </a:xfrm>
          <a:prstGeom prst="line">
            <a:avLst/>
          </a:prstGeom>
          <a:noFill/>
          <a:ln w="9525">
            <a:solidFill>
              <a:srgbClr val="D9D7D0"/>
            </a:solidFill>
            <a:prstDash val="solid"/>
          </a:ln>
        </p:spPr>
      </p:sp>
      <p:sp>
        <p:nvSpPr>
          <p:cNvPr id="23" name="Text 21"/>
          <p:cNvSpPr txBox="1"/>
          <p:nvPr/>
        </p:nvSpPr>
        <p:spPr>
          <a:xfrm>
            <a:off x="822960" y="5330952"/>
            <a:ext cx="118872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Storage</a:t>
            </a:r>
            <a:endParaRPr lang="en-US" sz="1400" dirty="0"/>
          </a:p>
        </p:txBody>
      </p:sp>
      <p:sp>
        <p:nvSpPr>
          <p:cNvPr id="24" name="Text 22"/>
          <p:cNvSpPr txBox="1"/>
          <p:nvPr/>
        </p:nvSpPr>
        <p:spPr>
          <a:xfrm>
            <a:off x="2057400" y="5340096"/>
            <a:ext cx="4663440" cy="384048"/>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SQLite triggers refuse updates and deletes.</a:t>
            </a:r>
            <a:endParaRPr lang="en-US" sz="1250" dirty="0"/>
          </a:p>
        </p:txBody>
      </p:sp>
      <p:sp>
        <p:nvSpPr>
          <p:cNvPr id="25" name="Shape 23"/>
          <p:cNvSpPr/>
          <p:nvPr/>
        </p:nvSpPr>
        <p:spPr>
          <a:xfrm>
            <a:off x="7269480" y="2788920"/>
            <a:ext cx="4099255" cy="0"/>
          </a:xfrm>
          <a:prstGeom prst="line">
            <a:avLst/>
          </a:prstGeom>
          <a:noFill/>
          <a:ln w="9525">
            <a:solidFill>
              <a:srgbClr val="D9D7D0"/>
            </a:solidFill>
            <a:prstDash val="solid"/>
          </a:ln>
        </p:spPr>
      </p:sp>
      <p:sp>
        <p:nvSpPr>
          <p:cNvPr id="26" name="Text 24"/>
          <p:cNvSpPr txBox="1"/>
          <p:nvPr/>
        </p:nvSpPr>
        <p:spPr>
          <a:xfrm>
            <a:off x="7269480" y="2926080"/>
            <a:ext cx="2377440" cy="274320"/>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Trades</a:t>
            </a:r>
            <a:endParaRPr lang="en-US" sz="1250" dirty="0"/>
          </a:p>
        </p:txBody>
      </p:sp>
      <p:sp>
        <p:nvSpPr>
          <p:cNvPr id="27" name="Text 25"/>
          <p:cNvSpPr txBox="1"/>
          <p:nvPr/>
        </p:nvSpPr>
        <p:spPr>
          <a:xfrm>
            <a:off x="9631375" y="2880360"/>
            <a:ext cx="1737360" cy="329184"/>
          </a:xfrm>
          <a:prstGeom prst="rect">
            <a:avLst/>
          </a:prstGeom>
          <a:noFill/>
          <a:ln/>
        </p:spPr>
        <p:txBody>
          <a:bodyPr wrap="square" lIns="0" tIns="0" rIns="0" bIns="0" rtlCol="0" anchor="t"/>
          <a:lstStyle/>
          <a:p>
            <a:pPr algn="r" indent="0" marL="0">
              <a:buNone/>
            </a:pPr>
            <a:r>
              <a:rPr lang="en-US" sz="1700" dirty="0">
                <a:solidFill>
                  <a:srgbClr val="111111"/>
                </a:solidFill>
                <a:latin typeface="Arial" pitchFamily="34" charset="0"/>
                <a:ea typeface="Arial" pitchFamily="34" charset="-122"/>
                <a:cs typeface="Arial" pitchFamily="34" charset="-120"/>
              </a:rPr>
              <a:t>0</a:t>
            </a:r>
            <a:endParaRPr lang="en-US" sz="1700" dirty="0"/>
          </a:p>
        </p:txBody>
      </p:sp>
      <p:sp>
        <p:nvSpPr>
          <p:cNvPr id="28" name="Shape 26"/>
          <p:cNvSpPr/>
          <p:nvPr/>
        </p:nvSpPr>
        <p:spPr>
          <a:xfrm>
            <a:off x="7269480" y="3273552"/>
            <a:ext cx="4099255" cy="0"/>
          </a:xfrm>
          <a:prstGeom prst="line">
            <a:avLst/>
          </a:prstGeom>
          <a:noFill/>
          <a:ln w="9525">
            <a:solidFill>
              <a:srgbClr val="D9D7D0"/>
            </a:solidFill>
            <a:prstDash val="solid"/>
          </a:ln>
        </p:spPr>
      </p:sp>
      <p:sp>
        <p:nvSpPr>
          <p:cNvPr id="29" name="Text 27"/>
          <p:cNvSpPr txBox="1"/>
          <p:nvPr/>
        </p:nvSpPr>
        <p:spPr>
          <a:xfrm>
            <a:off x="7269480" y="3410712"/>
            <a:ext cx="2377440" cy="274320"/>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Net profit</a:t>
            </a:r>
            <a:endParaRPr lang="en-US" sz="1250" dirty="0"/>
          </a:p>
        </p:txBody>
      </p:sp>
      <p:sp>
        <p:nvSpPr>
          <p:cNvPr id="30" name="Text 28"/>
          <p:cNvSpPr txBox="1"/>
          <p:nvPr/>
        </p:nvSpPr>
        <p:spPr>
          <a:xfrm>
            <a:off x="9631375" y="3364992"/>
            <a:ext cx="1737360" cy="329184"/>
          </a:xfrm>
          <a:prstGeom prst="rect">
            <a:avLst/>
          </a:prstGeom>
          <a:noFill/>
          <a:ln/>
        </p:spPr>
        <p:txBody>
          <a:bodyPr wrap="square" lIns="0" tIns="0" rIns="0" bIns="0" rtlCol="0" anchor="t"/>
          <a:lstStyle/>
          <a:p>
            <a:pPr algn="r" indent="0" marL="0">
              <a:buNone/>
            </a:pPr>
            <a:r>
              <a:rPr lang="en-US" sz="1700" dirty="0">
                <a:solidFill>
                  <a:srgbClr val="111111"/>
                </a:solidFill>
                <a:latin typeface="Arial" pitchFamily="34" charset="0"/>
                <a:ea typeface="Arial" pitchFamily="34" charset="-122"/>
                <a:cs typeface="Arial" pitchFamily="34" charset="-120"/>
              </a:rPr>
              <a:t>₹0.00</a:t>
            </a:r>
            <a:endParaRPr lang="en-US" sz="1700" dirty="0"/>
          </a:p>
        </p:txBody>
      </p:sp>
      <p:sp>
        <p:nvSpPr>
          <p:cNvPr id="31" name="Shape 29"/>
          <p:cNvSpPr/>
          <p:nvPr/>
        </p:nvSpPr>
        <p:spPr>
          <a:xfrm>
            <a:off x="7269480" y="3758184"/>
            <a:ext cx="4099255" cy="0"/>
          </a:xfrm>
          <a:prstGeom prst="line">
            <a:avLst/>
          </a:prstGeom>
          <a:noFill/>
          <a:ln w="9525">
            <a:solidFill>
              <a:srgbClr val="D9D7D0"/>
            </a:solidFill>
            <a:prstDash val="solid"/>
          </a:ln>
        </p:spPr>
      </p:sp>
      <p:sp>
        <p:nvSpPr>
          <p:cNvPr id="32" name="Text 30"/>
          <p:cNvSpPr txBox="1"/>
          <p:nvPr/>
        </p:nvSpPr>
        <p:spPr>
          <a:xfrm>
            <a:off x="7269480" y="3895344"/>
            <a:ext cx="2377440" cy="274320"/>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Buy and hold</a:t>
            </a:r>
            <a:endParaRPr lang="en-US" sz="1250" dirty="0"/>
          </a:p>
        </p:txBody>
      </p:sp>
      <p:sp>
        <p:nvSpPr>
          <p:cNvPr id="33" name="Text 31"/>
          <p:cNvSpPr txBox="1"/>
          <p:nvPr/>
        </p:nvSpPr>
        <p:spPr>
          <a:xfrm>
            <a:off x="9631375" y="3849624"/>
            <a:ext cx="1737360" cy="329184"/>
          </a:xfrm>
          <a:prstGeom prst="rect">
            <a:avLst/>
          </a:prstGeom>
          <a:noFill/>
          <a:ln/>
        </p:spPr>
        <p:txBody>
          <a:bodyPr wrap="square" lIns="0" tIns="0" rIns="0" bIns="0" rtlCol="0" anchor="t"/>
          <a:lstStyle/>
          <a:p>
            <a:pPr algn="r" indent="0" marL="0">
              <a:buNone/>
            </a:pPr>
            <a:r>
              <a:rPr lang="en-US" sz="1700" dirty="0">
                <a:solidFill>
                  <a:srgbClr val="111111"/>
                </a:solidFill>
                <a:latin typeface="Arial" pitchFamily="34" charset="0"/>
                <a:ea typeface="Arial" pitchFamily="34" charset="-122"/>
                <a:cs typeface="Arial" pitchFamily="34" charset="-120"/>
              </a:rPr>
              <a:t>−₹589.29</a:t>
            </a:r>
            <a:endParaRPr lang="en-US" sz="1700" dirty="0"/>
          </a:p>
        </p:txBody>
      </p:sp>
      <p:sp>
        <p:nvSpPr>
          <p:cNvPr id="34" name="Shape 32"/>
          <p:cNvSpPr/>
          <p:nvPr/>
        </p:nvSpPr>
        <p:spPr>
          <a:xfrm>
            <a:off x="7269480" y="4242816"/>
            <a:ext cx="4099255" cy="0"/>
          </a:xfrm>
          <a:prstGeom prst="line">
            <a:avLst/>
          </a:prstGeom>
          <a:noFill/>
          <a:ln w="9525">
            <a:solidFill>
              <a:srgbClr val="D9D7D0"/>
            </a:solidFill>
            <a:prstDash val="solid"/>
          </a:ln>
        </p:spPr>
      </p:sp>
      <p:sp>
        <p:nvSpPr>
          <p:cNvPr id="35" name="Text 33"/>
          <p:cNvSpPr txBox="1"/>
          <p:nvPr/>
        </p:nvSpPr>
        <p:spPr>
          <a:xfrm>
            <a:off x="7269480" y="4379976"/>
            <a:ext cx="2377440" cy="274320"/>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Brier score, model</a:t>
            </a:r>
            <a:endParaRPr lang="en-US" sz="1250" dirty="0"/>
          </a:p>
        </p:txBody>
      </p:sp>
      <p:sp>
        <p:nvSpPr>
          <p:cNvPr id="36" name="Text 34"/>
          <p:cNvSpPr txBox="1"/>
          <p:nvPr/>
        </p:nvSpPr>
        <p:spPr>
          <a:xfrm>
            <a:off x="9631375" y="4334256"/>
            <a:ext cx="1737360" cy="329184"/>
          </a:xfrm>
          <a:prstGeom prst="rect">
            <a:avLst/>
          </a:prstGeom>
          <a:noFill/>
          <a:ln/>
        </p:spPr>
        <p:txBody>
          <a:bodyPr wrap="square" lIns="0" tIns="0" rIns="0" bIns="0" rtlCol="0" anchor="t"/>
          <a:lstStyle/>
          <a:p>
            <a:pPr algn="r" indent="0" marL="0">
              <a:buNone/>
            </a:pPr>
            <a:r>
              <a:rPr lang="en-US" sz="1700" dirty="0">
                <a:solidFill>
                  <a:srgbClr val="111111"/>
                </a:solidFill>
                <a:latin typeface="Arial" pitchFamily="34" charset="0"/>
                <a:ea typeface="Arial" pitchFamily="34" charset="-122"/>
                <a:cs typeface="Arial" pitchFamily="34" charset="-120"/>
              </a:rPr>
              <a:t>0.537</a:t>
            </a:r>
            <a:endParaRPr lang="en-US" sz="1700" dirty="0"/>
          </a:p>
        </p:txBody>
      </p:sp>
      <p:sp>
        <p:nvSpPr>
          <p:cNvPr id="37" name="Shape 35"/>
          <p:cNvSpPr/>
          <p:nvPr/>
        </p:nvSpPr>
        <p:spPr>
          <a:xfrm>
            <a:off x="7269480" y="4727448"/>
            <a:ext cx="4099255" cy="0"/>
          </a:xfrm>
          <a:prstGeom prst="line">
            <a:avLst/>
          </a:prstGeom>
          <a:noFill/>
          <a:ln w="9525">
            <a:solidFill>
              <a:srgbClr val="D9D7D0"/>
            </a:solidFill>
            <a:prstDash val="solid"/>
          </a:ln>
        </p:spPr>
      </p:sp>
      <p:sp>
        <p:nvSpPr>
          <p:cNvPr id="38" name="Text 36"/>
          <p:cNvSpPr txBox="1"/>
          <p:nvPr/>
        </p:nvSpPr>
        <p:spPr>
          <a:xfrm>
            <a:off x="7269480" y="4864608"/>
            <a:ext cx="2377440" cy="274320"/>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Brier score, base rate</a:t>
            </a:r>
            <a:endParaRPr lang="en-US" sz="1250" dirty="0"/>
          </a:p>
        </p:txBody>
      </p:sp>
      <p:sp>
        <p:nvSpPr>
          <p:cNvPr id="39" name="Text 37"/>
          <p:cNvSpPr txBox="1"/>
          <p:nvPr/>
        </p:nvSpPr>
        <p:spPr>
          <a:xfrm>
            <a:off x="9631375" y="4818888"/>
            <a:ext cx="1737360" cy="329184"/>
          </a:xfrm>
          <a:prstGeom prst="rect">
            <a:avLst/>
          </a:prstGeom>
          <a:noFill/>
          <a:ln/>
        </p:spPr>
        <p:txBody>
          <a:bodyPr wrap="square" lIns="0" tIns="0" rIns="0" bIns="0" rtlCol="0" anchor="t"/>
          <a:lstStyle/>
          <a:p>
            <a:pPr algn="r" indent="0" marL="0">
              <a:buNone/>
            </a:pPr>
            <a:r>
              <a:rPr lang="en-US" sz="1700" dirty="0">
                <a:solidFill>
                  <a:srgbClr val="111111"/>
                </a:solidFill>
                <a:latin typeface="Arial" pitchFamily="34" charset="0"/>
                <a:ea typeface="Arial" pitchFamily="34" charset="-122"/>
                <a:cs typeface="Arial" pitchFamily="34" charset="-120"/>
              </a:rPr>
              <a:t>0.334</a:t>
            </a:r>
            <a:endParaRPr lang="en-US" sz="1700" dirty="0"/>
          </a:p>
        </p:txBody>
      </p:sp>
      <p:sp>
        <p:nvSpPr>
          <p:cNvPr id="40" name="Shape 38"/>
          <p:cNvSpPr/>
          <p:nvPr/>
        </p:nvSpPr>
        <p:spPr>
          <a:xfrm>
            <a:off x="7269480" y="5212080"/>
            <a:ext cx="4099255" cy="0"/>
          </a:xfrm>
          <a:prstGeom prst="line">
            <a:avLst/>
          </a:prstGeom>
          <a:noFill/>
          <a:ln w="9525">
            <a:solidFill>
              <a:srgbClr val="D9D7D0"/>
            </a:solidFill>
            <a:prstDash val="solid"/>
          </a:ln>
        </p:spPr>
      </p:sp>
      <p:sp>
        <p:nvSpPr>
          <p:cNvPr id="41" name="Text 39"/>
          <p:cNvSpPr txBox="1"/>
          <p:nvPr/>
        </p:nvSpPr>
        <p:spPr>
          <a:xfrm>
            <a:off x="7269480" y="5349240"/>
            <a:ext cx="2377440" cy="274320"/>
          </a:xfrm>
          <a:prstGeom prst="rect">
            <a:avLst/>
          </a:prstGeom>
          <a:noFill/>
          <a:ln/>
        </p:spPr>
        <p:txBody>
          <a:bodyPr wrap="square" lIns="0" tIns="0" rIns="0" bIns="0" rtlCol="0" anchor="t"/>
          <a:lstStyle/>
          <a:p>
            <a:pPr algn="l" indent="0" marL="0">
              <a:buNone/>
            </a:pPr>
            <a:r>
              <a:rPr lang="en-US" sz="1250" dirty="0">
                <a:solidFill>
                  <a:srgbClr val="2F3437"/>
                </a:solidFill>
                <a:latin typeface="Arial" pitchFamily="34" charset="0"/>
                <a:ea typeface="Arial" pitchFamily="34" charset="-122"/>
                <a:cs typeface="Arial" pitchFamily="34" charset="-120"/>
              </a:rPr>
              <a:t>Forecasts scored</a:t>
            </a:r>
            <a:endParaRPr lang="en-US" sz="1250" dirty="0"/>
          </a:p>
        </p:txBody>
      </p:sp>
      <p:sp>
        <p:nvSpPr>
          <p:cNvPr id="42" name="Text 40"/>
          <p:cNvSpPr txBox="1"/>
          <p:nvPr/>
        </p:nvSpPr>
        <p:spPr>
          <a:xfrm>
            <a:off x="9631375" y="5303520"/>
            <a:ext cx="1737360" cy="329184"/>
          </a:xfrm>
          <a:prstGeom prst="rect">
            <a:avLst/>
          </a:prstGeom>
          <a:noFill/>
          <a:ln/>
        </p:spPr>
        <p:txBody>
          <a:bodyPr wrap="square" lIns="0" tIns="0" rIns="0" bIns="0" rtlCol="0" anchor="t"/>
          <a:lstStyle/>
          <a:p>
            <a:pPr algn="r" indent="0" marL="0">
              <a:buNone/>
            </a:pPr>
            <a:r>
              <a:rPr lang="en-US" sz="1700" dirty="0">
                <a:solidFill>
                  <a:srgbClr val="111111"/>
                </a:solidFill>
                <a:latin typeface="Arial" pitchFamily="34" charset="0"/>
                <a:ea typeface="Arial" pitchFamily="34" charset="-122"/>
                <a:cs typeface="Arial" pitchFamily="34" charset="-120"/>
              </a:rPr>
              <a:t>69</a:t>
            </a:r>
            <a:endParaRPr lang="en-US" sz="1700" dirty="0"/>
          </a:p>
        </p:txBody>
      </p:sp>
      <p:sp>
        <p:nvSpPr>
          <p:cNvPr id="43" name="Shape 41"/>
          <p:cNvSpPr/>
          <p:nvPr/>
        </p:nvSpPr>
        <p:spPr>
          <a:xfrm>
            <a:off x="822960" y="5696712"/>
            <a:ext cx="5897880" cy="0"/>
          </a:xfrm>
          <a:prstGeom prst="line">
            <a:avLst/>
          </a:prstGeom>
          <a:noFill/>
          <a:ln w="9525">
            <a:solidFill>
              <a:srgbClr val="D9D7D0"/>
            </a:solidFill>
            <a:prstDash val="solid"/>
          </a:ln>
        </p:spPr>
      </p:sp>
      <p:sp>
        <p:nvSpPr>
          <p:cNvPr id="44" name="Shape 42"/>
          <p:cNvSpPr/>
          <p:nvPr/>
        </p:nvSpPr>
        <p:spPr>
          <a:xfrm>
            <a:off x="7269480" y="5696712"/>
            <a:ext cx="4099255" cy="0"/>
          </a:xfrm>
          <a:prstGeom prst="line">
            <a:avLst/>
          </a:prstGeom>
          <a:noFill/>
          <a:ln w="9525">
            <a:solidFill>
              <a:srgbClr val="D9D7D0"/>
            </a:solidFill>
            <a:prstDash val="solid"/>
          </a:ln>
        </p:spPr>
      </p:sp>
      <p:sp>
        <p:nvSpPr>
          <p:cNvPr id="45" name="Text 43"/>
          <p:cNvSpPr txBox="1"/>
          <p:nvPr/>
        </p:nvSpPr>
        <p:spPr>
          <a:xfrm>
            <a:off x="7269480" y="5879592"/>
            <a:ext cx="4099255" cy="365760"/>
          </a:xfrm>
          <a:prstGeom prst="rect">
            <a:avLst/>
          </a:prstGeom>
          <a:noFill/>
          <a:ln/>
        </p:spPr>
        <p:txBody>
          <a:bodyPr wrap="square" lIns="0" tIns="0" rIns="0" bIns="0" rtlCol="0" anchor="t"/>
          <a:lstStyle/>
          <a:p>
            <a:pPr algn="l" indent="0" marL="0">
              <a:buNone/>
            </a:pPr>
            <a:r>
              <a:rPr lang="en-US" sz="1400" i="1" dirty="0">
                <a:solidFill>
                  <a:srgbClr val="111111"/>
                </a:solidFill>
                <a:latin typeface="Georgia" pitchFamily="34" charset="0"/>
                <a:ea typeface="Georgia" pitchFamily="34" charset="-122"/>
                <a:cs typeface="Georgia" pitchFamily="34" charset="-120"/>
              </a:rPr>
              <a:t>No edge found. That is the honest result.</a:t>
            </a:r>
            <a:endParaRPr lang="en-US" sz="1400" dirty="0"/>
          </a:p>
        </p:txBody>
      </p:sp>
      <p:sp>
        <p:nvSpPr>
          <p:cNvPr id="46" name="Text 44"/>
          <p:cNvSpPr txBox="1"/>
          <p:nvPr/>
        </p:nvSpPr>
        <p:spPr>
          <a:xfrm>
            <a:off x="822960" y="6400800"/>
            <a:ext cx="2743200" cy="201168"/>
          </a:xfrm>
          <a:prstGeom prst="rect">
            <a:avLst/>
          </a:prstGeom>
          <a:noFill/>
          <a:ln/>
        </p:spPr>
        <p:txBody>
          <a:bodyPr wrap="square" lIns="0" tIns="0" rIns="0" bIns="0" rtlCol="0" anchor="t"/>
          <a:lstStyle/>
          <a:p>
            <a:pPr algn="l" indent="0" marL="0">
              <a:buNone/>
            </a:pPr>
            <a:r>
              <a:rPr lang="en-US" sz="1000" i="1" dirty="0">
                <a:solidFill>
                  <a:srgbClr val="787774"/>
                </a:solidFill>
                <a:latin typeface="Georgia" pitchFamily="34" charset="0"/>
                <a:ea typeface="Georgia" pitchFamily="34" charset="-122"/>
                <a:cs typeface="Georgia" pitchFamily="34" charset="-120"/>
              </a:rPr>
              <a:t>MarketLens</a:t>
            </a:r>
            <a:endParaRPr lang="en-US" sz="1000" dirty="0"/>
          </a:p>
        </p:txBody>
      </p:sp>
      <p:sp>
        <p:nvSpPr>
          <p:cNvPr id="47" name="Text 45"/>
          <p:cNvSpPr txBox="1"/>
          <p:nvPr/>
        </p:nvSpPr>
        <p:spPr>
          <a:xfrm>
            <a:off x="9997135" y="6400800"/>
            <a:ext cx="1371600" cy="201168"/>
          </a:xfrm>
          <a:prstGeom prst="rect">
            <a:avLst/>
          </a:prstGeom>
          <a:noFill/>
          <a:ln/>
        </p:spPr>
        <p:txBody>
          <a:bodyPr wrap="square" lIns="0" tIns="0" rIns="0" bIns="0" rtlCol="0" anchor="t"/>
          <a:lstStyle/>
          <a:p>
            <a:pPr algn="r" indent="0" marL="0">
              <a:buNone/>
            </a:pPr>
            <a:r>
              <a:rPr lang="en-US" sz="900" spc="100" kern="0" dirty="0">
                <a:solidFill>
                  <a:srgbClr val="787774"/>
                </a:solidFill>
                <a:latin typeface="Arial" pitchFamily="34" charset="0"/>
                <a:ea typeface="Arial" pitchFamily="34" charset="-122"/>
                <a:cs typeface="Arial" pitchFamily="34" charset="-120"/>
              </a:rPr>
              <a:t>05 / 10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02920"/>
            <a:ext cx="5486400" cy="201168"/>
          </a:xfrm>
          <a:prstGeom prst="rect">
            <a:avLst/>
          </a:prstGeom>
          <a:noFill/>
          <a:ln/>
        </p:spPr>
        <p:txBody>
          <a:bodyPr wrap="square" lIns="0" tIns="0" rIns="0" bIns="0" rtlCol="0" anchor="t"/>
          <a:lstStyle/>
          <a:p>
            <a:pPr algn="l" indent="0" marL="0">
              <a:buNone/>
            </a:pPr>
            <a:r>
              <a:rPr lang="en-US" sz="950" b="1" spc="180" kern="0" dirty="0">
                <a:solidFill>
                  <a:srgbClr val="111111"/>
                </a:solidFill>
                <a:latin typeface="Arial" pitchFamily="34" charset="0"/>
                <a:ea typeface="Arial" pitchFamily="34" charset="-122"/>
                <a:cs typeface="Arial" pitchFamily="34" charset="-120"/>
              </a:rPr>
              <a:t>NO. 06</a:t>
            </a:r>
            <a:pPr algn="l" indent="0" marL="0">
              <a:buNone/>
            </a:pPr>
            <a:r>
              <a:rPr lang="en-US" sz="950" spc="180" kern="0" dirty="0">
                <a:solidFill>
                  <a:srgbClr val="787774"/>
                </a:solidFill>
                <a:latin typeface="Arial" pitchFamily="34" charset="0"/>
                <a:ea typeface="Arial" pitchFamily="34" charset="-122"/>
                <a:cs typeface="Arial" pitchFamily="34" charset="-120"/>
              </a:rPr>
              <a:t>   PAPER TRADING</a:t>
            </a:r>
            <a:endParaRPr lang="en-US" sz="950" dirty="0"/>
          </a:p>
        </p:txBody>
      </p:sp>
      <p:pic>
        <p:nvPicPr>
          <p:cNvPr id="3" name="Image 0" descr="Screenshot of the paper-trading terminal after one round trip: order ticket with itemised charges, and a trade history row showing gross P and L of zero, charges of 181.89 rupees and a net loss of the same amount">    </p:cNvPr>
          <p:cNvPicPr>
            <a:picLocks noChangeAspect="1"/>
          </p:cNvPicPr>
          <p:nvPr/>
        </p:nvPicPr>
        <p:blipFill>
          <a:blip r:embed="rId2"/>
          <a:stretch>
            <a:fillRect/>
          </a:stretch>
        </p:blipFill>
        <p:spPr>
          <a:xfrm>
            <a:off x="822960" y="868680"/>
            <a:ext cx="6949440" cy="5055870"/>
          </a:xfrm>
          <a:prstGeom prst="rect">
            <a:avLst/>
          </a:prstGeom>
        </p:spPr>
      </p:pic>
      <p:sp>
        <p:nvSpPr>
          <p:cNvPr id="4" name="Text 1"/>
          <p:cNvSpPr txBox="1"/>
          <p:nvPr/>
        </p:nvSpPr>
        <p:spPr>
          <a:xfrm>
            <a:off x="822960" y="6034278"/>
            <a:ext cx="6949440" cy="365760"/>
          </a:xfrm>
          <a:prstGeom prst="rect">
            <a:avLst/>
          </a:prstGeom>
          <a:noFill/>
          <a:ln/>
        </p:spPr>
        <p:txBody>
          <a:bodyPr wrap="square" lIns="0" tIns="0" rIns="0" bIns="0" rtlCol="0" anchor="t"/>
          <a:lstStyle/>
          <a:p>
            <a:pPr algn="l" indent="0" marL="0">
              <a:lnSpc>
                <a:spcPct val="110000"/>
              </a:lnSpc>
              <a:buNone/>
            </a:pPr>
            <a:r>
              <a:rPr lang="en-US" sz="950" b="1" dirty="0">
                <a:solidFill>
                  <a:srgbClr val="111111"/>
                </a:solidFill>
                <a:latin typeface="Arial" pitchFamily="34" charset="0"/>
                <a:ea typeface="Arial" pitchFamily="34" charset="-122"/>
                <a:cs typeface="Arial" pitchFamily="34" charset="-120"/>
              </a:rPr>
              <a:t>Fig. 3  </a:t>
            </a:r>
            <a:pPr algn="l" indent="0" marL="0">
              <a:lnSpc>
                <a:spcPct val="110000"/>
              </a:lnSpc>
              <a:buNone/>
            </a:pPr>
            <a:r>
              <a:rPr lang="en-US" sz="950" dirty="0">
                <a:solidFill>
                  <a:srgbClr val="787774"/>
                </a:solidFill>
                <a:latin typeface="Arial" pitchFamily="34" charset="0"/>
                <a:ea typeface="Arial" pitchFamily="34" charset="-122"/>
                <a:cs typeface="Arial" pitchFamily="34" charset="-120"/>
              </a:rPr>
              <a:t>The same cost in the app. 86 RELIANCE shares bought and sold at ₹1,158.00 lose ₹181.89, or 0.18%.</a:t>
            </a:r>
            <a:endParaRPr lang="en-US" sz="950" dirty="0"/>
          </a:p>
        </p:txBody>
      </p:sp>
      <p:sp>
        <p:nvSpPr>
          <p:cNvPr id="5" name="Text 2"/>
          <p:cNvSpPr txBox="1"/>
          <p:nvPr/>
        </p:nvSpPr>
        <p:spPr>
          <a:xfrm>
            <a:off x="8183880" y="868680"/>
            <a:ext cx="3184855" cy="1280160"/>
          </a:xfrm>
          <a:prstGeom prst="rect">
            <a:avLst/>
          </a:prstGeom>
          <a:noFill/>
          <a:ln/>
        </p:spPr>
        <p:txBody>
          <a:bodyPr wrap="square" lIns="0" tIns="0" rIns="0" bIns="0" rtlCol="0" anchor="t"/>
          <a:lstStyle/>
          <a:p>
            <a:pPr algn="l" indent="0" marL="0">
              <a:lnSpc>
                <a:spcPct val="95000"/>
              </a:lnSpc>
              <a:buNone/>
            </a:pPr>
            <a:r>
              <a:rPr lang="en-US" sz="2600" spc="-52" kern="0" dirty="0">
                <a:solidFill>
                  <a:srgbClr val="111111"/>
                </a:solidFill>
                <a:latin typeface="Georgia" pitchFamily="34" charset="0"/>
                <a:ea typeface="Georgia" pitchFamily="34" charset="-122"/>
                <a:cs typeface="Georgia" pitchFamily="34" charset="-120"/>
              </a:rPr>
              <a:t>Every order carries its costs.</a:t>
            </a:r>
            <a:endParaRPr lang="en-US" sz="2600" dirty="0"/>
          </a:p>
        </p:txBody>
      </p:sp>
      <p:sp>
        <p:nvSpPr>
          <p:cNvPr id="6" name="Text 3"/>
          <p:cNvSpPr txBox="1"/>
          <p:nvPr/>
        </p:nvSpPr>
        <p:spPr>
          <a:xfrm>
            <a:off x="8183880" y="2212848"/>
            <a:ext cx="3184855"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WHERE ₹182.44 GOES, ON ₹1,00,000</a:t>
            </a:r>
            <a:endParaRPr lang="en-US" sz="850" dirty="0"/>
          </a:p>
        </p:txBody>
      </p:sp>
      <p:sp>
        <p:nvSpPr>
          <p:cNvPr id="7" name="Text 4"/>
          <p:cNvSpPr txBox="1"/>
          <p:nvPr/>
        </p:nvSpPr>
        <p:spPr>
          <a:xfrm>
            <a:off x="8183880" y="2542032"/>
            <a:ext cx="1051560" cy="219456"/>
          </a:xfrm>
          <a:prstGeom prst="rect">
            <a:avLst/>
          </a:prstGeom>
          <a:noFill/>
          <a:ln/>
        </p:spPr>
        <p:txBody>
          <a:bodyPr wrap="square" lIns="0" tIns="0" rIns="0" bIns="0" rtlCol="0" anchor="t"/>
          <a:lstStyle/>
          <a:p>
            <a:pPr algn="l" indent="0" marL="0">
              <a:buNone/>
            </a:pPr>
            <a:r>
              <a:rPr lang="en-US" sz="1100" dirty="0">
                <a:solidFill>
                  <a:srgbClr val="2F3437"/>
                </a:solidFill>
                <a:latin typeface="Arial" pitchFamily="34" charset="0"/>
                <a:ea typeface="Arial" pitchFamily="34" charset="-122"/>
                <a:cs typeface="Arial" pitchFamily="34" charset="-120"/>
              </a:rPr>
              <a:t>Slippage</a:t>
            </a:r>
            <a:endParaRPr lang="en-US" sz="1100" dirty="0"/>
          </a:p>
        </p:txBody>
      </p:sp>
      <p:sp>
        <p:nvSpPr>
          <p:cNvPr id="8" name="Shape 5"/>
          <p:cNvSpPr/>
          <p:nvPr/>
        </p:nvSpPr>
        <p:spPr>
          <a:xfrm>
            <a:off x="9281160" y="2606040"/>
            <a:ext cx="1371600" cy="82296"/>
          </a:xfrm>
          <a:prstGeom prst="rect">
            <a:avLst/>
          </a:prstGeom>
          <a:solidFill>
            <a:srgbClr val="111111"/>
          </a:solidFill>
          <a:ln w="12700">
            <a:solidFill>
              <a:srgbClr val="111111"/>
            </a:solidFill>
            <a:prstDash val="solid"/>
          </a:ln>
        </p:spPr>
      </p:sp>
      <p:sp>
        <p:nvSpPr>
          <p:cNvPr id="9" name="Text 6"/>
          <p:cNvSpPr txBox="1"/>
          <p:nvPr/>
        </p:nvSpPr>
        <p:spPr>
          <a:xfrm>
            <a:off x="10637215" y="2542032"/>
            <a:ext cx="731520" cy="219456"/>
          </a:xfrm>
          <a:prstGeom prst="rect">
            <a:avLst/>
          </a:prstGeom>
          <a:noFill/>
          <a:ln/>
        </p:spPr>
        <p:txBody>
          <a:bodyPr wrap="square" lIns="0" tIns="0" rIns="0" bIns="0" rtlCol="0" anchor="t"/>
          <a:lstStyle/>
          <a:p>
            <a:pPr algn="r" indent="0" marL="0">
              <a:buNone/>
            </a:pPr>
            <a:r>
              <a:rPr lang="en-US" sz="1100" dirty="0">
                <a:solidFill>
                  <a:srgbClr val="111111"/>
                </a:solidFill>
                <a:latin typeface="Arial" pitchFamily="34" charset="0"/>
                <a:ea typeface="Arial" pitchFamily="34" charset="-122"/>
                <a:cs typeface="Arial" pitchFamily="34" charset="-120"/>
              </a:rPr>
              <a:t>100.00</a:t>
            </a:r>
            <a:endParaRPr lang="en-US" sz="1100" dirty="0"/>
          </a:p>
        </p:txBody>
      </p:sp>
      <p:sp>
        <p:nvSpPr>
          <p:cNvPr id="10" name="Text 7"/>
          <p:cNvSpPr txBox="1"/>
          <p:nvPr/>
        </p:nvSpPr>
        <p:spPr>
          <a:xfrm>
            <a:off x="8183880" y="2834640"/>
            <a:ext cx="1051560" cy="219456"/>
          </a:xfrm>
          <a:prstGeom prst="rect">
            <a:avLst/>
          </a:prstGeom>
          <a:noFill/>
          <a:ln/>
        </p:spPr>
        <p:txBody>
          <a:bodyPr wrap="square" lIns="0" tIns="0" rIns="0" bIns="0" rtlCol="0" anchor="t"/>
          <a:lstStyle/>
          <a:p>
            <a:pPr algn="l" indent="0" marL="0">
              <a:buNone/>
            </a:pPr>
            <a:r>
              <a:rPr lang="en-US" sz="1100" dirty="0">
                <a:solidFill>
                  <a:srgbClr val="2F3437"/>
                </a:solidFill>
                <a:latin typeface="Arial" pitchFamily="34" charset="0"/>
                <a:ea typeface="Arial" pitchFamily="34" charset="-122"/>
                <a:cs typeface="Arial" pitchFamily="34" charset="-120"/>
              </a:rPr>
              <a:t>Brokerage</a:t>
            </a:r>
            <a:endParaRPr lang="en-US" sz="1100" dirty="0"/>
          </a:p>
        </p:txBody>
      </p:sp>
      <p:sp>
        <p:nvSpPr>
          <p:cNvPr id="11" name="Shape 8"/>
          <p:cNvSpPr/>
          <p:nvPr/>
        </p:nvSpPr>
        <p:spPr>
          <a:xfrm>
            <a:off x="9281160" y="2898648"/>
            <a:ext cx="548640" cy="82296"/>
          </a:xfrm>
          <a:prstGeom prst="rect">
            <a:avLst/>
          </a:prstGeom>
          <a:solidFill>
            <a:srgbClr val="787774"/>
          </a:solidFill>
          <a:ln w="12700">
            <a:solidFill>
              <a:srgbClr val="787774"/>
            </a:solidFill>
            <a:prstDash val="solid"/>
          </a:ln>
        </p:spPr>
      </p:sp>
      <p:sp>
        <p:nvSpPr>
          <p:cNvPr id="12" name="Text 9"/>
          <p:cNvSpPr txBox="1"/>
          <p:nvPr/>
        </p:nvSpPr>
        <p:spPr>
          <a:xfrm>
            <a:off x="10637215" y="2834640"/>
            <a:ext cx="731520" cy="219456"/>
          </a:xfrm>
          <a:prstGeom prst="rect">
            <a:avLst/>
          </a:prstGeom>
          <a:noFill/>
          <a:ln/>
        </p:spPr>
        <p:txBody>
          <a:bodyPr wrap="square" lIns="0" tIns="0" rIns="0" bIns="0" rtlCol="0" anchor="t"/>
          <a:lstStyle/>
          <a:p>
            <a:pPr algn="r" indent="0" marL="0">
              <a:buNone/>
            </a:pPr>
            <a:r>
              <a:rPr lang="en-US" sz="1100" dirty="0">
                <a:solidFill>
                  <a:srgbClr val="111111"/>
                </a:solidFill>
                <a:latin typeface="Arial" pitchFamily="34" charset="0"/>
                <a:ea typeface="Arial" pitchFamily="34" charset="-122"/>
                <a:cs typeface="Arial" pitchFamily="34" charset="-120"/>
              </a:rPr>
              <a:t>40.00</a:t>
            </a:r>
            <a:endParaRPr lang="en-US" sz="1100" dirty="0"/>
          </a:p>
        </p:txBody>
      </p:sp>
      <p:sp>
        <p:nvSpPr>
          <p:cNvPr id="13" name="Text 10"/>
          <p:cNvSpPr txBox="1"/>
          <p:nvPr/>
        </p:nvSpPr>
        <p:spPr>
          <a:xfrm>
            <a:off x="8183880" y="3127248"/>
            <a:ext cx="1051560" cy="219456"/>
          </a:xfrm>
          <a:prstGeom prst="rect">
            <a:avLst/>
          </a:prstGeom>
          <a:noFill/>
          <a:ln/>
        </p:spPr>
        <p:txBody>
          <a:bodyPr wrap="square" lIns="0" tIns="0" rIns="0" bIns="0" rtlCol="0" anchor="t"/>
          <a:lstStyle/>
          <a:p>
            <a:pPr algn="l" indent="0" marL="0">
              <a:buNone/>
            </a:pPr>
            <a:r>
              <a:rPr lang="en-US" sz="1100" dirty="0">
                <a:solidFill>
                  <a:srgbClr val="2F3437"/>
                </a:solidFill>
                <a:latin typeface="Arial" pitchFamily="34" charset="0"/>
                <a:ea typeface="Arial" pitchFamily="34" charset="-122"/>
                <a:cs typeface="Arial" pitchFamily="34" charset="-120"/>
              </a:rPr>
              <a:t>STT</a:t>
            </a:r>
            <a:endParaRPr lang="en-US" sz="1100" dirty="0"/>
          </a:p>
        </p:txBody>
      </p:sp>
      <p:sp>
        <p:nvSpPr>
          <p:cNvPr id="14" name="Shape 11"/>
          <p:cNvSpPr/>
          <p:nvPr/>
        </p:nvSpPr>
        <p:spPr>
          <a:xfrm>
            <a:off x="9281160" y="3191256"/>
            <a:ext cx="342900" cy="82296"/>
          </a:xfrm>
          <a:prstGeom prst="rect">
            <a:avLst/>
          </a:prstGeom>
          <a:solidFill>
            <a:srgbClr val="787774"/>
          </a:solidFill>
          <a:ln w="12700">
            <a:solidFill>
              <a:srgbClr val="787774"/>
            </a:solidFill>
            <a:prstDash val="solid"/>
          </a:ln>
        </p:spPr>
      </p:sp>
      <p:sp>
        <p:nvSpPr>
          <p:cNvPr id="15" name="Text 12"/>
          <p:cNvSpPr txBox="1"/>
          <p:nvPr/>
        </p:nvSpPr>
        <p:spPr>
          <a:xfrm>
            <a:off x="10637215" y="3127248"/>
            <a:ext cx="731520" cy="219456"/>
          </a:xfrm>
          <a:prstGeom prst="rect">
            <a:avLst/>
          </a:prstGeom>
          <a:noFill/>
          <a:ln/>
        </p:spPr>
        <p:txBody>
          <a:bodyPr wrap="square" lIns="0" tIns="0" rIns="0" bIns="0" rtlCol="0" anchor="t"/>
          <a:lstStyle/>
          <a:p>
            <a:pPr algn="r" indent="0" marL="0">
              <a:buNone/>
            </a:pPr>
            <a:r>
              <a:rPr lang="en-US" sz="1100" dirty="0">
                <a:solidFill>
                  <a:srgbClr val="111111"/>
                </a:solidFill>
                <a:latin typeface="Arial" pitchFamily="34" charset="0"/>
                <a:ea typeface="Arial" pitchFamily="34" charset="-122"/>
                <a:cs typeface="Arial" pitchFamily="34" charset="-120"/>
              </a:rPr>
              <a:t>25.00</a:t>
            </a:r>
            <a:endParaRPr lang="en-US" sz="1100" dirty="0"/>
          </a:p>
        </p:txBody>
      </p:sp>
      <p:sp>
        <p:nvSpPr>
          <p:cNvPr id="16" name="Text 13"/>
          <p:cNvSpPr txBox="1"/>
          <p:nvPr/>
        </p:nvSpPr>
        <p:spPr>
          <a:xfrm>
            <a:off x="8183880" y="3419856"/>
            <a:ext cx="1051560" cy="219456"/>
          </a:xfrm>
          <a:prstGeom prst="rect">
            <a:avLst/>
          </a:prstGeom>
          <a:noFill/>
          <a:ln/>
        </p:spPr>
        <p:txBody>
          <a:bodyPr wrap="square" lIns="0" tIns="0" rIns="0" bIns="0" rtlCol="0" anchor="t"/>
          <a:lstStyle/>
          <a:p>
            <a:pPr algn="l" indent="0" marL="0">
              <a:buNone/>
            </a:pPr>
            <a:r>
              <a:rPr lang="en-US" sz="1100" dirty="0">
                <a:solidFill>
                  <a:srgbClr val="2F3437"/>
                </a:solidFill>
                <a:latin typeface="Arial" pitchFamily="34" charset="0"/>
                <a:ea typeface="Arial" pitchFamily="34" charset="-122"/>
                <a:cs typeface="Arial" pitchFamily="34" charset="-120"/>
              </a:rPr>
              <a:t>GST</a:t>
            </a:r>
            <a:endParaRPr lang="en-US" sz="1100" dirty="0"/>
          </a:p>
        </p:txBody>
      </p:sp>
      <p:sp>
        <p:nvSpPr>
          <p:cNvPr id="17" name="Shape 14"/>
          <p:cNvSpPr/>
          <p:nvPr/>
        </p:nvSpPr>
        <p:spPr>
          <a:xfrm>
            <a:off x="9281160" y="3483864"/>
            <a:ext cx="113843" cy="82296"/>
          </a:xfrm>
          <a:prstGeom prst="rect">
            <a:avLst/>
          </a:prstGeom>
          <a:solidFill>
            <a:srgbClr val="787774"/>
          </a:solidFill>
          <a:ln w="12700">
            <a:solidFill>
              <a:srgbClr val="787774"/>
            </a:solidFill>
            <a:prstDash val="solid"/>
          </a:ln>
        </p:spPr>
      </p:sp>
      <p:sp>
        <p:nvSpPr>
          <p:cNvPr id="18" name="Text 15"/>
          <p:cNvSpPr txBox="1"/>
          <p:nvPr/>
        </p:nvSpPr>
        <p:spPr>
          <a:xfrm>
            <a:off x="10637215" y="3419856"/>
            <a:ext cx="731520" cy="219456"/>
          </a:xfrm>
          <a:prstGeom prst="rect">
            <a:avLst/>
          </a:prstGeom>
          <a:noFill/>
          <a:ln/>
        </p:spPr>
        <p:txBody>
          <a:bodyPr wrap="square" lIns="0" tIns="0" rIns="0" bIns="0" rtlCol="0" anchor="t"/>
          <a:lstStyle/>
          <a:p>
            <a:pPr algn="r" indent="0" marL="0">
              <a:buNone/>
            </a:pPr>
            <a:r>
              <a:rPr lang="en-US" sz="1100" dirty="0">
                <a:solidFill>
                  <a:srgbClr val="111111"/>
                </a:solidFill>
                <a:latin typeface="Arial" pitchFamily="34" charset="0"/>
                <a:ea typeface="Arial" pitchFamily="34" charset="-122"/>
                <a:cs typeface="Arial" pitchFamily="34" charset="-120"/>
              </a:rPr>
              <a:t>8.30</a:t>
            </a:r>
            <a:endParaRPr lang="en-US" sz="1100" dirty="0"/>
          </a:p>
        </p:txBody>
      </p:sp>
      <p:sp>
        <p:nvSpPr>
          <p:cNvPr id="19" name="Text 16"/>
          <p:cNvSpPr txBox="1"/>
          <p:nvPr/>
        </p:nvSpPr>
        <p:spPr>
          <a:xfrm>
            <a:off x="8183880" y="3712464"/>
            <a:ext cx="1051560" cy="219456"/>
          </a:xfrm>
          <a:prstGeom prst="rect">
            <a:avLst/>
          </a:prstGeom>
          <a:noFill/>
          <a:ln/>
        </p:spPr>
        <p:txBody>
          <a:bodyPr wrap="square" lIns="0" tIns="0" rIns="0" bIns="0" rtlCol="0" anchor="t"/>
          <a:lstStyle/>
          <a:p>
            <a:pPr algn="l" indent="0" marL="0">
              <a:buNone/>
            </a:pPr>
            <a:r>
              <a:rPr lang="en-US" sz="1100" dirty="0">
                <a:solidFill>
                  <a:srgbClr val="2F3437"/>
                </a:solidFill>
                <a:latin typeface="Arial" pitchFamily="34" charset="0"/>
                <a:ea typeface="Arial" pitchFamily="34" charset="-122"/>
                <a:cs typeface="Arial" pitchFamily="34" charset="-120"/>
              </a:rPr>
              <a:t>Exchange fee</a:t>
            </a:r>
            <a:endParaRPr lang="en-US" sz="1100" dirty="0"/>
          </a:p>
        </p:txBody>
      </p:sp>
      <p:sp>
        <p:nvSpPr>
          <p:cNvPr id="20" name="Shape 17"/>
          <p:cNvSpPr/>
          <p:nvPr/>
        </p:nvSpPr>
        <p:spPr>
          <a:xfrm>
            <a:off x="9281160" y="3776472"/>
            <a:ext cx="81473" cy="82296"/>
          </a:xfrm>
          <a:prstGeom prst="rect">
            <a:avLst/>
          </a:prstGeom>
          <a:solidFill>
            <a:srgbClr val="787774"/>
          </a:solidFill>
          <a:ln w="12700">
            <a:solidFill>
              <a:srgbClr val="787774"/>
            </a:solidFill>
            <a:prstDash val="solid"/>
          </a:ln>
        </p:spPr>
      </p:sp>
      <p:sp>
        <p:nvSpPr>
          <p:cNvPr id="21" name="Text 18"/>
          <p:cNvSpPr txBox="1"/>
          <p:nvPr/>
        </p:nvSpPr>
        <p:spPr>
          <a:xfrm>
            <a:off x="10637215" y="3712464"/>
            <a:ext cx="731520" cy="219456"/>
          </a:xfrm>
          <a:prstGeom prst="rect">
            <a:avLst/>
          </a:prstGeom>
          <a:noFill/>
          <a:ln/>
        </p:spPr>
        <p:txBody>
          <a:bodyPr wrap="square" lIns="0" tIns="0" rIns="0" bIns="0" rtlCol="0" anchor="t"/>
          <a:lstStyle/>
          <a:p>
            <a:pPr algn="r" indent="0" marL="0">
              <a:buNone/>
            </a:pPr>
            <a:r>
              <a:rPr lang="en-US" sz="1100" dirty="0">
                <a:solidFill>
                  <a:srgbClr val="111111"/>
                </a:solidFill>
                <a:latin typeface="Arial" pitchFamily="34" charset="0"/>
                <a:ea typeface="Arial" pitchFamily="34" charset="-122"/>
                <a:cs typeface="Arial" pitchFamily="34" charset="-120"/>
              </a:rPr>
              <a:t>5.94</a:t>
            </a:r>
            <a:endParaRPr lang="en-US" sz="1100" dirty="0"/>
          </a:p>
        </p:txBody>
      </p:sp>
      <p:sp>
        <p:nvSpPr>
          <p:cNvPr id="22" name="Text 19"/>
          <p:cNvSpPr txBox="1"/>
          <p:nvPr/>
        </p:nvSpPr>
        <p:spPr>
          <a:xfrm>
            <a:off x="8183880" y="4005072"/>
            <a:ext cx="1051560" cy="219456"/>
          </a:xfrm>
          <a:prstGeom prst="rect">
            <a:avLst/>
          </a:prstGeom>
          <a:noFill/>
          <a:ln/>
        </p:spPr>
        <p:txBody>
          <a:bodyPr wrap="square" lIns="0" tIns="0" rIns="0" bIns="0" rtlCol="0" anchor="t"/>
          <a:lstStyle/>
          <a:p>
            <a:pPr algn="l" indent="0" marL="0">
              <a:buNone/>
            </a:pPr>
            <a:r>
              <a:rPr lang="en-US" sz="1100" dirty="0">
                <a:solidFill>
                  <a:srgbClr val="2F3437"/>
                </a:solidFill>
                <a:latin typeface="Arial" pitchFamily="34" charset="0"/>
                <a:ea typeface="Arial" pitchFamily="34" charset="-122"/>
                <a:cs typeface="Arial" pitchFamily="34" charset="-120"/>
              </a:rPr>
              <a:t>Stamp duty</a:t>
            </a:r>
            <a:endParaRPr lang="en-US" sz="1100" dirty="0"/>
          </a:p>
        </p:txBody>
      </p:sp>
      <p:sp>
        <p:nvSpPr>
          <p:cNvPr id="23" name="Shape 20"/>
          <p:cNvSpPr/>
          <p:nvPr/>
        </p:nvSpPr>
        <p:spPr>
          <a:xfrm>
            <a:off x="9281160" y="4069080"/>
            <a:ext cx="41148" cy="82296"/>
          </a:xfrm>
          <a:prstGeom prst="rect">
            <a:avLst/>
          </a:prstGeom>
          <a:solidFill>
            <a:srgbClr val="787774"/>
          </a:solidFill>
          <a:ln w="12700">
            <a:solidFill>
              <a:srgbClr val="787774"/>
            </a:solidFill>
            <a:prstDash val="solid"/>
          </a:ln>
        </p:spPr>
      </p:sp>
      <p:sp>
        <p:nvSpPr>
          <p:cNvPr id="24" name="Text 21"/>
          <p:cNvSpPr txBox="1"/>
          <p:nvPr/>
        </p:nvSpPr>
        <p:spPr>
          <a:xfrm>
            <a:off x="10637215" y="4005072"/>
            <a:ext cx="731520" cy="219456"/>
          </a:xfrm>
          <a:prstGeom prst="rect">
            <a:avLst/>
          </a:prstGeom>
          <a:noFill/>
          <a:ln/>
        </p:spPr>
        <p:txBody>
          <a:bodyPr wrap="square" lIns="0" tIns="0" rIns="0" bIns="0" rtlCol="0" anchor="t"/>
          <a:lstStyle/>
          <a:p>
            <a:pPr algn="r" indent="0" marL="0">
              <a:buNone/>
            </a:pPr>
            <a:r>
              <a:rPr lang="en-US" sz="1100" dirty="0">
                <a:solidFill>
                  <a:srgbClr val="111111"/>
                </a:solidFill>
                <a:latin typeface="Arial" pitchFamily="34" charset="0"/>
                <a:ea typeface="Arial" pitchFamily="34" charset="-122"/>
                <a:cs typeface="Arial" pitchFamily="34" charset="-120"/>
              </a:rPr>
              <a:t>3.00</a:t>
            </a:r>
            <a:endParaRPr lang="en-US" sz="1100" dirty="0"/>
          </a:p>
        </p:txBody>
      </p:sp>
      <p:sp>
        <p:nvSpPr>
          <p:cNvPr id="25" name="Text 22"/>
          <p:cNvSpPr txBox="1"/>
          <p:nvPr/>
        </p:nvSpPr>
        <p:spPr>
          <a:xfrm>
            <a:off x="8183880" y="4297680"/>
            <a:ext cx="1051560" cy="219456"/>
          </a:xfrm>
          <a:prstGeom prst="rect">
            <a:avLst/>
          </a:prstGeom>
          <a:noFill/>
          <a:ln/>
        </p:spPr>
        <p:txBody>
          <a:bodyPr wrap="square" lIns="0" tIns="0" rIns="0" bIns="0" rtlCol="0" anchor="t"/>
          <a:lstStyle/>
          <a:p>
            <a:pPr algn="l" indent="0" marL="0">
              <a:buNone/>
            </a:pPr>
            <a:r>
              <a:rPr lang="en-US" sz="1100" dirty="0">
                <a:solidFill>
                  <a:srgbClr val="2F3437"/>
                </a:solidFill>
                <a:latin typeface="Arial" pitchFamily="34" charset="0"/>
                <a:ea typeface="Arial" pitchFamily="34" charset="-122"/>
                <a:cs typeface="Arial" pitchFamily="34" charset="-120"/>
              </a:rPr>
              <a:t>SEBI fee</a:t>
            </a:r>
            <a:endParaRPr lang="en-US" sz="1100" dirty="0"/>
          </a:p>
        </p:txBody>
      </p:sp>
      <p:sp>
        <p:nvSpPr>
          <p:cNvPr id="26" name="Shape 23"/>
          <p:cNvSpPr/>
          <p:nvPr/>
        </p:nvSpPr>
        <p:spPr>
          <a:xfrm>
            <a:off x="9281160" y="4361688"/>
            <a:ext cx="27432" cy="82296"/>
          </a:xfrm>
          <a:prstGeom prst="rect">
            <a:avLst/>
          </a:prstGeom>
          <a:solidFill>
            <a:srgbClr val="787774"/>
          </a:solidFill>
          <a:ln w="12700">
            <a:solidFill>
              <a:srgbClr val="787774"/>
            </a:solidFill>
            <a:prstDash val="solid"/>
          </a:ln>
        </p:spPr>
      </p:sp>
      <p:sp>
        <p:nvSpPr>
          <p:cNvPr id="27" name="Text 24"/>
          <p:cNvSpPr txBox="1"/>
          <p:nvPr/>
        </p:nvSpPr>
        <p:spPr>
          <a:xfrm>
            <a:off x="10637215" y="4297680"/>
            <a:ext cx="731520" cy="219456"/>
          </a:xfrm>
          <a:prstGeom prst="rect">
            <a:avLst/>
          </a:prstGeom>
          <a:noFill/>
          <a:ln/>
        </p:spPr>
        <p:txBody>
          <a:bodyPr wrap="square" lIns="0" tIns="0" rIns="0" bIns="0" rtlCol="0" anchor="t"/>
          <a:lstStyle/>
          <a:p>
            <a:pPr algn="r" indent="0" marL="0">
              <a:buNone/>
            </a:pPr>
            <a:r>
              <a:rPr lang="en-US" sz="1100" dirty="0">
                <a:solidFill>
                  <a:srgbClr val="111111"/>
                </a:solidFill>
                <a:latin typeface="Arial" pitchFamily="34" charset="0"/>
                <a:ea typeface="Arial" pitchFamily="34" charset="-122"/>
                <a:cs typeface="Arial" pitchFamily="34" charset="-120"/>
              </a:rPr>
              <a:t>0.20</a:t>
            </a:r>
            <a:endParaRPr lang="en-US" sz="1100" dirty="0"/>
          </a:p>
        </p:txBody>
      </p:sp>
      <p:sp>
        <p:nvSpPr>
          <p:cNvPr id="28" name="Shape 25"/>
          <p:cNvSpPr/>
          <p:nvPr/>
        </p:nvSpPr>
        <p:spPr>
          <a:xfrm>
            <a:off x="8183880" y="4663440"/>
            <a:ext cx="3184855" cy="0"/>
          </a:xfrm>
          <a:prstGeom prst="line">
            <a:avLst/>
          </a:prstGeom>
          <a:noFill/>
          <a:ln w="9525">
            <a:solidFill>
              <a:srgbClr val="D9D7D0"/>
            </a:solidFill>
            <a:prstDash val="solid"/>
          </a:ln>
        </p:spPr>
      </p:sp>
      <p:sp>
        <p:nvSpPr>
          <p:cNvPr id="29" name="Text 26"/>
          <p:cNvSpPr txBox="1"/>
          <p:nvPr/>
        </p:nvSpPr>
        <p:spPr>
          <a:xfrm>
            <a:off x="8183880" y="4754880"/>
            <a:ext cx="1828800" cy="228600"/>
          </a:xfrm>
          <a:prstGeom prst="rect">
            <a:avLst/>
          </a:prstGeom>
          <a:noFill/>
          <a:ln/>
        </p:spPr>
        <p:txBody>
          <a:bodyPr wrap="square" lIns="0" tIns="0" rIns="0" bIns="0" rtlCol="0" anchor="t"/>
          <a:lstStyle/>
          <a:p>
            <a:pPr algn="l" indent="0" marL="0">
              <a:buNone/>
            </a:pPr>
            <a:r>
              <a:rPr lang="en-US" sz="1150" b="1" dirty="0">
                <a:solidFill>
                  <a:srgbClr val="111111"/>
                </a:solidFill>
                <a:latin typeface="Arial" pitchFamily="34" charset="0"/>
                <a:ea typeface="Arial" pitchFamily="34" charset="-122"/>
                <a:cs typeface="Arial" pitchFamily="34" charset="-120"/>
              </a:rPr>
              <a:t>Round trip</a:t>
            </a:r>
            <a:endParaRPr lang="en-US" sz="1150" dirty="0"/>
          </a:p>
        </p:txBody>
      </p:sp>
      <p:sp>
        <p:nvSpPr>
          <p:cNvPr id="30" name="Text 27"/>
          <p:cNvSpPr txBox="1"/>
          <p:nvPr/>
        </p:nvSpPr>
        <p:spPr>
          <a:xfrm>
            <a:off x="10271455" y="4754880"/>
            <a:ext cx="1097280" cy="228600"/>
          </a:xfrm>
          <a:prstGeom prst="rect">
            <a:avLst/>
          </a:prstGeom>
          <a:noFill/>
          <a:ln/>
        </p:spPr>
        <p:txBody>
          <a:bodyPr wrap="square" lIns="0" tIns="0" rIns="0" bIns="0" rtlCol="0" anchor="t"/>
          <a:lstStyle/>
          <a:p>
            <a:pPr algn="r" indent="0" marL="0">
              <a:buNone/>
            </a:pPr>
            <a:r>
              <a:rPr lang="en-US" sz="1150" b="1" dirty="0">
                <a:solidFill>
                  <a:srgbClr val="111111"/>
                </a:solidFill>
                <a:latin typeface="Arial" pitchFamily="34" charset="0"/>
                <a:ea typeface="Arial" pitchFamily="34" charset="-122"/>
                <a:cs typeface="Arial" pitchFamily="34" charset="-120"/>
              </a:rPr>
              <a:t>₹182.44</a:t>
            </a:r>
            <a:endParaRPr lang="en-US" sz="1150" dirty="0"/>
          </a:p>
        </p:txBody>
      </p:sp>
      <p:sp>
        <p:nvSpPr>
          <p:cNvPr id="31" name="Shape 28"/>
          <p:cNvSpPr/>
          <p:nvPr/>
        </p:nvSpPr>
        <p:spPr>
          <a:xfrm>
            <a:off x="8183880" y="5230368"/>
            <a:ext cx="1600200" cy="237744"/>
          </a:xfrm>
          <a:prstGeom prst="roundRect">
            <a:avLst>
              <a:gd name="adj" fmla="val 50000"/>
            </a:avLst>
          </a:prstGeom>
          <a:solidFill>
            <a:srgbClr val="FBF3DB"/>
          </a:solidFill>
          <a:ln w="6350">
            <a:solidFill>
              <a:srgbClr val="FBF3DB"/>
            </a:solidFill>
            <a:prstDash val="solid"/>
          </a:ln>
        </p:spPr>
      </p:sp>
      <p:sp>
        <p:nvSpPr>
          <p:cNvPr id="32" name="Text 29"/>
          <p:cNvSpPr txBox="1"/>
          <p:nvPr/>
        </p:nvSpPr>
        <p:spPr>
          <a:xfrm>
            <a:off x="8183880" y="5230368"/>
            <a:ext cx="1600200" cy="237744"/>
          </a:xfrm>
          <a:prstGeom prst="rect">
            <a:avLst/>
          </a:prstGeom>
          <a:noFill/>
          <a:ln/>
        </p:spPr>
        <p:txBody>
          <a:bodyPr wrap="square" lIns="0" tIns="0" rIns="0" bIns="0" rtlCol="0" anchor="ctr"/>
          <a:lstStyle/>
          <a:p>
            <a:pPr algn="ctr" indent="0" marL="0">
              <a:buNone/>
            </a:pPr>
            <a:r>
              <a:rPr lang="en-US" sz="800" b="1" spc="120" kern="0" dirty="0">
                <a:solidFill>
                  <a:srgbClr val="956400"/>
                </a:solidFill>
                <a:latin typeface="Arial" pitchFamily="34" charset="0"/>
                <a:ea typeface="Arial" pitchFamily="34" charset="-122"/>
                <a:cs typeface="Arial" pitchFamily="34" charset="-120"/>
              </a:rPr>
              <a:t>FEE RATES UNVERIFIED</a:t>
            </a:r>
            <a:endParaRPr lang="en-US" sz="800" dirty="0"/>
          </a:p>
        </p:txBody>
      </p:sp>
      <p:sp>
        <p:nvSpPr>
          <p:cNvPr id="33" name="Text 30"/>
          <p:cNvSpPr txBox="1"/>
          <p:nvPr/>
        </p:nvSpPr>
        <p:spPr>
          <a:xfrm>
            <a:off x="8183880" y="5577840"/>
            <a:ext cx="3184855" cy="548640"/>
          </a:xfrm>
          <a:prstGeom prst="rect">
            <a:avLst/>
          </a:prstGeom>
          <a:noFill/>
          <a:ln/>
        </p:spPr>
        <p:txBody>
          <a:bodyPr wrap="square" lIns="0" tIns="0" rIns="0" bIns="0" rtlCol="0" anchor="t"/>
          <a:lstStyle/>
          <a:p>
            <a:pPr algn="l" indent="0" marL="0">
              <a:lnSpc>
                <a:spcPct val="115000"/>
              </a:lnSpc>
              <a:buNone/>
            </a:pPr>
            <a:r>
              <a:rPr lang="en-US" sz="1000" dirty="0">
                <a:solidFill>
                  <a:srgbClr val="787774"/>
                </a:solidFill>
                <a:latin typeface="Arial" pitchFamily="34" charset="0"/>
                <a:ea typeface="Arial" pitchFamily="34" charset="-122"/>
                <a:cs typeface="Arial" pitchFamily="34" charset="-120"/>
              </a:rPr>
              <a:t>Rates mirror published broker schedules and are not yet checked against NSE circulars.</a:t>
            </a:r>
            <a:endParaRPr lang="en-US" sz="1000" dirty="0"/>
          </a:p>
        </p:txBody>
      </p:sp>
      <p:sp>
        <p:nvSpPr>
          <p:cNvPr id="34" name="Text 31"/>
          <p:cNvSpPr txBox="1"/>
          <p:nvPr/>
        </p:nvSpPr>
        <p:spPr>
          <a:xfrm>
            <a:off x="822960" y="6400800"/>
            <a:ext cx="2743200" cy="201168"/>
          </a:xfrm>
          <a:prstGeom prst="rect">
            <a:avLst/>
          </a:prstGeom>
          <a:noFill/>
          <a:ln/>
        </p:spPr>
        <p:txBody>
          <a:bodyPr wrap="square" lIns="0" tIns="0" rIns="0" bIns="0" rtlCol="0" anchor="t"/>
          <a:lstStyle/>
          <a:p>
            <a:pPr algn="l" indent="0" marL="0">
              <a:buNone/>
            </a:pPr>
            <a:r>
              <a:rPr lang="en-US" sz="1000" i="1" dirty="0">
                <a:solidFill>
                  <a:srgbClr val="787774"/>
                </a:solidFill>
                <a:latin typeface="Georgia" pitchFamily="34" charset="0"/>
                <a:ea typeface="Georgia" pitchFamily="34" charset="-122"/>
                <a:cs typeface="Georgia" pitchFamily="34" charset="-120"/>
              </a:rPr>
              <a:t>MarketLens</a:t>
            </a:r>
            <a:endParaRPr lang="en-US" sz="1000" dirty="0"/>
          </a:p>
        </p:txBody>
      </p:sp>
      <p:sp>
        <p:nvSpPr>
          <p:cNvPr id="35" name="Text 32"/>
          <p:cNvSpPr txBox="1"/>
          <p:nvPr/>
        </p:nvSpPr>
        <p:spPr>
          <a:xfrm>
            <a:off x="9997135" y="6400800"/>
            <a:ext cx="1371600" cy="201168"/>
          </a:xfrm>
          <a:prstGeom prst="rect">
            <a:avLst/>
          </a:prstGeom>
          <a:noFill/>
          <a:ln/>
        </p:spPr>
        <p:txBody>
          <a:bodyPr wrap="square" lIns="0" tIns="0" rIns="0" bIns="0" rtlCol="0" anchor="t"/>
          <a:lstStyle/>
          <a:p>
            <a:pPr algn="r" indent="0" marL="0">
              <a:buNone/>
            </a:pPr>
            <a:r>
              <a:rPr lang="en-US" sz="900" spc="100" kern="0" dirty="0">
                <a:solidFill>
                  <a:srgbClr val="787774"/>
                </a:solidFill>
                <a:latin typeface="Arial" pitchFamily="34" charset="0"/>
                <a:ea typeface="Arial" pitchFamily="34" charset="-122"/>
                <a:cs typeface="Arial" pitchFamily="34" charset="-120"/>
              </a:rPr>
              <a:t>06 / 10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02920"/>
            <a:ext cx="5486400" cy="201168"/>
          </a:xfrm>
          <a:prstGeom prst="rect">
            <a:avLst/>
          </a:prstGeom>
          <a:noFill/>
          <a:ln/>
        </p:spPr>
        <p:txBody>
          <a:bodyPr wrap="square" lIns="0" tIns="0" rIns="0" bIns="0" rtlCol="0" anchor="t"/>
          <a:lstStyle/>
          <a:p>
            <a:pPr algn="l" indent="0" marL="0">
              <a:buNone/>
            </a:pPr>
            <a:r>
              <a:rPr lang="en-US" sz="950" b="1" spc="180" kern="0" dirty="0">
                <a:solidFill>
                  <a:srgbClr val="111111"/>
                </a:solidFill>
                <a:latin typeface="Arial" pitchFamily="34" charset="0"/>
                <a:ea typeface="Arial" pitchFamily="34" charset="-122"/>
                <a:cs typeface="Arial" pitchFamily="34" charset="-120"/>
              </a:rPr>
              <a:t>NO. 07</a:t>
            </a:r>
            <a:pPr algn="l" indent="0" marL="0">
              <a:buNone/>
            </a:pPr>
            <a:r>
              <a:rPr lang="en-US" sz="950" spc="180" kern="0" dirty="0">
                <a:solidFill>
                  <a:srgbClr val="787774"/>
                </a:solidFill>
                <a:latin typeface="Arial" pitchFamily="34" charset="0"/>
                <a:ea typeface="Arial" pitchFamily="34" charset="-122"/>
                <a:cs typeface="Arial" pitchFamily="34" charset="-120"/>
              </a:rPr>
              <a:t>   THE AI STRATEGY LAB</a:t>
            </a:r>
            <a:endParaRPr lang="en-US" sz="950" dirty="0"/>
          </a:p>
        </p:txBody>
      </p:sp>
      <p:sp>
        <p:nvSpPr>
          <p:cNvPr id="3" name="Text 1"/>
          <p:cNvSpPr txBox="1"/>
          <p:nvPr/>
        </p:nvSpPr>
        <p:spPr>
          <a:xfrm>
            <a:off x="822960" y="868680"/>
            <a:ext cx="8778240" cy="548640"/>
          </a:xfrm>
          <a:prstGeom prst="rect">
            <a:avLst/>
          </a:prstGeom>
          <a:noFill/>
          <a:ln/>
        </p:spPr>
        <p:txBody>
          <a:bodyPr wrap="square" lIns="0" tIns="0" rIns="0" bIns="0" rtlCol="0" anchor="t"/>
          <a:lstStyle/>
          <a:p>
            <a:pPr algn="l" indent="0" marL="0">
              <a:lnSpc>
                <a:spcPct val="95000"/>
              </a:lnSpc>
              <a:buNone/>
            </a:pPr>
            <a:r>
              <a:rPr lang="en-US" sz="3000" spc="-60" kern="0" dirty="0">
                <a:solidFill>
                  <a:srgbClr val="111111"/>
                </a:solidFill>
                <a:latin typeface="Georgia" pitchFamily="34" charset="0"/>
                <a:ea typeface="Georgia" pitchFamily="34" charset="-122"/>
                <a:cs typeface="Georgia" pitchFamily="34" charset="-120"/>
              </a:rPr>
              <a:t>Four futures, with the assumptions on screen.</a:t>
            </a:r>
            <a:endParaRPr lang="en-US" sz="3000" dirty="0"/>
          </a:p>
        </p:txBody>
      </p:sp>
      <p:sp>
        <p:nvSpPr>
          <p:cNvPr id="4" name="Shape 2"/>
          <p:cNvSpPr/>
          <p:nvPr/>
        </p:nvSpPr>
        <p:spPr>
          <a:xfrm>
            <a:off x="9265615" y="987552"/>
            <a:ext cx="2103120" cy="237744"/>
          </a:xfrm>
          <a:prstGeom prst="roundRect">
            <a:avLst>
              <a:gd name="adj" fmla="val 50000"/>
            </a:avLst>
          </a:prstGeom>
          <a:solidFill>
            <a:srgbClr val="E1F3FE"/>
          </a:solidFill>
          <a:ln w="6350">
            <a:solidFill>
              <a:srgbClr val="E1F3FE"/>
            </a:solidFill>
            <a:prstDash val="solid"/>
          </a:ln>
        </p:spPr>
      </p:sp>
      <p:sp>
        <p:nvSpPr>
          <p:cNvPr id="5" name="Text 3"/>
          <p:cNvSpPr txBox="1"/>
          <p:nvPr/>
        </p:nvSpPr>
        <p:spPr>
          <a:xfrm>
            <a:off x="9265615" y="987552"/>
            <a:ext cx="2103120" cy="237744"/>
          </a:xfrm>
          <a:prstGeom prst="rect">
            <a:avLst/>
          </a:prstGeom>
          <a:noFill/>
          <a:ln/>
        </p:spPr>
        <p:txBody>
          <a:bodyPr wrap="square" lIns="0" tIns="0" rIns="0" bIns="0" rtlCol="0" anchor="ctr"/>
          <a:lstStyle/>
          <a:p>
            <a:pPr algn="ctr" indent="0" marL="0">
              <a:buNone/>
            </a:pPr>
            <a:r>
              <a:rPr lang="en-US" sz="800" b="1" spc="120" kern="0" dirty="0">
                <a:solidFill>
                  <a:srgbClr val="1F6C9F"/>
                </a:solidFill>
                <a:latin typeface="Arial" pitchFamily="34" charset="0"/>
                <a:ea typeface="Arial" pitchFamily="34" charset="-122"/>
                <a:cs typeface="Arial" pitchFamily="34" charset="-120"/>
              </a:rPr>
              <a:t>WORKS WITHOUT AN API KEY</a:t>
            </a:r>
            <a:endParaRPr lang="en-US" sz="800" dirty="0"/>
          </a:p>
        </p:txBody>
      </p:sp>
      <p:pic>
        <p:nvPicPr>
          <p:cNvPr id="6" name="Image 0" descr="Screenshot of the AI Strategy Lab: a branching tree of bull, base, bear and black swan scenarios with probabilities, and the first two scenario cards with target, stop and invalidation condition">    </p:cNvPr>
          <p:cNvPicPr>
            <a:picLocks noChangeAspect="1"/>
          </p:cNvPicPr>
          <p:nvPr/>
        </p:nvPicPr>
        <p:blipFill>
          <a:blip r:embed="rId2"/>
          <a:stretch>
            <a:fillRect/>
          </a:stretch>
        </p:blipFill>
        <p:spPr>
          <a:xfrm>
            <a:off x="822960" y="1691640"/>
            <a:ext cx="5120640" cy="3840480"/>
          </a:xfrm>
          <a:prstGeom prst="rect">
            <a:avLst/>
          </a:prstGeom>
        </p:spPr>
      </p:pic>
      <p:pic>
        <p:nvPicPr>
          <p:cNvPr id="7" name="Image 1" descr="Screenshot of the Monte Carlo fan chart: 500 simulated 30-day paths with median, 80 percent band, target and stop, and value-at-risk figures">    </p:cNvPr>
          <p:cNvPicPr>
            <a:picLocks noChangeAspect="1"/>
          </p:cNvPicPr>
          <p:nvPr/>
        </p:nvPicPr>
        <p:blipFill>
          <a:blip r:embed="rId3"/>
          <a:stretch>
            <a:fillRect/>
          </a:stretch>
        </p:blipFill>
        <p:spPr>
          <a:xfrm>
            <a:off x="6400800" y="1691640"/>
            <a:ext cx="4911090" cy="3840480"/>
          </a:xfrm>
          <a:prstGeom prst="rect">
            <a:avLst/>
          </a:prstGeom>
        </p:spPr>
      </p:pic>
      <p:sp>
        <p:nvSpPr>
          <p:cNvPr id="8" name="Text 4"/>
          <p:cNvSpPr txBox="1"/>
          <p:nvPr/>
        </p:nvSpPr>
        <p:spPr>
          <a:xfrm>
            <a:off x="822960" y="5660136"/>
            <a:ext cx="5120640" cy="411480"/>
          </a:xfrm>
          <a:prstGeom prst="rect">
            <a:avLst/>
          </a:prstGeom>
          <a:noFill/>
          <a:ln/>
        </p:spPr>
        <p:txBody>
          <a:bodyPr wrap="square" lIns="0" tIns="0" rIns="0" bIns="0" rtlCol="0" anchor="t"/>
          <a:lstStyle/>
          <a:p>
            <a:pPr algn="l" indent="0" marL="0">
              <a:lnSpc>
                <a:spcPct val="110000"/>
              </a:lnSpc>
              <a:buNone/>
            </a:pPr>
            <a:r>
              <a:rPr lang="en-US" sz="950" b="1" dirty="0">
                <a:solidFill>
                  <a:srgbClr val="111111"/>
                </a:solidFill>
                <a:latin typeface="Arial" pitchFamily="34" charset="0"/>
                <a:ea typeface="Arial" pitchFamily="34" charset="-122"/>
                <a:cs typeface="Arial" pitchFamily="34" charset="-120"/>
              </a:rPr>
              <a:t>Fig. 4a  </a:t>
            </a:r>
            <a:pPr algn="l" indent="0" marL="0">
              <a:lnSpc>
                <a:spcPct val="110000"/>
              </a:lnSpc>
              <a:buNone/>
            </a:pPr>
            <a:r>
              <a:rPr lang="en-US" sz="950" dirty="0">
                <a:solidFill>
                  <a:srgbClr val="787774"/>
                </a:solidFill>
                <a:latin typeface="Arial" pitchFamily="34" charset="0"/>
                <a:ea typeface="Arial" pitchFamily="34" charset="-122"/>
                <a:cs typeface="Arial" pitchFamily="34" charset="-120"/>
              </a:rPr>
              <a:t>Four scenarios, each with a target, a stop and an invalidation condition. The screen labels them rule-based, not calibrated.</a:t>
            </a:r>
            <a:endParaRPr lang="en-US" sz="950" dirty="0"/>
          </a:p>
        </p:txBody>
      </p:sp>
      <p:sp>
        <p:nvSpPr>
          <p:cNvPr id="9" name="Text 5"/>
          <p:cNvSpPr txBox="1"/>
          <p:nvPr/>
        </p:nvSpPr>
        <p:spPr>
          <a:xfrm>
            <a:off x="6400800" y="5660136"/>
            <a:ext cx="4911090" cy="411480"/>
          </a:xfrm>
          <a:prstGeom prst="rect">
            <a:avLst/>
          </a:prstGeom>
          <a:noFill/>
          <a:ln/>
        </p:spPr>
        <p:txBody>
          <a:bodyPr wrap="square" lIns="0" tIns="0" rIns="0" bIns="0" rtlCol="0" anchor="t"/>
          <a:lstStyle/>
          <a:p>
            <a:pPr algn="l" indent="0" marL="0">
              <a:lnSpc>
                <a:spcPct val="110000"/>
              </a:lnSpc>
              <a:buNone/>
            </a:pPr>
            <a:r>
              <a:rPr lang="en-US" sz="950" b="1" dirty="0">
                <a:solidFill>
                  <a:srgbClr val="111111"/>
                </a:solidFill>
                <a:latin typeface="Arial" pitchFamily="34" charset="0"/>
                <a:ea typeface="Arial" pitchFamily="34" charset="-122"/>
                <a:cs typeface="Arial" pitchFamily="34" charset="-120"/>
              </a:rPr>
              <a:t>Fig. 4b  </a:t>
            </a:r>
            <a:pPr algn="l" indent="0" marL="0">
              <a:lnSpc>
                <a:spcPct val="110000"/>
              </a:lnSpc>
              <a:buNone/>
            </a:pPr>
            <a:r>
              <a:rPr lang="en-US" sz="950" dirty="0">
                <a:solidFill>
                  <a:srgbClr val="787774"/>
                </a:solidFill>
                <a:latin typeface="Arial" pitchFamily="34" charset="0"/>
                <a:ea typeface="Arial" pitchFamily="34" charset="-122"/>
                <a:cs typeface="Arial" pitchFamily="34" charset="-120"/>
              </a:rPr>
              <a:t>500 simulated paths over 30 days. Volatility is measured from a year of closes. The drift is an assumption, and says so.</a:t>
            </a:r>
            <a:endParaRPr lang="en-US" sz="950" dirty="0"/>
          </a:p>
        </p:txBody>
      </p:sp>
      <p:sp>
        <p:nvSpPr>
          <p:cNvPr id="10" name="Text 6"/>
          <p:cNvSpPr txBox="1"/>
          <p:nvPr/>
        </p:nvSpPr>
        <p:spPr>
          <a:xfrm>
            <a:off x="822960" y="6400800"/>
            <a:ext cx="2743200" cy="201168"/>
          </a:xfrm>
          <a:prstGeom prst="rect">
            <a:avLst/>
          </a:prstGeom>
          <a:noFill/>
          <a:ln/>
        </p:spPr>
        <p:txBody>
          <a:bodyPr wrap="square" lIns="0" tIns="0" rIns="0" bIns="0" rtlCol="0" anchor="t"/>
          <a:lstStyle/>
          <a:p>
            <a:pPr algn="l" indent="0" marL="0">
              <a:buNone/>
            </a:pPr>
            <a:r>
              <a:rPr lang="en-US" sz="1000" i="1" dirty="0">
                <a:solidFill>
                  <a:srgbClr val="787774"/>
                </a:solidFill>
                <a:latin typeface="Georgia" pitchFamily="34" charset="0"/>
                <a:ea typeface="Georgia" pitchFamily="34" charset="-122"/>
                <a:cs typeface="Georgia" pitchFamily="34" charset="-120"/>
              </a:rPr>
              <a:t>MarketLens</a:t>
            </a:r>
            <a:endParaRPr lang="en-US" sz="1000" dirty="0"/>
          </a:p>
        </p:txBody>
      </p:sp>
      <p:sp>
        <p:nvSpPr>
          <p:cNvPr id="11" name="Text 7"/>
          <p:cNvSpPr txBox="1"/>
          <p:nvPr/>
        </p:nvSpPr>
        <p:spPr>
          <a:xfrm>
            <a:off x="9997135" y="6400800"/>
            <a:ext cx="1371600" cy="201168"/>
          </a:xfrm>
          <a:prstGeom prst="rect">
            <a:avLst/>
          </a:prstGeom>
          <a:noFill/>
          <a:ln/>
        </p:spPr>
        <p:txBody>
          <a:bodyPr wrap="square" lIns="0" tIns="0" rIns="0" bIns="0" rtlCol="0" anchor="t"/>
          <a:lstStyle/>
          <a:p>
            <a:pPr algn="r" indent="0" marL="0">
              <a:buNone/>
            </a:pPr>
            <a:r>
              <a:rPr lang="en-US" sz="900" spc="100" kern="0" dirty="0">
                <a:solidFill>
                  <a:srgbClr val="787774"/>
                </a:solidFill>
                <a:latin typeface="Arial" pitchFamily="34" charset="0"/>
                <a:ea typeface="Arial" pitchFamily="34" charset="-122"/>
                <a:cs typeface="Arial" pitchFamily="34" charset="-120"/>
              </a:rPr>
              <a:t>07 / 10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0" y="0"/>
            <a:ext cx="6095848" cy="6858000"/>
          </a:xfrm>
          <a:prstGeom prst="rect">
            <a:avLst/>
          </a:prstGeom>
          <a:solidFill>
            <a:srgbClr val="FDEBEC"/>
          </a:solidFill>
          <a:ln w="12700">
            <a:solidFill>
              <a:srgbClr val="FDEBEC"/>
            </a:solidFill>
            <a:prstDash val="solid"/>
          </a:ln>
        </p:spPr>
      </p:sp>
      <p:sp>
        <p:nvSpPr>
          <p:cNvPr id="3" name="Shape 1"/>
          <p:cNvSpPr/>
          <p:nvPr/>
        </p:nvSpPr>
        <p:spPr>
          <a:xfrm>
            <a:off x="6095848" y="0"/>
            <a:ext cx="6095848" cy="6858000"/>
          </a:xfrm>
          <a:prstGeom prst="rect">
            <a:avLst/>
          </a:prstGeom>
          <a:solidFill>
            <a:srgbClr val="EDF3EC"/>
          </a:solidFill>
          <a:ln w="12700">
            <a:solidFill>
              <a:srgbClr val="EDF3EC"/>
            </a:solidFill>
            <a:prstDash val="solid"/>
          </a:ln>
        </p:spPr>
      </p:sp>
      <p:sp>
        <p:nvSpPr>
          <p:cNvPr id="4" name="Shape 2"/>
          <p:cNvSpPr/>
          <p:nvPr/>
        </p:nvSpPr>
        <p:spPr>
          <a:xfrm>
            <a:off x="822960" y="502920"/>
            <a:ext cx="777240" cy="237744"/>
          </a:xfrm>
          <a:prstGeom prst="roundRect">
            <a:avLst>
              <a:gd name="adj" fmla="val 50000"/>
            </a:avLst>
          </a:prstGeom>
          <a:solidFill>
            <a:srgbClr val="FFFFFF"/>
          </a:solidFill>
          <a:ln w="6350">
            <a:solidFill>
              <a:srgbClr val="FFFFFF"/>
            </a:solidFill>
            <a:prstDash val="solid"/>
          </a:ln>
        </p:spPr>
      </p:sp>
      <p:sp>
        <p:nvSpPr>
          <p:cNvPr id="5" name="Text 3"/>
          <p:cNvSpPr txBox="1"/>
          <p:nvPr/>
        </p:nvSpPr>
        <p:spPr>
          <a:xfrm>
            <a:off x="822960" y="502920"/>
            <a:ext cx="777240" cy="237744"/>
          </a:xfrm>
          <a:prstGeom prst="rect">
            <a:avLst/>
          </a:prstGeom>
          <a:noFill/>
          <a:ln/>
        </p:spPr>
        <p:txBody>
          <a:bodyPr wrap="square" lIns="0" tIns="0" rIns="0" bIns="0" rtlCol="0" anchor="ctr"/>
          <a:lstStyle/>
          <a:p>
            <a:pPr algn="ctr" indent="0" marL="0">
              <a:buNone/>
            </a:pPr>
            <a:r>
              <a:rPr lang="en-US" sz="800" b="1" spc="120" kern="0" dirty="0">
                <a:solidFill>
                  <a:srgbClr val="9F2F2D"/>
                </a:solidFill>
                <a:latin typeface="Arial" pitchFamily="34" charset="0"/>
                <a:ea typeface="Arial" pitchFamily="34" charset="-122"/>
                <a:cs typeface="Arial" pitchFamily="34" charset="-120"/>
              </a:rPr>
              <a:t>FOUND</a:t>
            </a:r>
            <a:endParaRPr lang="en-US" sz="800" dirty="0"/>
          </a:p>
        </p:txBody>
      </p:sp>
      <p:sp>
        <p:nvSpPr>
          <p:cNvPr id="6" name="Shape 4"/>
          <p:cNvSpPr/>
          <p:nvPr/>
        </p:nvSpPr>
        <p:spPr>
          <a:xfrm>
            <a:off x="6918808" y="502920"/>
            <a:ext cx="777240" cy="237744"/>
          </a:xfrm>
          <a:prstGeom prst="roundRect">
            <a:avLst>
              <a:gd name="adj" fmla="val 50000"/>
            </a:avLst>
          </a:prstGeom>
          <a:solidFill>
            <a:srgbClr val="FFFFFF"/>
          </a:solidFill>
          <a:ln w="6350">
            <a:solidFill>
              <a:srgbClr val="FFFFFF"/>
            </a:solidFill>
            <a:prstDash val="solid"/>
          </a:ln>
        </p:spPr>
      </p:sp>
      <p:sp>
        <p:nvSpPr>
          <p:cNvPr id="7" name="Text 5"/>
          <p:cNvSpPr txBox="1"/>
          <p:nvPr/>
        </p:nvSpPr>
        <p:spPr>
          <a:xfrm>
            <a:off x="6918808" y="502920"/>
            <a:ext cx="777240" cy="237744"/>
          </a:xfrm>
          <a:prstGeom prst="rect">
            <a:avLst/>
          </a:prstGeom>
          <a:noFill/>
          <a:ln/>
        </p:spPr>
        <p:txBody>
          <a:bodyPr wrap="square" lIns="0" tIns="0" rIns="0" bIns="0" rtlCol="0" anchor="ctr"/>
          <a:lstStyle/>
          <a:p>
            <a:pPr algn="ctr" indent="0" marL="0">
              <a:buNone/>
            </a:pPr>
            <a:r>
              <a:rPr lang="en-US" sz="800" b="1" spc="120" kern="0" dirty="0">
                <a:solidFill>
                  <a:srgbClr val="346538"/>
                </a:solidFill>
                <a:latin typeface="Arial" pitchFamily="34" charset="0"/>
                <a:ea typeface="Arial" pitchFamily="34" charset="-122"/>
                <a:cs typeface="Arial" pitchFamily="34" charset="-120"/>
              </a:rPr>
              <a:t>FIXED</a:t>
            </a:r>
            <a:endParaRPr lang="en-US" sz="800" dirty="0"/>
          </a:p>
        </p:txBody>
      </p:sp>
      <p:sp>
        <p:nvSpPr>
          <p:cNvPr id="8" name="Text 6"/>
          <p:cNvSpPr txBox="1"/>
          <p:nvPr/>
        </p:nvSpPr>
        <p:spPr>
          <a:xfrm>
            <a:off x="822960" y="960120"/>
            <a:ext cx="4572000" cy="640080"/>
          </a:xfrm>
          <a:prstGeom prst="rect">
            <a:avLst/>
          </a:prstGeom>
          <a:noFill/>
          <a:ln/>
        </p:spPr>
        <p:txBody>
          <a:bodyPr wrap="square" lIns="0" tIns="0" rIns="0" bIns="0" rtlCol="0" anchor="t"/>
          <a:lstStyle/>
          <a:p>
            <a:pPr algn="l" indent="0" marL="0">
              <a:lnSpc>
                <a:spcPct val="95000"/>
              </a:lnSpc>
              <a:buNone/>
            </a:pPr>
            <a:r>
              <a:rPr lang="en-US" sz="3000" spc="-60" kern="0" dirty="0">
                <a:solidFill>
                  <a:srgbClr val="9F2F2D"/>
                </a:solidFill>
                <a:latin typeface="Georgia" pitchFamily="34" charset="0"/>
                <a:ea typeface="Georgia" pitchFamily="34" charset="-122"/>
                <a:cs typeface="Georgia" pitchFamily="34" charset="-120"/>
              </a:rPr>
              <a:t>We audited ourselves.</a:t>
            </a:r>
            <a:endParaRPr lang="en-US" sz="3000" dirty="0"/>
          </a:p>
        </p:txBody>
      </p:sp>
      <p:sp>
        <p:nvSpPr>
          <p:cNvPr id="9" name="Text 7"/>
          <p:cNvSpPr txBox="1"/>
          <p:nvPr/>
        </p:nvSpPr>
        <p:spPr>
          <a:xfrm>
            <a:off x="6918808" y="960120"/>
            <a:ext cx="4572000" cy="640080"/>
          </a:xfrm>
          <a:prstGeom prst="rect">
            <a:avLst/>
          </a:prstGeom>
          <a:noFill/>
          <a:ln/>
        </p:spPr>
        <p:txBody>
          <a:bodyPr wrap="square" lIns="0" tIns="0" rIns="0" bIns="0" rtlCol="0" anchor="t"/>
          <a:lstStyle/>
          <a:p>
            <a:pPr algn="l" indent="0" marL="0">
              <a:lnSpc>
                <a:spcPct val="95000"/>
              </a:lnSpc>
              <a:buNone/>
            </a:pPr>
            <a:r>
              <a:rPr lang="en-US" sz="3000" spc="-60" kern="0" dirty="0">
                <a:solidFill>
                  <a:srgbClr val="346538"/>
                </a:solidFill>
                <a:latin typeface="Georgia" pitchFamily="34" charset="0"/>
                <a:ea typeface="Georgia" pitchFamily="34" charset="-122"/>
                <a:cs typeface="Georgia" pitchFamily="34" charset="-120"/>
              </a:rPr>
              <a:t>Then we fixed it.</a:t>
            </a:r>
            <a:endParaRPr lang="en-US" sz="3000" dirty="0"/>
          </a:p>
        </p:txBody>
      </p:sp>
      <p:sp>
        <p:nvSpPr>
          <p:cNvPr id="10" name="Shape 8"/>
          <p:cNvSpPr/>
          <p:nvPr/>
        </p:nvSpPr>
        <p:spPr>
          <a:xfrm>
            <a:off x="822960" y="2011680"/>
            <a:ext cx="4572000" cy="0"/>
          </a:xfrm>
          <a:prstGeom prst="line">
            <a:avLst/>
          </a:prstGeom>
          <a:noFill/>
          <a:ln w="9525">
            <a:solidFill>
              <a:srgbClr val="F2CBCD"/>
            </a:solidFill>
            <a:prstDash val="solid"/>
          </a:ln>
        </p:spPr>
      </p:sp>
      <p:sp>
        <p:nvSpPr>
          <p:cNvPr id="11" name="Text 9"/>
          <p:cNvSpPr txBox="1"/>
          <p:nvPr/>
        </p:nvSpPr>
        <p:spPr>
          <a:xfrm>
            <a:off x="822960" y="2139696"/>
            <a:ext cx="4572000" cy="182880"/>
          </a:xfrm>
          <a:prstGeom prst="rect">
            <a:avLst/>
          </a:prstGeom>
          <a:noFill/>
          <a:ln/>
        </p:spPr>
        <p:txBody>
          <a:bodyPr wrap="square" lIns="0" tIns="0" rIns="0" bIns="0" rtlCol="0" anchor="t"/>
          <a:lstStyle/>
          <a:p>
            <a:pPr algn="l" indent="0" marL="0">
              <a:buNone/>
            </a:pPr>
            <a:r>
              <a:rPr lang="en-US" sz="850" b="1" spc="180" kern="0" dirty="0">
                <a:solidFill>
                  <a:srgbClr val="9F2F2D"/>
                </a:solidFill>
                <a:latin typeface="Arial" pitchFamily="34" charset="0"/>
                <a:ea typeface="Arial" pitchFamily="34" charset="-122"/>
                <a:cs typeface="Arial" pitchFamily="34" charset="-120"/>
              </a:rPr>
              <a:t>DEMO RUN</a:t>
            </a:r>
            <a:endParaRPr lang="en-US" sz="850" dirty="0"/>
          </a:p>
        </p:txBody>
      </p:sp>
      <p:sp>
        <p:nvSpPr>
          <p:cNvPr id="12" name="Text 10"/>
          <p:cNvSpPr txBox="1"/>
          <p:nvPr/>
        </p:nvSpPr>
        <p:spPr>
          <a:xfrm>
            <a:off x="822960" y="2395728"/>
            <a:ext cx="4572000" cy="594360"/>
          </a:xfrm>
          <a:prstGeom prst="rect">
            <a:avLst/>
          </a:prstGeom>
          <a:noFill/>
          <a:ln/>
        </p:spPr>
        <p:txBody>
          <a:bodyPr wrap="square" lIns="0" tIns="0" rIns="0" bIns="0" rtlCol="0" anchor="t"/>
          <a:lstStyle/>
          <a:p>
            <a:pPr algn="l" indent="0" marL="0">
              <a:lnSpc>
                <a:spcPct val="110000"/>
              </a:lnSpc>
              <a:buNone/>
            </a:pPr>
            <a:r>
              <a:rPr lang="en-US" sz="1300" dirty="0">
                <a:solidFill>
                  <a:srgbClr val="2F3437"/>
                </a:solidFill>
                <a:latin typeface="Arial" pitchFamily="34" charset="0"/>
                <a:ea typeface="Arial" pitchFamily="34" charset="-122"/>
                <a:cs typeface="Arial" pitchFamily="34" charset="-120"/>
              </a:rPr>
              <a:t>A hand-typed run showed +₹47.90, a Brier score of 0.2215 and fingerprints made of repeated b's and c's.</a:t>
            </a:r>
            <a:endParaRPr lang="en-US" sz="1300" dirty="0"/>
          </a:p>
        </p:txBody>
      </p:sp>
      <p:sp>
        <p:nvSpPr>
          <p:cNvPr id="13" name="Shape 11"/>
          <p:cNvSpPr/>
          <p:nvPr/>
        </p:nvSpPr>
        <p:spPr>
          <a:xfrm>
            <a:off x="6918808" y="2011680"/>
            <a:ext cx="4572000" cy="0"/>
          </a:xfrm>
          <a:prstGeom prst="line">
            <a:avLst/>
          </a:prstGeom>
          <a:noFill/>
          <a:ln w="9525">
            <a:solidFill>
              <a:srgbClr val="CFE0CE"/>
            </a:solidFill>
            <a:prstDash val="solid"/>
          </a:ln>
        </p:spPr>
      </p:sp>
      <p:sp>
        <p:nvSpPr>
          <p:cNvPr id="14" name="Text 12"/>
          <p:cNvSpPr txBox="1"/>
          <p:nvPr/>
        </p:nvSpPr>
        <p:spPr>
          <a:xfrm>
            <a:off x="6918808" y="2139696"/>
            <a:ext cx="4572000" cy="182880"/>
          </a:xfrm>
          <a:prstGeom prst="rect">
            <a:avLst/>
          </a:prstGeom>
          <a:noFill/>
          <a:ln/>
        </p:spPr>
        <p:txBody>
          <a:bodyPr wrap="square" lIns="0" tIns="0" rIns="0" bIns="0" rtlCol="0" anchor="t"/>
          <a:lstStyle/>
          <a:p>
            <a:pPr algn="l" indent="0" marL="0">
              <a:buNone/>
            </a:pPr>
            <a:r>
              <a:rPr lang="en-US" sz="850" b="1" spc="180" kern="0" dirty="0">
                <a:solidFill>
                  <a:srgbClr val="346538"/>
                </a:solidFill>
                <a:latin typeface="Arial" pitchFamily="34" charset="0"/>
                <a:ea typeface="Arial" pitchFamily="34" charset="-122"/>
                <a:cs typeface="Arial" pitchFamily="34" charset="-120"/>
              </a:rPr>
              <a:t>DEMO RUN</a:t>
            </a:r>
            <a:endParaRPr lang="en-US" sz="850" dirty="0"/>
          </a:p>
        </p:txBody>
      </p:sp>
      <p:sp>
        <p:nvSpPr>
          <p:cNvPr id="15" name="Text 13"/>
          <p:cNvSpPr txBox="1"/>
          <p:nvPr/>
        </p:nvSpPr>
        <p:spPr>
          <a:xfrm>
            <a:off x="6918808" y="2395728"/>
            <a:ext cx="4572000" cy="594360"/>
          </a:xfrm>
          <a:prstGeom prst="rect">
            <a:avLst/>
          </a:prstGeom>
          <a:noFill/>
          <a:ln/>
        </p:spPr>
        <p:txBody>
          <a:bodyPr wrap="square" lIns="0" tIns="0" rIns="0" bIns="0" rtlCol="0" anchor="t"/>
          <a:lstStyle/>
          <a:p>
            <a:pPr algn="l" indent="0" marL="0">
              <a:lnSpc>
                <a:spcPct val="110000"/>
              </a:lnSpc>
              <a:buNone/>
            </a:pPr>
            <a:r>
              <a:rPr lang="en-US" sz="1300" dirty="0">
                <a:solidFill>
                  <a:srgbClr val="2F3437"/>
                </a:solidFill>
                <a:latin typeface="Arial" pitchFamily="34" charset="0"/>
                <a:ea typeface="Arial" pitchFamily="34" charset="-122"/>
                <a:cs typeface="Arial" pitchFamily="34" charset="-120"/>
              </a:rPr>
              <a:t>The API serves the engine's own run: 0 trades, ₹0.00, Brier 0.5370 and real SHA-256 fingerprints.</a:t>
            </a:r>
            <a:endParaRPr lang="en-US" sz="1300" dirty="0"/>
          </a:p>
        </p:txBody>
      </p:sp>
      <p:sp>
        <p:nvSpPr>
          <p:cNvPr id="16" name="Shape 14"/>
          <p:cNvSpPr/>
          <p:nvPr/>
        </p:nvSpPr>
        <p:spPr>
          <a:xfrm>
            <a:off x="822960" y="3090672"/>
            <a:ext cx="4572000" cy="0"/>
          </a:xfrm>
          <a:prstGeom prst="line">
            <a:avLst/>
          </a:prstGeom>
          <a:noFill/>
          <a:ln w="9525">
            <a:solidFill>
              <a:srgbClr val="F2CBCD"/>
            </a:solidFill>
            <a:prstDash val="solid"/>
          </a:ln>
        </p:spPr>
      </p:sp>
      <p:sp>
        <p:nvSpPr>
          <p:cNvPr id="17" name="Text 15"/>
          <p:cNvSpPr txBox="1"/>
          <p:nvPr/>
        </p:nvSpPr>
        <p:spPr>
          <a:xfrm>
            <a:off x="822960" y="3218688"/>
            <a:ext cx="4572000" cy="182880"/>
          </a:xfrm>
          <a:prstGeom prst="rect">
            <a:avLst/>
          </a:prstGeom>
          <a:noFill/>
          <a:ln/>
        </p:spPr>
        <p:txBody>
          <a:bodyPr wrap="square" lIns="0" tIns="0" rIns="0" bIns="0" rtlCol="0" anchor="t"/>
          <a:lstStyle/>
          <a:p>
            <a:pPr algn="l" indent="0" marL="0">
              <a:buNone/>
            </a:pPr>
            <a:r>
              <a:rPr lang="en-US" sz="850" b="1" spc="180" kern="0" dirty="0">
                <a:solidFill>
                  <a:srgbClr val="9F2F2D"/>
                </a:solidFill>
                <a:latin typeface="Arial" pitchFamily="34" charset="0"/>
                <a:ea typeface="Arial" pitchFamily="34" charset="-122"/>
                <a:cs typeface="Arial" pitchFamily="34" charset="-120"/>
              </a:rPr>
              <a:t>FEES</a:t>
            </a:r>
            <a:endParaRPr lang="en-US" sz="850" dirty="0"/>
          </a:p>
        </p:txBody>
      </p:sp>
      <p:sp>
        <p:nvSpPr>
          <p:cNvPr id="18" name="Text 16"/>
          <p:cNvSpPr txBox="1"/>
          <p:nvPr/>
        </p:nvSpPr>
        <p:spPr>
          <a:xfrm>
            <a:off x="822960" y="3474720"/>
            <a:ext cx="4572000" cy="594360"/>
          </a:xfrm>
          <a:prstGeom prst="rect">
            <a:avLst/>
          </a:prstGeom>
          <a:noFill/>
          <a:ln/>
        </p:spPr>
        <p:txBody>
          <a:bodyPr wrap="square" lIns="0" tIns="0" rIns="0" bIns="0" rtlCol="0" anchor="t"/>
          <a:lstStyle/>
          <a:p>
            <a:pPr algn="l" indent="0" marL="0">
              <a:lnSpc>
                <a:spcPct val="110000"/>
              </a:lnSpc>
              <a:buNone/>
            </a:pPr>
            <a:r>
              <a:rPr lang="en-US" sz="1300" dirty="0">
                <a:solidFill>
                  <a:srgbClr val="2F3437"/>
                </a:solidFill>
                <a:latin typeface="Arial" pitchFamily="34" charset="0"/>
                <a:ea typeface="Arial" pitchFamily="34" charset="-122"/>
                <a:cs typeface="Arial" pitchFamily="34" charset="-120"/>
              </a:rPr>
              <a:t>Two fee engines disagreed: ₹95.58 in the terminal, ₹82.44 in the backend.</a:t>
            </a:r>
            <a:endParaRPr lang="en-US" sz="1300" dirty="0"/>
          </a:p>
        </p:txBody>
      </p:sp>
      <p:sp>
        <p:nvSpPr>
          <p:cNvPr id="19" name="Shape 17"/>
          <p:cNvSpPr/>
          <p:nvPr/>
        </p:nvSpPr>
        <p:spPr>
          <a:xfrm>
            <a:off x="6918808" y="3090672"/>
            <a:ext cx="4572000" cy="0"/>
          </a:xfrm>
          <a:prstGeom prst="line">
            <a:avLst/>
          </a:prstGeom>
          <a:noFill/>
          <a:ln w="9525">
            <a:solidFill>
              <a:srgbClr val="CFE0CE"/>
            </a:solidFill>
            <a:prstDash val="solid"/>
          </a:ln>
        </p:spPr>
      </p:sp>
      <p:sp>
        <p:nvSpPr>
          <p:cNvPr id="20" name="Text 18"/>
          <p:cNvSpPr txBox="1"/>
          <p:nvPr/>
        </p:nvSpPr>
        <p:spPr>
          <a:xfrm>
            <a:off x="6918808" y="3218688"/>
            <a:ext cx="4572000" cy="182880"/>
          </a:xfrm>
          <a:prstGeom prst="rect">
            <a:avLst/>
          </a:prstGeom>
          <a:noFill/>
          <a:ln/>
        </p:spPr>
        <p:txBody>
          <a:bodyPr wrap="square" lIns="0" tIns="0" rIns="0" bIns="0" rtlCol="0" anchor="t"/>
          <a:lstStyle/>
          <a:p>
            <a:pPr algn="l" indent="0" marL="0">
              <a:buNone/>
            </a:pPr>
            <a:r>
              <a:rPr lang="en-US" sz="850" b="1" spc="180" kern="0" dirty="0">
                <a:solidFill>
                  <a:srgbClr val="346538"/>
                </a:solidFill>
                <a:latin typeface="Arial" pitchFamily="34" charset="0"/>
                <a:ea typeface="Arial" pitchFamily="34" charset="-122"/>
                <a:cs typeface="Arial" pitchFamily="34" charset="-120"/>
              </a:rPr>
              <a:t>FEES</a:t>
            </a:r>
            <a:endParaRPr lang="en-US" sz="850" dirty="0"/>
          </a:p>
        </p:txBody>
      </p:sp>
      <p:sp>
        <p:nvSpPr>
          <p:cNvPr id="21" name="Text 19"/>
          <p:cNvSpPr txBox="1"/>
          <p:nvPr/>
        </p:nvSpPr>
        <p:spPr>
          <a:xfrm>
            <a:off x="6918808" y="3474720"/>
            <a:ext cx="4572000" cy="594360"/>
          </a:xfrm>
          <a:prstGeom prst="rect">
            <a:avLst/>
          </a:prstGeom>
          <a:noFill/>
          <a:ln/>
        </p:spPr>
        <p:txBody>
          <a:bodyPr wrap="square" lIns="0" tIns="0" rIns="0" bIns="0" rtlCol="0" anchor="t"/>
          <a:lstStyle/>
          <a:p>
            <a:pPr algn="l" indent="0" marL="0">
              <a:lnSpc>
                <a:spcPct val="110000"/>
              </a:lnSpc>
              <a:buNone/>
            </a:pPr>
            <a:r>
              <a:rPr lang="en-US" sz="1300" dirty="0">
                <a:solidFill>
                  <a:srgbClr val="2F3437"/>
                </a:solidFill>
                <a:latin typeface="Arial" pitchFamily="34" charset="0"/>
                <a:ea typeface="Arial" pitchFamily="34" charset="-122"/>
                <a:cs typeface="Arial" pitchFamily="34" charset="-120"/>
              </a:rPr>
              <a:t>One schedule file feeds both, and a test fails if they drift. Both say ₹82.44.</a:t>
            </a:r>
            <a:endParaRPr lang="en-US" sz="1300" dirty="0"/>
          </a:p>
        </p:txBody>
      </p:sp>
      <p:sp>
        <p:nvSpPr>
          <p:cNvPr id="22" name="Shape 20"/>
          <p:cNvSpPr/>
          <p:nvPr/>
        </p:nvSpPr>
        <p:spPr>
          <a:xfrm>
            <a:off x="822960" y="4169664"/>
            <a:ext cx="4572000" cy="0"/>
          </a:xfrm>
          <a:prstGeom prst="line">
            <a:avLst/>
          </a:prstGeom>
          <a:noFill/>
          <a:ln w="9525">
            <a:solidFill>
              <a:srgbClr val="F2CBCD"/>
            </a:solidFill>
            <a:prstDash val="solid"/>
          </a:ln>
        </p:spPr>
      </p:sp>
      <p:sp>
        <p:nvSpPr>
          <p:cNvPr id="23" name="Text 21"/>
          <p:cNvSpPr txBox="1"/>
          <p:nvPr/>
        </p:nvSpPr>
        <p:spPr>
          <a:xfrm>
            <a:off x="822960" y="4297680"/>
            <a:ext cx="4572000" cy="182880"/>
          </a:xfrm>
          <a:prstGeom prst="rect">
            <a:avLst/>
          </a:prstGeom>
          <a:noFill/>
          <a:ln/>
        </p:spPr>
        <p:txBody>
          <a:bodyPr wrap="square" lIns="0" tIns="0" rIns="0" bIns="0" rtlCol="0" anchor="t"/>
          <a:lstStyle/>
          <a:p>
            <a:pPr algn="l" indent="0" marL="0">
              <a:buNone/>
            </a:pPr>
            <a:r>
              <a:rPr lang="en-US" sz="850" b="1" spc="180" kern="0" dirty="0">
                <a:solidFill>
                  <a:srgbClr val="9F2F2D"/>
                </a:solidFill>
                <a:latin typeface="Arial" pitchFamily="34" charset="0"/>
                <a:ea typeface="Arial" pitchFamily="34" charset="-122"/>
                <a:cs typeface="Arial" pitchFamily="34" charset="-120"/>
              </a:rPr>
              <a:t>DATA</a:t>
            </a:r>
            <a:endParaRPr lang="en-US" sz="850" dirty="0"/>
          </a:p>
        </p:txBody>
      </p:sp>
      <p:sp>
        <p:nvSpPr>
          <p:cNvPr id="24" name="Text 22"/>
          <p:cNvSpPr txBox="1"/>
          <p:nvPr/>
        </p:nvSpPr>
        <p:spPr>
          <a:xfrm>
            <a:off x="822960" y="4553712"/>
            <a:ext cx="4572000" cy="594360"/>
          </a:xfrm>
          <a:prstGeom prst="rect">
            <a:avLst/>
          </a:prstGeom>
          <a:noFill/>
          <a:ln/>
        </p:spPr>
        <p:txBody>
          <a:bodyPr wrap="square" lIns="0" tIns="0" rIns="0" bIns="0" rtlCol="0" anchor="t"/>
          <a:lstStyle/>
          <a:p>
            <a:pPr algn="l" indent="0" marL="0">
              <a:lnSpc>
                <a:spcPct val="110000"/>
              </a:lnSpc>
              <a:buNone/>
            </a:pPr>
            <a:r>
              <a:rPr lang="en-US" sz="1300" dirty="0">
                <a:solidFill>
                  <a:srgbClr val="2F3437"/>
                </a:solidFill>
                <a:latin typeface="Arial" pitchFamily="34" charset="0"/>
                <a:ea typeface="Arial" pitchFamily="34" charset="-122"/>
                <a:cs typeface="Arial" pitchFamily="34" charset="-120"/>
              </a:rPr>
              <a:t>A failed feed produced a ₹1,000 quote, an invented RSI, drawn charts and a hard-coded NIFTY level.</a:t>
            </a:r>
            <a:endParaRPr lang="en-US" sz="1300" dirty="0"/>
          </a:p>
        </p:txBody>
      </p:sp>
      <p:sp>
        <p:nvSpPr>
          <p:cNvPr id="25" name="Shape 23"/>
          <p:cNvSpPr/>
          <p:nvPr/>
        </p:nvSpPr>
        <p:spPr>
          <a:xfrm>
            <a:off x="6918808" y="4169664"/>
            <a:ext cx="4572000" cy="0"/>
          </a:xfrm>
          <a:prstGeom prst="line">
            <a:avLst/>
          </a:prstGeom>
          <a:noFill/>
          <a:ln w="9525">
            <a:solidFill>
              <a:srgbClr val="CFE0CE"/>
            </a:solidFill>
            <a:prstDash val="solid"/>
          </a:ln>
        </p:spPr>
      </p:sp>
      <p:sp>
        <p:nvSpPr>
          <p:cNvPr id="26" name="Text 24"/>
          <p:cNvSpPr txBox="1"/>
          <p:nvPr/>
        </p:nvSpPr>
        <p:spPr>
          <a:xfrm>
            <a:off x="6918808" y="4297680"/>
            <a:ext cx="4572000" cy="182880"/>
          </a:xfrm>
          <a:prstGeom prst="rect">
            <a:avLst/>
          </a:prstGeom>
          <a:noFill/>
          <a:ln/>
        </p:spPr>
        <p:txBody>
          <a:bodyPr wrap="square" lIns="0" tIns="0" rIns="0" bIns="0" rtlCol="0" anchor="t"/>
          <a:lstStyle/>
          <a:p>
            <a:pPr algn="l" indent="0" marL="0">
              <a:buNone/>
            </a:pPr>
            <a:r>
              <a:rPr lang="en-US" sz="850" b="1" spc="180" kern="0" dirty="0">
                <a:solidFill>
                  <a:srgbClr val="346538"/>
                </a:solidFill>
                <a:latin typeface="Arial" pitchFamily="34" charset="0"/>
                <a:ea typeface="Arial" pitchFamily="34" charset="-122"/>
                <a:cs typeface="Arial" pitchFamily="34" charset="-120"/>
              </a:rPr>
              <a:t>DATA</a:t>
            </a:r>
            <a:endParaRPr lang="en-US" sz="850" dirty="0"/>
          </a:p>
        </p:txBody>
      </p:sp>
      <p:sp>
        <p:nvSpPr>
          <p:cNvPr id="27" name="Text 25"/>
          <p:cNvSpPr txBox="1"/>
          <p:nvPr/>
        </p:nvSpPr>
        <p:spPr>
          <a:xfrm>
            <a:off x="6918808" y="4553712"/>
            <a:ext cx="4572000" cy="594360"/>
          </a:xfrm>
          <a:prstGeom prst="rect">
            <a:avLst/>
          </a:prstGeom>
          <a:noFill/>
          <a:ln/>
        </p:spPr>
        <p:txBody>
          <a:bodyPr wrap="square" lIns="0" tIns="0" rIns="0" bIns="0" rtlCol="0" anchor="t"/>
          <a:lstStyle/>
          <a:p>
            <a:pPr algn="l" indent="0" marL="0">
              <a:lnSpc>
                <a:spcPct val="110000"/>
              </a:lnSpc>
              <a:buNone/>
            </a:pPr>
            <a:r>
              <a:rPr lang="en-US" sz="1300" dirty="0">
                <a:solidFill>
                  <a:srgbClr val="2F3437"/>
                </a:solidFill>
                <a:latin typeface="Arial" pitchFamily="34" charset="0"/>
                <a:ea typeface="Arial" pitchFamily="34" charset="-122"/>
                <a:cs typeface="Arial" pitchFamily="34" charset="-120"/>
              </a:rPr>
              <a:t>A failed feed shows a dash and names the source. Orders need a live price.</a:t>
            </a:r>
            <a:endParaRPr lang="en-US" sz="1300" dirty="0"/>
          </a:p>
        </p:txBody>
      </p:sp>
      <p:sp>
        <p:nvSpPr>
          <p:cNvPr id="28" name="Shape 26"/>
          <p:cNvSpPr/>
          <p:nvPr/>
        </p:nvSpPr>
        <p:spPr>
          <a:xfrm>
            <a:off x="822960" y="5248656"/>
            <a:ext cx="4572000" cy="0"/>
          </a:xfrm>
          <a:prstGeom prst="line">
            <a:avLst/>
          </a:prstGeom>
          <a:noFill/>
          <a:ln w="9525">
            <a:solidFill>
              <a:srgbClr val="F2CBCD"/>
            </a:solidFill>
            <a:prstDash val="solid"/>
          </a:ln>
        </p:spPr>
      </p:sp>
      <p:sp>
        <p:nvSpPr>
          <p:cNvPr id="29" name="Text 27"/>
          <p:cNvSpPr txBox="1"/>
          <p:nvPr/>
        </p:nvSpPr>
        <p:spPr>
          <a:xfrm>
            <a:off x="822960" y="5376672"/>
            <a:ext cx="4572000" cy="182880"/>
          </a:xfrm>
          <a:prstGeom prst="rect">
            <a:avLst/>
          </a:prstGeom>
          <a:noFill/>
          <a:ln/>
        </p:spPr>
        <p:txBody>
          <a:bodyPr wrap="square" lIns="0" tIns="0" rIns="0" bIns="0" rtlCol="0" anchor="t"/>
          <a:lstStyle/>
          <a:p>
            <a:pPr algn="l" indent="0" marL="0">
              <a:buNone/>
            </a:pPr>
            <a:r>
              <a:rPr lang="en-US" sz="850" b="1" spc="180" kern="0" dirty="0">
                <a:solidFill>
                  <a:srgbClr val="9F2F2D"/>
                </a:solidFill>
                <a:latin typeface="Arial" pitchFamily="34" charset="0"/>
                <a:ea typeface="Arial" pitchFamily="34" charset="-122"/>
                <a:cs typeface="Arial" pitchFamily="34" charset="-120"/>
              </a:rPr>
              <a:t>KEYS</a:t>
            </a:r>
            <a:endParaRPr lang="en-US" sz="850" dirty="0"/>
          </a:p>
        </p:txBody>
      </p:sp>
      <p:sp>
        <p:nvSpPr>
          <p:cNvPr id="30" name="Text 28"/>
          <p:cNvSpPr txBox="1"/>
          <p:nvPr/>
        </p:nvSpPr>
        <p:spPr>
          <a:xfrm>
            <a:off x="822960" y="5632704"/>
            <a:ext cx="4572000" cy="594360"/>
          </a:xfrm>
          <a:prstGeom prst="rect">
            <a:avLst/>
          </a:prstGeom>
          <a:noFill/>
          <a:ln/>
        </p:spPr>
        <p:txBody>
          <a:bodyPr wrap="square" lIns="0" tIns="0" rIns="0" bIns="0" rtlCol="0" anchor="t"/>
          <a:lstStyle/>
          <a:p>
            <a:pPr algn="l" indent="0" marL="0">
              <a:lnSpc>
                <a:spcPct val="110000"/>
              </a:lnSpc>
              <a:buNone/>
            </a:pPr>
            <a:r>
              <a:rPr lang="en-US" sz="1300" dirty="0">
                <a:solidFill>
                  <a:srgbClr val="2F3437"/>
                </a:solidFill>
                <a:latin typeface="Arial" pitchFamily="34" charset="0"/>
                <a:ea typeface="Arial" pitchFamily="34" charset="-122"/>
                <a:cs typeface="Arial" pitchFamily="34" charset="-120"/>
              </a:rPr>
              <a:t>AI keys set at build time would ship inside the public JavaScript. Query parameters went unchecked.</a:t>
            </a:r>
            <a:endParaRPr lang="en-US" sz="1300" dirty="0"/>
          </a:p>
        </p:txBody>
      </p:sp>
      <p:sp>
        <p:nvSpPr>
          <p:cNvPr id="31" name="Shape 29"/>
          <p:cNvSpPr/>
          <p:nvPr/>
        </p:nvSpPr>
        <p:spPr>
          <a:xfrm>
            <a:off x="6918808" y="5248656"/>
            <a:ext cx="4572000" cy="0"/>
          </a:xfrm>
          <a:prstGeom prst="line">
            <a:avLst/>
          </a:prstGeom>
          <a:noFill/>
          <a:ln w="9525">
            <a:solidFill>
              <a:srgbClr val="CFE0CE"/>
            </a:solidFill>
            <a:prstDash val="solid"/>
          </a:ln>
        </p:spPr>
      </p:sp>
      <p:sp>
        <p:nvSpPr>
          <p:cNvPr id="32" name="Text 30"/>
          <p:cNvSpPr txBox="1"/>
          <p:nvPr/>
        </p:nvSpPr>
        <p:spPr>
          <a:xfrm>
            <a:off x="6918808" y="5376672"/>
            <a:ext cx="4572000" cy="182880"/>
          </a:xfrm>
          <a:prstGeom prst="rect">
            <a:avLst/>
          </a:prstGeom>
          <a:noFill/>
          <a:ln/>
        </p:spPr>
        <p:txBody>
          <a:bodyPr wrap="square" lIns="0" tIns="0" rIns="0" bIns="0" rtlCol="0" anchor="t"/>
          <a:lstStyle/>
          <a:p>
            <a:pPr algn="l" indent="0" marL="0">
              <a:buNone/>
            </a:pPr>
            <a:r>
              <a:rPr lang="en-US" sz="850" b="1" spc="180" kern="0" dirty="0">
                <a:solidFill>
                  <a:srgbClr val="346538"/>
                </a:solidFill>
                <a:latin typeface="Arial" pitchFamily="34" charset="0"/>
                <a:ea typeface="Arial" pitchFamily="34" charset="-122"/>
                <a:cs typeface="Arial" pitchFamily="34" charset="-120"/>
              </a:rPr>
              <a:t>KEYS</a:t>
            </a:r>
            <a:endParaRPr lang="en-US" sz="850" dirty="0"/>
          </a:p>
        </p:txBody>
      </p:sp>
      <p:sp>
        <p:nvSpPr>
          <p:cNvPr id="33" name="Text 31"/>
          <p:cNvSpPr txBox="1"/>
          <p:nvPr/>
        </p:nvSpPr>
        <p:spPr>
          <a:xfrm>
            <a:off x="6918808" y="5632704"/>
            <a:ext cx="4572000" cy="594360"/>
          </a:xfrm>
          <a:prstGeom prst="rect">
            <a:avLst/>
          </a:prstGeom>
          <a:noFill/>
          <a:ln/>
        </p:spPr>
        <p:txBody>
          <a:bodyPr wrap="square" lIns="0" tIns="0" rIns="0" bIns="0" rtlCol="0" anchor="t"/>
          <a:lstStyle/>
          <a:p>
            <a:pPr algn="l" indent="0" marL="0">
              <a:lnSpc>
                <a:spcPct val="110000"/>
              </a:lnSpc>
              <a:buNone/>
            </a:pPr>
            <a:r>
              <a:rPr lang="en-US" sz="1300" dirty="0">
                <a:solidFill>
                  <a:srgbClr val="2F3437"/>
                </a:solidFill>
                <a:latin typeface="Arial" pitchFamily="34" charset="0"/>
                <a:ea typeface="Arial" pitchFamily="34" charset="-122"/>
                <a:cs typeface="Arial" pitchFamily="34" charset="-120"/>
              </a:rPr>
              <a:t>Keys are only typed in, a test fails if one returns, and parameters are allow-listed.</a:t>
            </a:r>
            <a:endParaRPr lang="en-US" sz="1300" dirty="0"/>
          </a:p>
        </p:txBody>
      </p:sp>
      <p:sp>
        <p:nvSpPr>
          <p:cNvPr id="34" name="Text 32"/>
          <p:cNvSpPr txBox="1"/>
          <p:nvPr/>
        </p:nvSpPr>
        <p:spPr>
          <a:xfrm>
            <a:off x="9997135" y="6400800"/>
            <a:ext cx="1371600" cy="201168"/>
          </a:xfrm>
          <a:prstGeom prst="rect">
            <a:avLst/>
          </a:prstGeom>
          <a:noFill/>
          <a:ln/>
        </p:spPr>
        <p:txBody>
          <a:bodyPr wrap="square" lIns="0" tIns="0" rIns="0" bIns="0" rtlCol="0" anchor="t"/>
          <a:lstStyle/>
          <a:p>
            <a:pPr algn="r" indent="0" marL="0">
              <a:buNone/>
            </a:pPr>
            <a:r>
              <a:rPr lang="en-US" sz="900" spc="100" kern="0" dirty="0">
                <a:solidFill>
                  <a:srgbClr val="346538"/>
                </a:solidFill>
                <a:latin typeface="Arial" pitchFamily="34" charset="0"/>
                <a:ea typeface="Arial" pitchFamily="34" charset="-122"/>
                <a:cs typeface="Arial" pitchFamily="34" charset="-120"/>
              </a:rPr>
              <a:t>08 / 10</a:t>
            </a:r>
            <a:endParaRPr lang="en-US" sz="900" dirty="0"/>
          </a:p>
        </p:txBody>
      </p:sp>
      <p:sp>
        <p:nvSpPr>
          <p:cNvPr id="35" name="Text 33"/>
          <p:cNvSpPr txBox="1"/>
          <p:nvPr/>
        </p:nvSpPr>
        <p:spPr>
          <a:xfrm>
            <a:off x="822960" y="6400800"/>
            <a:ext cx="2743200" cy="201168"/>
          </a:xfrm>
          <a:prstGeom prst="rect">
            <a:avLst/>
          </a:prstGeom>
          <a:noFill/>
          <a:ln/>
        </p:spPr>
        <p:txBody>
          <a:bodyPr wrap="square" lIns="0" tIns="0" rIns="0" bIns="0" rtlCol="0" anchor="t"/>
          <a:lstStyle/>
          <a:p>
            <a:pPr algn="l" indent="0" marL="0">
              <a:buNone/>
            </a:pPr>
            <a:r>
              <a:rPr lang="en-US" sz="1000" i="1" dirty="0">
                <a:solidFill>
                  <a:srgbClr val="9F2F2D"/>
                </a:solidFill>
                <a:latin typeface="Georgia" pitchFamily="34" charset="0"/>
                <a:ea typeface="Georgia" pitchFamily="34" charset="-122"/>
                <a:cs typeface="Georgia" pitchFamily="34" charset="-120"/>
              </a:rPr>
              <a:t>MarketLens</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502920"/>
            <a:ext cx="5486400" cy="201168"/>
          </a:xfrm>
          <a:prstGeom prst="rect">
            <a:avLst/>
          </a:prstGeom>
          <a:noFill/>
          <a:ln/>
        </p:spPr>
        <p:txBody>
          <a:bodyPr wrap="square" lIns="0" tIns="0" rIns="0" bIns="0" rtlCol="0" anchor="t"/>
          <a:lstStyle/>
          <a:p>
            <a:pPr algn="l" indent="0" marL="0">
              <a:buNone/>
            </a:pPr>
            <a:r>
              <a:rPr lang="en-US" sz="950" b="1" spc="180" kern="0" dirty="0">
                <a:solidFill>
                  <a:srgbClr val="111111"/>
                </a:solidFill>
                <a:latin typeface="Arial" pitchFamily="34" charset="0"/>
                <a:ea typeface="Arial" pitchFamily="34" charset="-122"/>
                <a:cs typeface="Arial" pitchFamily="34" charset="-120"/>
              </a:rPr>
              <a:t>NO. 09</a:t>
            </a:r>
            <a:pPr algn="l" indent="0" marL="0">
              <a:buNone/>
            </a:pPr>
            <a:r>
              <a:rPr lang="en-US" sz="950" spc="180" kern="0" dirty="0">
                <a:solidFill>
                  <a:srgbClr val="787774"/>
                </a:solidFill>
                <a:latin typeface="Arial" pitchFamily="34" charset="0"/>
                <a:ea typeface="Arial" pitchFamily="34" charset="-122"/>
                <a:cs typeface="Arial" pitchFamily="34" charset="-120"/>
              </a:rPr>
              <a:t>   TESTING</a:t>
            </a:r>
            <a:endParaRPr lang="en-US" sz="950" dirty="0"/>
          </a:p>
        </p:txBody>
      </p:sp>
      <p:sp>
        <p:nvSpPr>
          <p:cNvPr id="3" name="Text 1"/>
          <p:cNvSpPr txBox="1"/>
          <p:nvPr/>
        </p:nvSpPr>
        <p:spPr>
          <a:xfrm>
            <a:off x="822960" y="868680"/>
            <a:ext cx="5394960" cy="640080"/>
          </a:xfrm>
          <a:prstGeom prst="rect">
            <a:avLst/>
          </a:prstGeom>
          <a:noFill/>
          <a:ln/>
        </p:spPr>
        <p:txBody>
          <a:bodyPr wrap="square" lIns="0" tIns="0" rIns="0" bIns="0" rtlCol="0" anchor="t"/>
          <a:lstStyle/>
          <a:p>
            <a:pPr algn="l" indent="0" marL="0">
              <a:lnSpc>
                <a:spcPct val="95000"/>
              </a:lnSpc>
              <a:buNone/>
            </a:pPr>
            <a:r>
              <a:rPr lang="en-US" sz="3000" spc="-60" kern="0" dirty="0">
                <a:solidFill>
                  <a:srgbClr val="111111"/>
                </a:solidFill>
                <a:latin typeface="Georgia" pitchFamily="34" charset="0"/>
                <a:ea typeface="Georgia" pitchFamily="34" charset="-122"/>
                <a:cs typeface="Georgia" pitchFamily="34" charset="-120"/>
              </a:rPr>
              <a:t>Tested the way a user uses it.</a:t>
            </a:r>
            <a:endParaRPr lang="en-US" sz="3000" dirty="0"/>
          </a:p>
        </p:txBody>
      </p:sp>
      <p:sp>
        <p:nvSpPr>
          <p:cNvPr id="4" name="Text 2"/>
          <p:cNvSpPr txBox="1"/>
          <p:nvPr/>
        </p:nvSpPr>
        <p:spPr>
          <a:xfrm>
            <a:off x="822960" y="1691640"/>
            <a:ext cx="5212080" cy="822960"/>
          </a:xfrm>
          <a:prstGeom prst="rect">
            <a:avLst/>
          </a:prstGeom>
          <a:noFill/>
          <a:ln/>
        </p:spPr>
        <p:txBody>
          <a:bodyPr wrap="square" lIns="0" tIns="0" rIns="0" bIns="0" rtlCol="0" anchor="t"/>
          <a:lstStyle/>
          <a:p>
            <a:pPr algn="l" indent="0" marL="0">
              <a:lnSpc>
                <a:spcPct val="115000"/>
              </a:lnSpc>
              <a:buNone/>
            </a:pPr>
            <a:r>
              <a:rPr lang="en-US" sz="1400" dirty="0">
                <a:solidFill>
                  <a:srgbClr val="2F3437"/>
                </a:solidFill>
                <a:latin typeface="Arial" pitchFamily="34" charset="0"/>
                <a:ea typeface="Arial" pitchFamily="34" charset="-122"/>
                <a:cs typeface="Arial" pitchFamily="34" charset="-120"/>
              </a:rPr>
              <a:t>A real browser, real clicks, every module, light and dark, phone to desktop. It found what the unit tests had missed:</a:t>
            </a:r>
            <a:endParaRPr lang="en-US" sz="1400" dirty="0"/>
          </a:p>
        </p:txBody>
      </p:sp>
      <p:sp>
        <p:nvSpPr>
          <p:cNvPr id="5" name="Shape 3"/>
          <p:cNvSpPr/>
          <p:nvPr/>
        </p:nvSpPr>
        <p:spPr>
          <a:xfrm>
            <a:off x="822960" y="2834640"/>
            <a:ext cx="5212080" cy="0"/>
          </a:xfrm>
          <a:prstGeom prst="line">
            <a:avLst/>
          </a:prstGeom>
          <a:noFill/>
          <a:ln w="9525">
            <a:solidFill>
              <a:srgbClr val="D9D7D0"/>
            </a:solidFill>
            <a:prstDash val="solid"/>
          </a:ln>
        </p:spPr>
      </p:sp>
      <p:sp>
        <p:nvSpPr>
          <p:cNvPr id="6" name="Text 4"/>
          <p:cNvSpPr txBox="1"/>
          <p:nvPr/>
        </p:nvSpPr>
        <p:spPr>
          <a:xfrm>
            <a:off x="822960" y="2990088"/>
            <a:ext cx="5212080" cy="365760"/>
          </a:xfrm>
          <a:prstGeom prst="rect">
            <a:avLst/>
          </a:prstGeom>
          <a:noFill/>
          <a:ln/>
        </p:spPr>
        <p:txBody>
          <a:bodyPr wrap="square" lIns="0" tIns="0" rIns="0" bIns="0" rtlCol="0" anchor="t"/>
          <a:lstStyle/>
          <a:p>
            <a:pPr algn="l" indent="0" marL="0">
              <a:buNone/>
            </a:pPr>
            <a:r>
              <a:rPr lang="en-US" sz="1250" b="1" dirty="0">
                <a:solidFill>
                  <a:srgbClr val="111111"/>
                </a:solidFill>
                <a:latin typeface="Arial" pitchFamily="34" charset="0"/>
                <a:ea typeface="Arial" pitchFamily="34" charset="-122"/>
                <a:cs typeface="Arial" pitchFamily="34" charset="-120"/>
              </a:rPr>
              <a:t>Tata Motors had no price.</a:t>
            </a:r>
            <a:pPr algn="l" indent="0" marL="0">
              <a:buNone/>
            </a:pPr>
            <a:r>
              <a:rPr lang="en-US" sz="1250" dirty="0">
                <a:solidFill>
                  <a:srgbClr val="787774"/>
                </a:solidFill>
                <a:latin typeface="Arial" pitchFamily="34" charset="0"/>
                <a:ea typeface="Arial" pitchFamily="34" charset="-122"/>
                <a:cs typeface="Arial" pitchFamily="34" charset="-120"/>
              </a:rPr>
              <a:t> Yahoo had retired the ticker.</a:t>
            </a:r>
            <a:endParaRPr lang="en-US" sz="1250" dirty="0"/>
          </a:p>
        </p:txBody>
      </p:sp>
      <p:sp>
        <p:nvSpPr>
          <p:cNvPr id="7" name="Shape 5"/>
          <p:cNvSpPr/>
          <p:nvPr/>
        </p:nvSpPr>
        <p:spPr>
          <a:xfrm>
            <a:off x="822960" y="3419856"/>
            <a:ext cx="5212080" cy="0"/>
          </a:xfrm>
          <a:prstGeom prst="line">
            <a:avLst/>
          </a:prstGeom>
          <a:noFill/>
          <a:ln w="9525">
            <a:solidFill>
              <a:srgbClr val="D9D7D0"/>
            </a:solidFill>
            <a:prstDash val="solid"/>
          </a:ln>
        </p:spPr>
      </p:sp>
      <p:sp>
        <p:nvSpPr>
          <p:cNvPr id="8" name="Text 6"/>
          <p:cNvSpPr txBox="1"/>
          <p:nvPr/>
        </p:nvSpPr>
        <p:spPr>
          <a:xfrm>
            <a:off x="822960" y="3575304"/>
            <a:ext cx="5212080" cy="365760"/>
          </a:xfrm>
          <a:prstGeom prst="rect">
            <a:avLst/>
          </a:prstGeom>
          <a:noFill/>
          <a:ln/>
        </p:spPr>
        <p:txBody>
          <a:bodyPr wrap="square" lIns="0" tIns="0" rIns="0" bIns="0" rtlCol="0" anchor="t"/>
          <a:lstStyle/>
          <a:p>
            <a:pPr algn="l" indent="0" marL="0">
              <a:buNone/>
            </a:pPr>
            <a:r>
              <a:rPr lang="en-US" sz="1250" b="1" dirty="0">
                <a:solidFill>
                  <a:srgbClr val="111111"/>
                </a:solidFill>
                <a:latin typeface="Arial" pitchFamily="34" charset="0"/>
                <a:ea typeface="Arial" pitchFamily="34" charset="-122"/>
                <a:cs typeface="Arial" pitchFamily="34" charset="-120"/>
              </a:rPr>
              <a:t>A value at risk of −99%.</a:t>
            </a:r>
            <a:pPr algn="l" indent="0" marL="0">
              <a:buNone/>
            </a:pPr>
            <a:r>
              <a:rPr lang="en-US" sz="1250" dirty="0">
                <a:solidFill>
                  <a:srgbClr val="787774"/>
                </a:solidFill>
                <a:latin typeface="Arial" pitchFamily="34" charset="0"/>
                <a:ea typeface="Arial" pitchFamily="34" charset="-122"/>
                <a:cs typeface="Arial" pitchFamily="34" charset="-120"/>
              </a:rPr>
              <a:t> A percent was shown as rupees.</a:t>
            </a:r>
            <a:endParaRPr lang="en-US" sz="1250" dirty="0"/>
          </a:p>
        </p:txBody>
      </p:sp>
      <p:sp>
        <p:nvSpPr>
          <p:cNvPr id="9" name="Shape 7"/>
          <p:cNvSpPr/>
          <p:nvPr/>
        </p:nvSpPr>
        <p:spPr>
          <a:xfrm>
            <a:off x="822960" y="4005072"/>
            <a:ext cx="5212080" cy="0"/>
          </a:xfrm>
          <a:prstGeom prst="line">
            <a:avLst/>
          </a:prstGeom>
          <a:noFill/>
          <a:ln w="9525">
            <a:solidFill>
              <a:srgbClr val="D9D7D0"/>
            </a:solidFill>
            <a:prstDash val="solid"/>
          </a:ln>
        </p:spPr>
      </p:sp>
      <p:sp>
        <p:nvSpPr>
          <p:cNvPr id="10" name="Text 8"/>
          <p:cNvSpPr txBox="1"/>
          <p:nvPr/>
        </p:nvSpPr>
        <p:spPr>
          <a:xfrm>
            <a:off x="822960" y="4160520"/>
            <a:ext cx="5212080" cy="365760"/>
          </a:xfrm>
          <a:prstGeom prst="rect">
            <a:avLst/>
          </a:prstGeom>
          <a:noFill/>
          <a:ln/>
        </p:spPr>
        <p:txBody>
          <a:bodyPr wrap="square" lIns="0" tIns="0" rIns="0" bIns="0" rtlCol="0" anchor="t"/>
          <a:lstStyle/>
          <a:p>
            <a:pPr algn="l" indent="0" marL="0">
              <a:buNone/>
            </a:pPr>
            <a:r>
              <a:rPr lang="en-US" sz="1250" b="1" dirty="0">
                <a:solidFill>
                  <a:srgbClr val="111111"/>
                </a:solidFill>
                <a:latin typeface="Arial" pitchFamily="34" charset="0"/>
                <a:ea typeface="Arial" pitchFamily="34" charset="-122"/>
                <a:cs typeface="Arial" pitchFamily="34" charset="-120"/>
              </a:rPr>
              <a:t>A VWAP of 2,938 beside a price of 1,158.</a:t>
            </a:r>
            <a:pPr algn="l" indent="0" marL="0">
              <a:buNone/>
            </a:pPr>
            <a:endParaRPr lang="en-US" sz="1250" dirty="0"/>
          </a:p>
        </p:txBody>
      </p:sp>
      <p:sp>
        <p:nvSpPr>
          <p:cNvPr id="11" name="Shape 9"/>
          <p:cNvSpPr/>
          <p:nvPr/>
        </p:nvSpPr>
        <p:spPr>
          <a:xfrm>
            <a:off x="822960" y="4590288"/>
            <a:ext cx="5212080" cy="0"/>
          </a:xfrm>
          <a:prstGeom prst="line">
            <a:avLst/>
          </a:prstGeom>
          <a:noFill/>
          <a:ln w="9525">
            <a:solidFill>
              <a:srgbClr val="D9D7D0"/>
            </a:solidFill>
            <a:prstDash val="solid"/>
          </a:ln>
        </p:spPr>
      </p:sp>
      <p:sp>
        <p:nvSpPr>
          <p:cNvPr id="12" name="Text 10"/>
          <p:cNvSpPr txBox="1"/>
          <p:nvPr/>
        </p:nvSpPr>
        <p:spPr>
          <a:xfrm>
            <a:off x="822960" y="4745736"/>
            <a:ext cx="5212080" cy="365760"/>
          </a:xfrm>
          <a:prstGeom prst="rect">
            <a:avLst/>
          </a:prstGeom>
          <a:noFill/>
          <a:ln/>
        </p:spPr>
        <p:txBody>
          <a:bodyPr wrap="square" lIns="0" tIns="0" rIns="0" bIns="0" rtlCol="0" anchor="t"/>
          <a:lstStyle/>
          <a:p>
            <a:pPr algn="l" indent="0" marL="0">
              <a:buNone/>
            </a:pPr>
            <a:r>
              <a:rPr lang="en-US" sz="1250" b="1" dirty="0">
                <a:solidFill>
                  <a:srgbClr val="111111"/>
                </a:solidFill>
                <a:latin typeface="Arial" pitchFamily="34" charset="0"/>
                <a:ea typeface="Arial" pitchFamily="34" charset="-122"/>
                <a:cs typeface="Arial" pitchFamily="34" charset="-120"/>
              </a:rPr>
              <a:t>A light theme nobody could read.</a:t>
            </a:r>
            <a:pPr algn="l" indent="0" marL="0">
              <a:buNone/>
            </a:pPr>
            <a:endParaRPr lang="en-US" sz="1250" dirty="0"/>
          </a:p>
        </p:txBody>
      </p:sp>
      <p:sp>
        <p:nvSpPr>
          <p:cNvPr id="13" name="Shape 11"/>
          <p:cNvSpPr/>
          <p:nvPr/>
        </p:nvSpPr>
        <p:spPr>
          <a:xfrm>
            <a:off x="822960" y="5175504"/>
            <a:ext cx="5212080" cy="0"/>
          </a:xfrm>
          <a:prstGeom prst="line">
            <a:avLst/>
          </a:prstGeom>
          <a:noFill/>
          <a:ln w="9525">
            <a:solidFill>
              <a:srgbClr val="D9D7D0"/>
            </a:solidFill>
            <a:prstDash val="solid"/>
          </a:ln>
        </p:spPr>
      </p:sp>
      <p:sp>
        <p:nvSpPr>
          <p:cNvPr id="14" name="Text 12"/>
          <p:cNvSpPr txBox="1"/>
          <p:nvPr/>
        </p:nvSpPr>
        <p:spPr>
          <a:xfrm>
            <a:off x="822960" y="5330952"/>
            <a:ext cx="5212080" cy="365760"/>
          </a:xfrm>
          <a:prstGeom prst="rect">
            <a:avLst/>
          </a:prstGeom>
          <a:noFill/>
          <a:ln/>
        </p:spPr>
        <p:txBody>
          <a:bodyPr wrap="square" lIns="0" tIns="0" rIns="0" bIns="0" rtlCol="0" anchor="t"/>
          <a:lstStyle/>
          <a:p>
            <a:pPr algn="l" indent="0" marL="0">
              <a:buNone/>
            </a:pPr>
            <a:r>
              <a:rPr lang="en-US" sz="1250" b="1" dirty="0">
                <a:solidFill>
                  <a:srgbClr val="111111"/>
                </a:solidFill>
                <a:latin typeface="Arial" pitchFamily="34" charset="0"/>
                <a:ea typeface="Arial" pitchFamily="34" charset="-122"/>
                <a:cs typeface="Arial" pitchFamily="34" charset="-120"/>
              </a:rPr>
              <a:t>A change that would have crashed the Python 3.12 server.</a:t>
            </a:r>
            <a:pPr algn="l" indent="0" marL="0">
              <a:buNone/>
            </a:pPr>
            <a:endParaRPr lang="en-US" sz="1250" dirty="0"/>
          </a:p>
        </p:txBody>
      </p:sp>
      <p:sp>
        <p:nvSpPr>
          <p:cNvPr id="15" name="Shape 13"/>
          <p:cNvSpPr/>
          <p:nvPr/>
        </p:nvSpPr>
        <p:spPr>
          <a:xfrm>
            <a:off x="822960" y="5760720"/>
            <a:ext cx="5212080" cy="0"/>
          </a:xfrm>
          <a:prstGeom prst="line">
            <a:avLst/>
          </a:prstGeom>
          <a:noFill/>
          <a:ln w="9525">
            <a:solidFill>
              <a:srgbClr val="D9D7D0"/>
            </a:solidFill>
            <a:prstDash val="solid"/>
          </a:ln>
        </p:spPr>
      </p:sp>
      <p:sp>
        <p:nvSpPr>
          <p:cNvPr id="16" name="Text 14"/>
          <p:cNvSpPr txBox="1"/>
          <p:nvPr/>
        </p:nvSpPr>
        <p:spPr>
          <a:xfrm>
            <a:off x="6675120" y="960120"/>
            <a:ext cx="4693615"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WHAT THE CHECKS SAY</a:t>
            </a:r>
            <a:endParaRPr lang="en-US" sz="850" dirty="0"/>
          </a:p>
        </p:txBody>
      </p:sp>
      <p:sp>
        <p:nvSpPr>
          <p:cNvPr id="17" name="Shape 15"/>
          <p:cNvSpPr/>
          <p:nvPr/>
        </p:nvSpPr>
        <p:spPr>
          <a:xfrm>
            <a:off x="6675120" y="1280160"/>
            <a:ext cx="4693615" cy="0"/>
          </a:xfrm>
          <a:prstGeom prst="line">
            <a:avLst/>
          </a:prstGeom>
          <a:noFill/>
          <a:ln w="9525">
            <a:solidFill>
              <a:srgbClr val="D9D7D0"/>
            </a:solidFill>
            <a:prstDash val="solid"/>
          </a:ln>
        </p:spPr>
      </p:sp>
      <p:sp>
        <p:nvSpPr>
          <p:cNvPr id="18" name="Text 16"/>
          <p:cNvSpPr txBox="1"/>
          <p:nvPr/>
        </p:nvSpPr>
        <p:spPr>
          <a:xfrm>
            <a:off x="6675120" y="1399032"/>
            <a:ext cx="2926080" cy="228600"/>
          </a:xfrm>
          <a:prstGeom prst="rect">
            <a:avLst/>
          </a:prstGeom>
          <a:noFill/>
          <a:ln/>
        </p:spPr>
        <p:txBody>
          <a:bodyPr wrap="square" lIns="0" tIns="0" rIns="0" bIns="0" rtlCol="0" anchor="t"/>
          <a:lstStyle/>
          <a:p>
            <a:pPr algn="l" indent="0" marL="0">
              <a:buNone/>
            </a:pPr>
            <a:r>
              <a:rPr lang="en-US" sz="1250" dirty="0">
                <a:solidFill>
                  <a:srgbClr val="111111"/>
                </a:solidFill>
                <a:latin typeface="Arial" pitchFamily="34" charset="0"/>
                <a:ea typeface="Arial" pitchFamily="34" charset="-122"/>
                <a:cs typeface="Arial" pitchFamily="34" charset="-120"/>
              </a:rPr>
              <a:t>Live walk-through</a:t>
            </a:r>
            <a:endParaRPr lang="en-US" sz="1250" dirty="0"/>
          </a:p>
        </p:txBody>
      </p:sp>
      <p:sp>
        <p:nvSpPr>
          <p:cNvPr id="19" name="Text 17"/>
          <p:cNvSpPr txBox="1"/>
          <p:nvPr/>
        </p:nvSpPr>
        <p:spPr>
          <a:xfrm>
            <a:off x="6675120" y="1645920"/>
            <a:ext cx="3108960" cy="201168"/>
          </a:xfrm>
          <a:prstGeom prst="rect">
            <a:avLst/>
          </a:prstGeom>
          <a:noFill/>
          <a:ln/>
        </p:spPr>
        <p:txBody>
          <a:bodyPr wrap="square" lIns="0" tIns="0" rIns="0" bIns="0" rtlCol="0" anchor="t"/>
          <a:lstStyle/>
          <a:p>
            <a:pPr algn="l" indent="0" marL="0">
              <a:buNone/>
            </a:pPr>
            <a:r>
              <a:rPr lang="en-US" sz="950" dirty="0">
                <a:solidFill>
                  <a:srgbClr val="787774"/>
                </a:solidFill>
                <a:latin typeface="Arial" pitchFamily="34" charset="0"/>
                <a:ea typeface="Arial" pitchFamily="34" charset="-122"/>
                <a:cs typeface="Arial" pitchFamily="34" charset="-120"/>
              </a:rPr>
              <a:t>checks against live data, 0 console errors</a:t>
            </a:r>
            <a:endParaRPr lang="en-US" sz="950" dirty="0"/>
          </a:p>
        </p:txBody>
      </p:sp>
      <p:sp>
        <p:nvSpPr>
          <p:cNvPr id="20" name="Text 18"/>
          <p:cNvSpPr txBox="1"/>
          <p:nvPr/>
        </p:nvSpPr>
        <p:spPr>
          <a:xfrm>
            <a:off x="9631375" y="1389888"/>
            <a:ext cx="1737360" cy="365760"/>
          </a:xfrm>
          <a:prstGeom prst="rect">
            <a:avLst/>
          </a:prstGeom>
          <a:noFill/>
          <a:ln/>
        </p:spPr>
        <p:txBody>
          <a:bodyPr wrap="square" lIns="0" tIns="0" rIns="0" bIns="0" rtlCol="0" anchor="t"/>
          <a:lstStyle/>
          <a:p>
            <a:pPr algn="r" indent="0" marL="0">
              <a:buNone/>
            </a:pPr>
            <a:r>
              <a:rPr lang="en-US" sz="2100" dirty="0">
                <a:solidFill>
                  <a:srgbClr val="111111"/>
                </a:solidFill>
                <a:latin typeface="Arial" pitchFamily="34" charset="0"/>
                <a:ea typeface="Arial" pitchFamily="34" charset="-122"/>
                <a:cs typeface="Arial" pitchFamily="34" charset="-120"/>
              </a:rPr>
              <a:t>138</a:t>
            </a:r>
            <a:endParaRPr lang="en-US" sz="2100" dirty="0"/>
          </a:p>
        </p:txBody>
      </p:sp>
      <p:sp>
        <p:nvSpPr>
          <p:cNvPr id="21" name="Shape 19"/>
          <p:cNvSpPr/>
          <p:nvPr/>
        </p:nvSpPr>
        <p:spPr>
          <a:xfrm>
            <a:off x="6675120" y="1920240"/>
            <a:ext cx="4693615" cy="0"/>
          </a:xfrm>
          <a:prstGeom prst="line">
            <a:avLst/>
          </a:prstGeom>
          <a:noFill/>
          <a:ln w="9525">
            <a:solidFill>
              <a:srgbClr val="D9D7D0"/>
            </a:solidFill>
            <a:prstDash val="solid"/>
          </a:ln>
        </p:spPr>
      </p:sp>
      <p:sp>
        <p:nvSpPr>
          <p:cNvPr id="22" name="Text 20"/>
          <p:cNvSpPr txBox="1"/>
          <p:nvPr/>
        </p:nvSpPr>
        <p:spPr>
          <a:xfrm>
            <a:off x="6675120" y="2039112"/>
            <a:ext cx="2926080" cy="228600"/>
          </a:xfrm>
          <a:prstGeom prst="rect">
            <a:avLst/>
          </a:prstGeom>
          <a:noFill/>
          <a:ln/>
        </p:spPr>
        <p:txBody>
          <a:bodyPr wrap="square" lIns="0" tIns="0" rIns="0" bIns="0" rtlCol="0" anchor="t"/>
          <a:lstStyle/>
          <a:p>
            <a:pPr algn="l" indent="0" marL="0">
              <a:buNone/>
            </a:pPr>
            <a:r>
              <a:rPr lang="en-US" sz="1250" dirty="0">
                <a:solidFill>
                  <a:srgbClr val="111111"/>
                </a:solidFill>
                <a:latin typeface="Arial" pitchFamily="34" charset="0"/>
                <a:ea typeface="Arial" pitchFamily="34" charset="-122"/>
                <a:cs typeface="Arial" pitchFamily="34" charset="-120"/>
              </a:rPr>
              <a:t>Market feed switched off</a:t>
            </a:r>
            <a:endParaRPr lang="en-US" sz="1250" dirty="0"/>
          </a:p>
        </p:txBody>
      </p:sp>
      <p:sp>
        <p:nvSpPr>
          <p:cNvPr id="23" name="Text 21"/>
          <p:cNvSpPr txBox="1"/>
          <p:nvPr/>
        </p:nvSpPr>
        <p:spPr>
          <a:xfrm>
            <a:off x="6675120" y="2286000"/>
            <a:ext cx="3108960" cy="201168"/>
          </a:xfrm>
          <a:prstGeom prst="rect">
            <a:avLst/>
          </a:prstGeom>
          <a:noFill/>
          <a:ln/>
        </p:spPr>
        <p:txBody>
          <a:bodyPr wrap="square" lIns="0" tIns="0" rIns="0" bIns="0" rtlCol="0" anchor="t"/>
          <a:lstStyle/>
          <a:p>
            <a:pPr algn="l" indent="0" marL="0">
              <a:buNone/>
            </a:pPr>
            <a:r>
              <a:rPr lang="en-US" sz="950" dirty="0">
                <a:solidFill>
                  <a:srgbClr val="787774"/>
                </a:solidFill>
                <a:latin typeface="Arial" pitchFamily="34" charset="0"/>
                <a:ea typeface="Arial" pitchFamily="34" charset="-122"/>
                <a:cs typeface="Arial" pitchFamily="34" charset="-120"/>
              </a:rPr>
              <a:t>checks</a:t>
            </a:r>
            <a:endParaRPr lang="en-US" sz="950" dirty="0"/>
          </a:p>
        </p:txBody>
      </p:sp>
      <p:sp>
        <p:nvSpPr>
          <p:cNvPr id="24" name="Text 22"/>
          <p:cNvSpPr txBox="1"/>
          <p:nvPr/>
        </p:nvSpPr>
        <p:spPr>
          <a:xfrm>
            <a:off x="9631375" y="2029968"/>
            <a:ext cx="1737360" cy="365760"/>
          </a:xfrm>
          <a:prstGeom prst="rect">
            <a:avLst/>
          </a:prstGeom>
          <a:noFill/>
          <a:ln/>
        </p:spPr>
        <p:txBody>
          <a:bodyPr wrap="square" lIns="0" tIns="0" rIns="0" bIns="0" rtlCol="0" anchor="t"/>
          <a:lstStyle/>
          <a:p>
            <a:pPr algn="r" indent="0" marL="0">
              <a:buNone/>
            </a:pPr>
            <a:r>
              <a:rPr lang="en-US" sz="2100" dirty="0">
                <a:solidFill>
                  <a:srgbClr val="111111"/>
                </a:solidFill>
                <a:latin typeface="Arial" pitchFamily="34" charset="0"/>
                <a:ea typeface="Arial" pitchFamily="34" charset="-122"/>
                <a:cs typeface="Arial" pitchFamily="34" charset="-120"/>
              </a:rPr>
              <a:t>124</a:t>
            </a:r>
            <a:endParaRPr lang="en-US" sz="2100" dirty="0"/>
          </a:p>
        </p:txBody>
      </p:sp>
      <p:sp>
        <p:nvSpPr>
          <p:cNvPr id="25" name="Shape 23"/>
          <p:cNvSpPr/>
          <p:nvPr/>
        </p:nvSpPr>
        <p:spPr>
          <a:xfrm>
            <a:off x="6675120" y="2560320"/>
            <a:ext cx="4693615" cy="0"/>
          </a:xfrm>
          <a:prstGeom prst="line">
            <a:avLst/>
          </a:prstGeom>
          <a:noFill/>
          <a:ln w="9525">
            <a:solidFill>
              <a:srgbClr val="D9D7D0"/>
            </a:solidFill>
            <a:prstDash val="solid"/>
          </a:ln>
        </p:spPr>
      </p:sp>
      <p:sp>
        <p:nvSpPr>
          <p:cNvPr id="26" name="Text 24"/>
          <p:cNvSpPr txBox="1"/>
          <p:nvPr/>
        </p:nvSpPr>
        <p:spPr>
          <a:xfrm>
            <a:off x="6675120" y="2679192"/>
            <a:ext cx="2926080" cy="228600"/>
          </a:xfrm>
          <a:prstGeom prst="rect">
            <a:avLst/>
          </a:prstGeom>
          <a:noFill/>
          <a:ln/>
        </p:spPr>
        <p:txBody>
          <a:bodyPr wrap="square" lIns="0" tIns="0" rIns="0" bIns="0" rtlCol="0" anchor="t"/>
          <a:lstStyle/>
          <a:p>
            <a:pPr algn="l" indent="0" marL="0">
              <a:buNone/>
            </a:pPr>
            <a:r>
              <a:rPr lang="en-US" sz="1250" dirty="0">
                <a:solidFill>
                  <a:srgbClr val="111111"/>
                </a:solidFill>
                <a:latin typeface="Arial" pitchFamily="34" charset="0"/>
                <a:ea typeface="Arial" pitchFamily="34" charset="-122"/>
                <a:cs typeface="Arial" pitchFamily="34" charset="-120"/>
              </a:rPr>
              <a:t>Backend not running</a:t>
            </a:r>
            <a:endParaRPr lang="en-US" sz="1250" dirty="0"/>
          </a:p>
        </p:txBody>
      </p:sp>
      <p:sp>
        <p:nvSpPr>
          <p:cNvPr id="27" name="Text 25"/>
          <p:cNvSpPr txBox="1"/>
          <p:nvPr/>
        </p:nvSpPr>
        <p:spPr>
          <a:xfrm>
            <a:off x="6675120" y="2926080"/>
            <a:ext cx="3108960" cy="201168"/>
          </a:xfrm>
          <a:prstGeom prst="rect">
            <a:avLst/>
          </a:prstGeom>
          <a:noFill/>
          <a:ln/>
        </p:spPr>
        <p:txBody>
          <a:bodyPr wrap="square" lIns="0" tIns="0" rIns="0" bIns="0" rtlCol="0" anchor="t"/>
          <a:lstStyle/>
          <a:p>
            <a:pPr algn="l" indent="0" marL="0">
              <a:buNone/>
            </a:pPr>
            <a:r>
              <a:rPr lang="en-US" sz="950" dirty="0">
                <a:solidFill>
                  <a:srgbClr val="787774"/>
                </a:solidFill>
                <a:latin typeface="Arial" pitchFamily="34" charset="0"/>
                <a:ea typeface="Arial" pitchFamily="34" charset="-122"/>
                <a:cs typeface="Arial" pitchFamily="34" charset="-120"/>
              </a:rPr>
              <a:t>checks, no invented prices</a:t>
            </a:r>
            <a:endParaRPr lang="en-US" sz="950" dirty="0"/>
          </a:p>
        </p:txBody>
      </p:sp>
      <p:sp>
        <p:nvSpPr>
          <p:cNvPr id="28" name="Text 26"/>
          <p:cNvSpPr txBox="1"/>
          <p:nvPr/>
        </p:nvSpPr>
        <p:spPr>
          <a:xfrm>
            <a:off x="9631375" y="2670048"/>
            <a:ext cx="1737360" cy="365760"/>
          </a:xfrm>
          <a:prstGeom prst="rect">
            <a:avLst/>
          </a:prstGeom>
          <a:noFill/>
          <a:ln/>
        </p:spPr>
        <p:txBody>
          <a:bodyPr wrap="square" lIns="0" tIns="0" rIns="0" bIns="0" rtlCol="0" anchor="t"/>
          <a:lstStyle/>
          <a:p>
            <a:pPr algn="r" indent="0" marL="0">
              <a:buNone/>
            </a:pPr>
            <a:r>
              <a:rPr lang="en-US" sz="2100" dirty="0">
                <a:solidFill>
                  <a:srgbClr val="111111"/>
                </a:solidFill>
                <a:latin typeface="Arial" pitchFamily="34" charset="0"/>
                <a:ea typeface="Arial" pitchFamily="34" charset="-122"/>
                <a:cs typeface="Arial" pitchFamily="34" charset="-120"/>
              </a:rPr>
              <a:t>124</a:t>
            </a:r>
            <a:endParaRPr lang="en-US" sz="2100" dirty="0"/>
          </a:p>
        </p:txBody>
      </p:sp>
      <p:sp>
        <p:nvSpPr>
          <p:cNvPr id="29" name="Shape 27"/>
          <p:cNvSpPr/>
          <p:nvPr/>
        </p:nvSpPr>
        <p:spPr>
          <a:xfrm>
            <a:off x="6675120" y="3200400"/>
            <a:ext cx="4693615" cy="0"/>
          </a:xfrm>
          <a:prstGeom prst="line">
            <a:avLst/>
          </a:prstGeom>
          <a:noFill/>
          <a:ln w="9525">
            <a:solidFill>
              <a:srgbClr val="D9D7D0"/>
            </a:solidFill>
            <a:prstDash val="solid"/>
          </a:ln>
        </p:spPr>
      </p:sp>
      <p:sp>
        <p:nvSpPr>
          <p:cNvPr id="30" name="Text 28"/>
          <p:cNvSpPr txBox="1"/>
          <p:nvPr/>
        </p:nvSpPr>
        <p:spPr>
          <a:xfrm>
            <a:off x="6675120" y="3319272"/>
            <a:ext cx="2926080" cy="228600"/>
          </a:xfrm>
          <a:prstGeom prst="rect">
            <a:avLst/>
          </a:prstGeom>
          <a:noFill/>
          <a:ln/>
        </p:spPr>
        <p:txBody>
          <a:bodyPr wrap="square" lIns="0" tIns="0" rIns="0" bIns="0" rtlCol="0" anchor="t"/>
          <a:lstStyle/>
          <a:p>
            <a:pPr algn="l" indent="0" marL="0">
              <a:buNone/>
            </a:pPr>
            <a:r>
              <a:rPr lang="en-US" sz="1250" dirty="0">
                <a:solidFill>
                  <a:srgbClr val="111111"/>
                </a:solidFill>
                <a:latin typeface="Arial" pitchFamily="34" charset="0"/>
                <a:ea typeface="Arial" pitchFamily="34" charset="-122"/>
                <a:cs typeface="Arial" pitchFamily="34" charset="-120"/>
              </a:rPr>
              <a:t>Browser tests, offline</a:t>
            </a:r>
            <a:endParaRPr lang="en-US" sz="1250" dirty="0"/>
          </a:p>
        </p:txBody>
      </p:sp>
      <p:sp>
        <p:nvSpPr>
          <p:cNvPr id="31" name="Text 29"/>
          <p:cNvSpPr txBox="1"/>
          <p:nvPr/>
        </p:nvSpPr>
        <p:spPr>
          <a:xfrm>
            <a:off x="6675120" y="3566160"/>
            <a:ext cx="3108960" cy="201168"/>
          </a:xfrm>
          <a:prstGeom prst="rect">
            <a:avLst/>
          </a:prstGeom>
          <a:noFill/>
          <a:ln/>
        </p:spPr>
        <p:txBody>
          <a:bodyPr wrap="square" lIns="0" tIns="0" rIns="0" bIns="0" rtlCol="0" anchor="t"/>
          <a:lstStyle/>
          <a:p>
            <a:pPr algn="l" indent="0" marL="0">
              <a:buNone/>
            </a:pPr>
            <a:r>
              <a:rPr lang="en-US" sz="950" dirty="0">
                <a:solidFill>
                  <a:srgbClr val="787774"/>
                </a:solidFill>
                <a:latin typeface="Arial" pitchFamily="34" charset="0"/>
                <a:ea typeface="Arial" pitchFamily="34" charset="-122"/>
                <a:cs typeface="Arial" pitchFamily="34" charset="-120"/>
              </a:rPr>
              <a:t>Playwright, any hour</a:t>
            </a:r>
            <a:endParaRPr lang="en-US" sz="950" dirty="0"/>
          </a:p>
        </p:txBody>
      </p:sp>
      <p:sp>
        <p:nvSpPr>
          <p:cNvPr id="32" name="Text 30"/>
          <p:cNvSpPr txBox="1"/>
          <p:nvPr/>
        </p:nvSpPr>
        <p:spPr>
          <a:xfrm>
            <a:off x="9631375" y="3310128"/>
            <a:ext cx="1737360" cy="365760"/>
          </a:xfrm>
          <a:prstGeom prst="rect">
            <a:avLst/>
          </a:prstGeom>
          <a:noFill/>
          <a:ln/>
        </p:spPr>
        <p:txBody>
          <a:bodyPr wrap="square" lIns="0" tIns="0" rIns="0" bIns="0" rtlCol="0" anchor="t"/>
          <a:lstStyle/>
          <a:p>
            <a:pPr algn="r" indent="0" marL="0">
              <a:buNone/>
            </a:pPr>
            <a:r>
              <a:rPr lang="en-US" sz="2100" dirty="0">
                <a:solidFill>
                  <a:srgbClr val="111111"/>
                </a:solidFill>
                <a:latin typeface="Arial" pitchFamily="34" charset="0"/>
                <a:ea typeface="Arial" pitchFamily="34" charset="-122"/>
                <a:cs typeface="Arial" pitchFamily="34" charset="-120"/>
              </a:rPr>
              <a:t>15 / 15</a:t>
            </a:r>
            <a:endParaRPr lang="en-US" sz="2100" dirty="0"/>
          </a:p>
        </p:txBody>
      </p:sp>
      <p:sp>
        <p:nvSpPr>
          <p:cNvPr id="33" name="Shape 31"/>
          <p:cNvSpPr/>
          <p:nvPr/>
        </p:nvSpPr>
        <p:spPr>
          <a:xfrm>
            <a:off x="6675120" y="3840480"/>
            <a:ext cx="4693615" cy="0"/>
          </a:xfrm>
          <a:prstGeom prst="line">
            <a:avLst/>
          </a:prstGeom>
          <a:noFill/>
          <a:ln w="9525">
            <a:solidFill>
              <a:srgbClr val="D9D7D0"/>
            </a:solidFill>
            <a:prstDash val="solid"/>
          </a:ln>
        </p:spPr>
      </p:sp>
      <p:sp>
        <p:nvSpPr>
          <p:cNvPr id="34" name="Text 32"/>
          <p:cNvSpPr txBox="1"/>
          <p:nvPr/>
        </p:nvSpPr>
        <p:spPr>
          <a:xfrm>
            <a:off x="6675120" y="3959352"/>
            <a:ext cx="2926080" cy="228600"/>
          </a:xfrm>
          <a:prstGeom prst="rect">
            <a:avLst/>
          </a:prstGeom>
          <a:noFill/>
          <a:ln/>
        </p:spPr>
        <p:txBody>
          <a:bodyPr wrap="square" lIns="0" tIns="0" rIns="0" bIns="0" rtlCol="0" anchor="t"/>
          <a:lstStyle/>
          <a:p>
            <a:pPr algn="l" indent="0" marL="0">
              <a:buNone/>
            </a:pPr>
            <a:r>
              <a:rPr lang="en-US" sz="1250" dirty="0">
                <a:solidFill>
                  <a:srgbClr val="111111"/>
                </a:solidFill>
                <a:latin typeface="Arial" pitchFamily="34" charset="0"/>
                <a:ea typeface="Arial" pitchFamily="34" charset="-122"/>
                <a:cs typeface="Arial" pitchFamily="34" charset="-120"/>
              </a:rPr>
              <a:t>Backend tests</a:t>
            </a:r>
            <a:endParaRPr lang="en-US" sz="1250" dirty="0"/>
          </a:p>
        </p:txBody>
      </p:sp>
      <p:sp>
        <p:nvSpPr>
          <p:cNvPr id="35" name="Text 33"/>
          <p:cNvSpPr txBox="1"/>
          <p:nvPr/>
        </p:nvSpPr>
        <p:spPr>
          <a:xfrm>
            <a:off x="6675120" y="4206240"/>
            <a:ext cx="3108960" cy="201168"/>
          </a:xfrm>
          <a:prstGeom prst="rect">
            <a:avLst/>
          </a:prstGeom>
          <a:noFill/>
          <a:ln/>
        </p:spPr>
        <p:txBody>
          <a:bodyPr wrap="square" lIns="0" tIns="0" rIns="0" bIns="0" rtlCol="0" anchor="t"/>
          <a:lstStyle/>
          <a:p>
            <a:pPr algn="l" indent="0" marL="0">
              <a:buNone/>
            </a:pPr>
            <a:r>
              <a:rPr lang="en-US" sz="950" dirty="0">
                <a:solidFill>
                  <a:srgbClr val="787774"/>
                </a:solidFill>
                <a:latin typeface="Arial" pitchFamily="34" charset="0"/>
                <a:ea typeface="Arial" pitchFamily="34" charset="-122"/>
                <a:cs typeface="Arial" pitchFamily="34" charset="-120"/>
              </a:rPr>
              <a:t>Python 3.12 and 3.14, sockets blocked</a:t>
            </a:r>
            <a:endParaRPr lang="en-US" sz="950" dirty="0"/>
          </a:p>
        </p:txBody>
      </p:sp>
      <p:sp>
        <p:nvSpPr>
          <p:cNvPr id="36" name="Text 34"/>
          <p:cNvSpPr txBox="1"/>
          <p:nvPr/>
        </p:nvSpPr>
        <p:spPr>
          <a:xfrm>
            <a:off x="9631375" y="3950208"/>
            <a:ext cx="1737360" cy="365760"/>
          </a:xfrm>
          <a:prstGeom prst="rect">
            <a:avLst/>
          </a:prstGeom>
          <a:noFill/>
          <a:ln/>
        </p:spPr>
        <p:txBody>
          <a:bodyPr wrap="square" lIns="0" tIns="0" rIns="0" bIns="0" rtlCol="0" anchor="t"/>
          <a:lstStyle/>
          <a:p>
            <a:pPr algn="r" indent="0" marL="0">
              <a:buNone/>
            </a:pPr>
            <a:r>
              <a:rPr lang="en-US" sz="2100" dirty="0">
                <a:solidFill>
                  <a:srgbClr val="111111"/>
                </a:solidFill>
                <a:latin typeface="Arial" pitchFamily="34" charset="0"/>
                <a:ea typeface="Arial" pitchFamily="34" charset="-122"/>
                <a:cs typeface="Arial" pitchFamily="34" charset="-120"/>
              </a:rPr>
              <a:t>107</a:t>
            </a:r>
            <a:endParaRPr lang="en-US" sz="2100" dirty="0"/>
          </a:p>
        </p:txBody>
      </p:sp>
      <p:sp>
        <p:nvSpPr>
          <p:cNvPr id="37" name="Shape 35"/>
          <p:cNvSpPr/>
          <p:nvPr/>
        </p:nvSpPr>
        <p:spPr>
          <a:xfrm>
            <a:off x="6675120" y="4480560"/>
            <a:ext cx="4693615" cy="0"/>
          </a:xfrm>
          <a:prstGeom prst="line">
            <a:avLst/>
          </a:prstGeom>
          <a:noFill/>
          <a:ln w="9525">
            <a:solidFill>
              <a:srgbClr val="D9D7D0"/>
            </a:solidFill>
            <a:prstDash val="solid"/>
          </a:ln>
        </p:spPr>
      </p:sp>
      <p:sp>
        <p:nvSpPr>
          <p:cNvPr id="38" name="Text 36"/>
          <p:cNvSpPr txBox="1"/>
          <p:nvPr/>
        </p:nvSpPr>
        <p:spPr>
          <a:xfrm>
            <a:off x="6675120" y="4599432"/>
            <a:ext cx="2926080" cy="228600"/>
          </a:xfrm>
          <a:prstGeom prst="rect">
            <a:avLst/>
          </a:prstGeom>
          <a:noFill/>
          <a:ln/>
        </p:spPr>
        <p:txBody>
          <a:bodyPr wrap="square" lIns="0" tIns="0" rIns="0" bIns="0" rtlCol="0" anchor="t"/>
          <a:lstStyle/>
          <a:p>
            <a:pPr algn="l" indent="0" marL="0">
              <a:buNone/>
            </a:pPr>
            <a:r>
              <a:rPr lang="en-US" sz="1250" dirty="0">
                <a:solidFill>
                  <a:srgbClr val="111111"/>
                </a:solidFill>
                <a:latin typeface="Arial" pitchFamily="34" charset="0"/>
                <a:ea typeface="Arial" pitchFamily="34" charset="-122"/>
                <a:cs typeface="Arial" pitchFamily="34" charset="-120"/>
              </a:rPr>
              <a:t>Front-end tests</a:t>
            </a:r>
            <a:endParaRPr lang="en-US" sz="1250" dirty="0"/>
          </a:p>
        </p:txBody>
      </p:sp>
      <p:sp>
        <p:nvSpPr>
          <p:cNvPr id="39" name="Text 37"/>
          <p:cNvSpPr txBox="1"/>
          <p:nvPr/>
        </p:nvSpPr>
        <p:spPr>
          <a:xfrm>
            <a:off x="6675120" y="4846320"/>
            <a:ext cx="3108960" cy="201168"/>
          </a:xfrm>
          <a:prstGeom prst="rect">
            <a:avLst/>
          </a:prstGeom>
          <a:noFill/>
          <a:ln/>
        </p:spPr>
        <p:txBody>
          <a:bodyPr wrap="square" lIns="0" tIns="0" rIns="0" bIns="0" rtlCol="0" anchor="t"/>
          <a:lstStyle/>
          <a:p>
            <a:pPr algn="l" indent="0" marL="0">
              <a:buNone/>
            </a:pPr>
            <a:r>
              <a:rPr lang="en-US" sz="950" dirty="0">
                <a:solidFill>
                  <a:srgbClr val="787774"/>
                </a:solidFill>
                <a:latin typeface="Arial" pitchFamily="34" charset="0"/>
                <a:ea typeface="Arial" pitchFamily="34" charset="-122"/>
                <a:cs typeface="Arial" pitchFamily="34" charset="-120"/>
              </a:rPr>
              <a:t>Vitest</a:t>
            </a:r>
            <a:endParaRPr lang="en-US" sz="950" dirty="0"/>
          </a:p>
        </p:txBody>
      </p:sp>
      <p:sp>
        <p:nvSpPr>
          <p:cNvPr id="40" name="Text 38"/>
          <p:cNvSpPr txBox="1"/>
          <p:nvPr/>
        </p:nvSpPr>
        <p:spPr>
          <a:xfrm>
            <a:off x="9631375" y="4590288"/>
            <a:ext cx="1737360" cy="365760"/>
          </a:xfrm>
          <a:prstGeom prst="rect">
            <a:avLst/>
          </a:prstGeom>
          <a:noFill/>
          <a:ln/>
        </p:spPr>
        <p:txBody>
          <a:bodyPr wrap="square" lIns="0" tIns="0" rIns="0" bIns="0" rtlCol="0" anchor="t"/>
          <a:lstStyle/>
          <a:p>
            <a:pPr algn="r" indent="0" marL="0">
              <a:buNone/>
            </a:pPr>
            <a:r>
              <a:rPr lang="en-US" sz="2100" dirty="0">
                <a:solidFill>
                  <a:srgbClr val="111111"/>
                </a:solidFill>
                <a:latin typeface="Arial" pitchFamily="34" charset="0"/>
                <a:ea typeface="Arial" pitchFamily="34" charset="-122"/>
                <a:cs typeface="Arial" pitchFamily="34" charset="-120"/>
              </a:rPr>
              <a:t>112</a:t>
            </a:r>
            <a:endParaRPr lang="en-US" sz="2100" dirty="0"/>
          </a:p>
        </p:txBody>
      </p:sp>
      <p:sp>
        <p:nvSpPr>
          <p:cNvPr id="41" name="Shape 39"/>
          <p:cNvSpPr/>
          <p:nvPr/>
        </p:nvSpPr>
        <p:spPr>
          <a:xfrm>
            <a:off x="6675120" y="5120640"/>
            <a:ext cx="4693615" cy="0"/>
          </a:xfrm>
          <a:prstGeom prst="line">
            <a:avLst/>
          </a:prstGeom>
          <a:noFill/>
          <a:ln w="9525">
            <a:solidFill>
              <a:srgbClr val="D9D7D0"/>
            </a:solidFill>
            <a:prstDash val="solid"/>
          </a:ln>
        </p:spPr>
      </p:sp>
      <p:sp>
        <p:nvSpPr>
          <p:cNvPr id="42" name="Text 40"/>
          <p:cNvSpPr txBox="1"/>
          <p:nvPr/>
        </p:nvSpPr>
        <p:spPr>
          <a:xfrm>
            <a:off x="6675120" y="5239512"/>
            <a:ext cx="2926080" cy="228600"/>
          </a:xfrm>
          <a:prstGeom prst="rect">
            <a:avLst/>
          </a:prstGeom>
          <a:noFill/>
          <a:ln/>
        </p:spPr>
        <p:txBody>
          <a:bodyPr wrap="square" lIns="0" tIns="0" rIns="0" bIns="0" rtlCol="0" anchor="t"/>
          <a:lstStyle/>
          <a:p>
            <a:pPr algn="l" indent="0" marL="0">
              <a:buNone/>
            </a:pPr>
            <a:r>
              <a:rPr lang="en-US" sz="1250" dirty="0">
                <a:solidFill>
                  <a:srgbClr val="111111"/>
                </a:solidFill>
                <a:latin typeface="Arial" pitchFamily="34" charset="0"/>
                <a:ea typeface="Arial" pitchFamily="34" charset="-122"/>
                <a:cs typeface="Arial" pitchFamily="34" charset="-120"/>
              </a:rPr>
              <a:t>Accessibility scan</a:t>
            </a:r>
            <a:endParaRPr lang="en-US" sz="1250" dirty="0"/>
          </a:p>
        </p:txBody>
      </p:sp>
      <p:sp>
        <p:nvSpPr>
          <p:cNvPr id="43" name="Text 41"/>
          <p:cNvSpPr txBox="1"/>
          <p:nvPr/>
        </p:nvSpPr>
        <p:spPr>
          <a:xfrm>
            <a:off x="6675120" y="5486400"/>
            <a:ext cx="3108960" cy="201168"/>
          </a:xfrm>
          <a:prstGeom prst="rect">
            <a:avLst/>
          </a:prstGeom>
          <a:noFill/>
          <a:ln/>
        </p:spPr>
        <p:txBody>
          <a:bodyPr wrap="square" lIns="0" tIns="0" rIns="0" bIns="0" rtlCol="0" anchor="t"/>
          <a:lstStyle/>
          <a:p>
            <a:pPr algn="l" indent="0" marL="0">
              <a:buNone/>
            </a:pPr>
            <a:r>
              <a:rPr lang="en-US" sz="950" dirty="0">
                <a:solidFill>
                  <a:srgbClr val="787774"/>
                </a:solidFill>
                <a:latin typeface="Arial" pitchFamily="34" charset="0"/>
                <a:ea typeface="Arial" pitchFamily="34" charset="-122"/>
                <a:cs typeface="Arial" pitchFamily="34" charset="-120"/>
              </a:rPr>
              <a:t>axe, every page, both themes</a:t>
            </a:r>
            <a:endParaRPr lang="en-US" sz="950" dirty="0"/>
          </a:p>
        </p:txBody>
      </p:sp>
      <p:sp>
        <p:nvSpPr>
          <p:cNvPr id="44" name="Text 42"/>
          <p:cNvSpPr txBox="1"/>
          <p:nvPr/>
        </p:nvSpPr>
        <p:spPr>
          <a:xfrm>
            <a:off x="9631375" y="5230368"/>
            <a:ext cx="1737360" cy="365760"/>
          </a:xfrm>
          <a:prstGeom prst="rect">
            <a:avLst/>
          </a:prstGeom>
          <a:noFill/>
          <a:ln/>
        </p:spPr>
        <p:txBody>
          <a:bodyPr wrap="square" lIns="0" tIns="0" rIns="0" bIns="0" rtlCol="0" anchor="t"/>
          <a:lstStyle/>
          <a:p>
            <a:pPr algn="r" indent="0" marL="0">
              <a:buNone/>
            </a:pPr>
            <a:r>
              <a:rPr lang="en-US" sz="2100" dirty="0">
                <a:solidFill>
                  <a:srgbClr val="111111"/>
                </a:solidFill>
                <a:latin typeface="Arial" pitchFamily="34" charset="0"/>
                <a:ea typeface="Arial" pitchFamily="34" charset="-122"/>
                <a:cs typeface="Arial" pitchFamily="34" charset="-120"/>
              </a:rPr>
              <a:t>0 serious</a:t>
            </a:r>
            <a:endParaRPr lang="en-US" sz="2100" dirty="0"/>
          </a:p>
        </p:txBody>
      </p:sp>
      <p:sp>
        <p:nvSpPr>
          <p:cNvPr id="45" name="Shape 43"/>
          <p:cNvSpPr/>
          <p:nvPr/>
        </p:nvSpPr>
        <p:spPr>
          <a:xfrm>
            <a:off x="6675120" y="5760720"/>
            <a:ext cx="4693615" cy="0"/>
          </a:xfrm>
          <a:prstGeom prst="line">
            <a:avLst/>
          </a:prstGeom>
          <a:noFill/>
          <a:ln w="9525">
            <a:solidFill>
              <a:srgbClr val="D9D7D0"/>
            </a:solidFill>
            <a:prstDash val="solid"/>
          </a:ln>
        </p:spPr>
      </p:sp>
      <p:sp>
        <p:nvSpPr>
          <p:cNvPr id="46" name="Text 44"/>
          <p:cNvSpPr txBox="1"/>
          <p:nvPr/>
        </p:nvSpPr>
        <p:spPr>
          <a:xfrm>
            <a:off x="822960" y="6400800"/>
            <a:ext cx="2743200" cy="201168"/>
          </a:xfrm>
          <a:prstGeom prst="rect">
            <a:avLst/>
          </a:prstGeom>
          <a:noFill/>
          <a:ln/>
        </p:spPr>
        <p:txBody>
          <a:bodyPr wrap="square" lIns="0" tIns="0" rIns="0" bIns="0" rtlCol="0" anchor="t"/>
          <a:lstStyle/>
          <a:p>
            <a:pPr algn="l" indent="0" marL="0">
              <a:buNone/>
            </a:pPr>
            <a:r>
              <a:rPr lang="en-US" sz="1000" i="1" dirty="0">
                <a:solidFill>
                  <a:srgbClr val="787774"/>
                </a:solidFill>
                <a:latin typeface="Georgia" pitchFamily="34" charset="0"/>
                <a:ea typeface="Georgia" pitchFamily="34" charset="-122"/>
                <a:cs typeface="Georgia" pitchFamily="34" charset="-120"/>
              </a:rPr>
              <a:t>MarketLens</a:t>
            </a:r>
            <a:endParaRPr lang="en-US" sz="1000" dirty="0"/>
          </a:p>
        </p:txBody>
      </p:sp>
      <p:sp>
        <p:nvSpPr>
          <p:cNvPr id="47" name="Text 45"/>
          <p:cNvSpPr txBox="1"/>
          <p:nvPr/>
        </p:nvSpPr>
        <p:spPr>
          <a:xfrm>
            <a:off x="9997135" y="6400800"/>
            <a:ext cx="1371600" cy="201168"/>
          </a:xfrm>
          <a:prstGeom prst="rect">
            <a:avLst/>
          </a:prstGeom>
          <a:noFill/>
          <a:ln/>
        </p:spPr>
        <p:txBody>
          <a:bodyPr wrap="square" lIns="0" tIns="0" rIns="0" bIns="0" rtlCol="0" anchor="t"/>
          <a:lstStyle/>
          <a:p>
            <a:pPr algn="r" indent="0" marL="0">
              <a:buNone/>
            </a:pPr>
            <a:r>
              <a:rPr lang="en-US" sz="900" spc="100" kern="0" dirty="0">
                <a:solidFill>
                  <a:srgbClr val="787774"/>
                </a:solidFill>
                <a:latin typeface="Arial" pitchFamily="34" charset="0"/>
                <a:ea typeface="Arial" pitchFamily="34" charset="-122"/>
                <a:cs typeface="Arial" pitchFamily="34" charset="-120"/>
              </a:rPr>
              <a:t>09 / 10</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txBox="1"/>
          <p:nvPr/>
        </p:nvSpPr>
        <p:spPr>
          <a:xfrm>
            <a:off x="822960" y="1097280"/>
            <a:ext cx="10545775" cy="1188720"/>
          </a:xfrm>
          <a:prstGeom prst="rect">
            <a:avLst/>
          </a:prstGeom>
          <a:noFill/>
          <a:ln/>
        </p:spPr>
        <p:txBody>
          <a:bodyPr wrap="square" lIns="0" tIns="0" rIns="0" bIns="0" rtlCol="0" anchor="t"/>
          <a:lstStyle/>
          <a:p>
            <a:pPr algn="ctr" indent="0" marL="0">
              <a:lnSpc>
                <a:spcPct val="95000"/>
              </a:lnSpc>
              <a:buNone/>
            </a:pPr>
            <a:r>
              <a:rPr lang="en-US" sz="6600" spc="-140" kern="0" dirty="0">
                <a:solidFill>
                  <a:srgbClr val="111111"/>
                </a:solidFill>
                <a:latin typeface="Georgia" pitchFamily="34" charset="0"/>
                <a:ea typeface="Georgia" pitchFamily="34" charset="-122"/>
                <a:cs typeface="Georgia" pitchFamily="34" charset="-120"/>
              </a:rPr>
              <a:t>Thank you.</a:t>
            </a:r>
            <a:endParaRPr lang="en-US" sz="6600" dirty="0"/>
          </a:p>
        </p:txBody>
      </p:sp>
      <p:sp>
        <p:nvSpPr>
          <p:cNvPr id="3" name="Text 1"/>
          <p:cNvSpPr txBox="1"/>
          <p:nvPr/>
        </p:nvSpPr>
        <p:spPr>
          <a:xfrm>
            <a:off x="822960" y="2423160"/>
            <a:ext cx="10545775" cy="320040"/>
          </a:xfrm>
          <a:prstGeom prst="rect">
            <a:avLst/>
          </a:prstGeom>
          <a:noFill/>
          <a:ln/>
        </p:spPr>
        <p:txBody>
          <a:bodyPr wrap="square" lIns="0" tIns="0" rIns="0" bIns="0" rtlCol="0" anchor="t"/>
          <a:lstStyle/>
          <a:p>
            <a:pPr algn="ctr" indent="0" marL="0">
              <a:buNone/>
            </a:pPr>
            <a:r>
              <a:rPr lang="en-US" sz="1600" dirty="0">
                <a:solidFill>
                  <a:srgbClr val="787774"/>
                </a:solidFill>
                <a:latin typeface="Arial" pitchFamily="34" charset="0"/>
                <a:ea typeface="Arial" pitchFamily="34" charset="-122"/>
                <a:cs typeface="Arial" pitchFamily="34" charset="-120"/>
              </a:rPr>
              <a:t>Questions are welcome.</a:t>
            </a:r>
            <a:endParaRPr lang="en-US" sz="1600" dirty="0"/>
          </a:p>
        </p:txBody>
      </p:sp>
      <p:sp>
        <p:nvSpPr>
          <p:cNvPr id="4" name="Shape 2"/>
          <p:cNvSpPr/>
          <p:nvPr/>
        </p:nvSpPr>
        <p:spPr>
          <a:xfrm>
            <a:off x="822960" y="3383280"/>
            <a:ext cx="10545775" cy="0"/>
          </a:xfrm>
          <a:prstGeom prst="line">
            <a:avLst/>
          </a:prstGeom>
          <a:noFill/>
          <a:ln w="9525">
            <a:solidFill>
              <a:srgbClr val="D9D7D0"/>
            </a:solidFill>
            <a:prstDash val="solid"/>
          </a:ln>
        </p:spPr>
      </p:sp>
      <p:sp>
        <p:nvSpPr>
          <p:cNvPr id="5" name="Text 3"/>
          <p:cNvSpPr txBox="1"/>
          <p:nvPr/>
        </p:nvSpPr>
        <p:spPr>
          <a:xfrm>
            <a:off x="822960" y="3611880"/>
            <a:ext cx="365760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NEXT</a:t>
            </a:r>
            <a:endParaRPr lang="en-US" sz="850" dirty="0"/>
          </a:p>
        </p:txBody>
      </p:sp>
      <p:sp>
        <p:nvSpPr>
          <p:cNvPr id="6" name="Text 4"/>
          <p:cNvSpPr txBox="1"/>
          <p:nvPr/>
        </p:nvSpPr>
        <p:spPr>
          <a:xfrm>
            <a:off x="822960" y="3931920"/>
            <a:ext cx="3840480" cy="1554480"/>
          </a:xfrm>
          <a:prstGeom prst="rect">
            <a:avLst/>
          </a:prstGeom>
          <a:noFill/>
          <a:ln/>
        </p:spPr>
        <p:txBody>
          <a:bodyPr wrap="square" lIns="0" tIns="0" rIns="0" bIns="0" rtlCol="0" anchor="t"/>
          <a:lstStyle/>
          <a:p>
            <a:pPr algn="l" indent="0" marL="0">
              <a:lnSpc>
                <a:spcPct val="125000"/>
              </a:lnSpc>
              <a:spcAft>
                <a:spcPts val="400"/>
              </a:spcAft>
              <a:buNone/>
            </a:pPr>
            <a:r>
              <a:rPr lang="en-US" sz="1250" dirty="0">
                <a:solidFill>
                  <a:srgbClr val="2F3437"/>
                </a:solidFill>
                <a:latin typeface="Arial" pitchFamily="34" charset="0"/>
                <a:ea typeface="Arial" pitchFamily="34" charset="-122"/>
                <a:cs typeface="Arial" pitchFamily="34" charset="-120"/>
              </a:rPr>
              <a:t>Browser tests in CI</a:t>
            </a:r>
            <a:endParaRPr lang="en-US" sz="1250" dirty="0"/>
          </a:p>
          <a:p>
            <a:pPr algn="l" indent="0" marL="0">
              <a:lnSpc>
                <a:spcPct val="125000"/>
              </a:lnSpc>
              <a:spcAft>
                <a:spcPts val="400"/>
              </a:spcAft>
              <a:buNone/>
            </a:pPr>
            <a:r>
              <a:rPr lang="en-US" sz="1250" dirty="0">
                <a:solidFill>
                  <a:srgbClr val="2F3437"/>
                </a:solidFill>
                <a:latin typeface="Arial" pitchFamily="34" charset="0"/>
                <a:ea typeface="Arial" pitchFamily="34" charset="-122"/>
                <a:cs typeface="Arial" pitchFamily="34" charset="-120"/>
              </a:rPr>
              <a:t>Rate limiting and tighter CORS</a:t>
            </a:r>
            <a:endParaRPr lang="en-US" sz="1250" dirty="0"/>
          </a:p>
          <a:p>
            <a:pPr algn="l" indent="0" marL="0">
              <a:lnSpc>
                <a:spcPct val="125000"/>
              </a:lnSpc>
              <a:spcAft>
                <a:spcPts val="400"/>
              </a:spcAft>
              <a:buNone/>
            </a:pPr>
            <a:r>
              <a:rPr lang="en-US" sz="1250" dirty="0">
                <a:solidFill>
                  <a:srgbClr val="2F3437"/>
                </a:solidFill>
                <a:latin typeface="Arial" pitchFamily="34" charset="0"/>
                <a:ea typeface="Arial" pitchFamily="34" charset="-122"/>
                <a:cs typeface="Arial" pitchFamily="34" charset="-120"/>
              </a:rPr>
              <a:t>A documented broker data adapter</a:t>
            </a:r>
            <a:endParaRPr lang="en-US" sz="1250" dirty="0"/>
          </a:p>
          <a:p>
            <a:pPr algn="l" indent="0" marL="0">
              <a:lnSpc>
                <a:spcPct val="125000"/>
              </a:lnSpc>
              <a:spcAft>
                <a:spcPts val="400"/>
              </a:spcAft>
              <a:buNone/>
            </a:pPr>
            <a:r>
              <a:rPr lang="en-US" sz="1250" dirty="0">
                <a:solidFill>
                  <a:srgbClr val="2F3437"/>
                </a:solidFill>
                <a:latin typeface="Arial" pitchFamily="34" charset="0"/>
                <a:ea typeface="Arial" pitchFamily="34" charset="-122"/>
                <a:cs typeface="Arial" pitchFamily="34" charset="-120"/>
              </a:rPr>
              <a:t>Fee schedule checked against NSE circulars</a:t>
            </a:r>
            <a:endParaRPr lang="en-US" sz="1250" dirty="0"/>
          </a:p>
        </p:txBody>
      </p:sp>
      <p:sp>
        <p:nvSpPr>
          <p:cNvPr id="7" name="Text 5"/>
          <p:cNvSpPr txBox="1"/>
          <p:nvPr/>
        </p:nvSpPr>
        <p:spPr>
          <a:xfrm>
            <a:off x="5120640" y="3611880"/>
            <a:ext cx="274320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TEAM</a:t>
            </a:r>
            <a:endParaRPr lang="en-US" sz="850" dirty="0"/>
          </a:p>
        </p:txBody>
      </p:sp>
      <p:sp>
        <p:nvSpPr>
          <p:cNvPr id="8" name="Text 6"/>
          <p:cNvSpPr txBox="1"/>
          <p:nvPr/>
        </p:nvSpPr>
        <p:spPr>
          <a:xfrm>
            <a:off x="5120640" y="3931920"/>
            <a:ext cx="292608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Shreya Sharma</a:t>
            </a:r>
            <a:endParaRPr lang="en-US" sz="1400" dirty="0"/>
          </a:p>
        </p:txBody>
      </p:sp>
      <p:sp>
        <p:nvSpPr>
          <p:cNvPr id="9" name="Text 7"/>
          <p:cNvSpPr txBox="1"/>
          <p:nvPr/>
        </p:nvSpPr>
        <p:spPr>
          <a:xfrm>
            <a:off x="5120640" y="4206240"/>
            <a:ext cx="2926080" cy="201168"/>
          </a:xfrm>
          <a:prstGeom prst="rect">
            <a:avLst/>
          </a:prstGeom>
          <a:noFill/>
          <a:ln/>
        </p:spPr>
        <p:txBody>
          <a:bodyPr wrap="square" lIns="0" tIns="0" rIns="0" bIns="0" rtlCol="0" anchor="t"/>
          <a:lstStyle/>
          <a:p>
            <a:pPr algn="l" indent="0" marL="0">
              <a:buNone/>
            </a:pPr>
            <a:r>
              <a:rPr lang="en-US" sz="1000" dirty="0">
                <a:solidFill>
                  <a:srgbClr val="787774"/>
                </a:solidFill>
                <a:latin typeface="Arial" pitchFamily="34" charset="0"/>
                <a:ea typeface="Arial" pitchFamily="34" charset="-122"/>
                <a:cs typeface="Arial" pitchFamily="34" charset="-120"/>
              </a:rPr>
              <a:t>Roll 14  ·  Batch B1</a:t>
            </a:r>
            <a:endParaRPr lang="en-US" sz="1000" dirty="0"/>
          </a:p>
        </p:txBody>
      </p:sp>
      <p:sp>
        <p:nvSpPr>
          <p:cNvPr id="10" name="Text 8"/>
          <p:cNvSpPr txBox="1"/>
          <p:nvPr/>
        </p:nvSpPr>
        <p:spPr>
          <a:xfrm>
            <a:off x="5120640" y="4498848"/>
            <a:ext cx="292608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Krish Potanwar</a:t>
            </a:r>
            <a:endParaRPr lang="en-US" sz="1400" dirty="0"/>
          </a:p>
        </p:txBody>
      </p:sp>
      <p:sp>
        <p:nvSpPr>
          <p:cNvPr id="11" name="Text 9"/>
          <p:cNvSpPr txBox="1"/>
          <p:nvPr/>
        </p:nvSpPr>
        <p:spPr>
          <a:xfrm>
            <a:off x="5120640" y="4773168"/>
            <a:ext cx="2926080" cy="201168"/>
          </a:xfrm>
          <a:prstGeom prst="rect">
            <a:avLst/>
          </a:prstGeom>
          <a:noFill/>
          <a:ln/>
        </p:spPr>
        <p:txBody>
          <a:bodyPr wrap="square" lIns="0" tIns="0" rIns="0" bIns="0" rtlCol="0" anchor="t"/>
          <a:lstStyle/>
          <a:p>
            <a:pPr algn="l" indent="0" marL="0">
              <a:buNone/>
            </a:pPr>
            <a:r>
              <a:rPr lang="en-US" sz="1000" dirty="0">
                <a:solidFill>
                  <a:srgbClr val="787774"/>
                </a:solidFill>
                <a:latin typeface="Arial" pitchFamily="34" charset="0"/>
                <a:ea typeface="Arial" pitchFamily="34" charset="-122"/>
                <a:cs typeface="Arial" pitchFamily="34" charset="-120"/>
              </a:rPr>
              <a:t>Roll 21  ·  Batch B2</a:t>
            </a:r>
            <a:endParaRPr lang="en-US" sz="1000" dirty="0"/>
          </a:p>
        </p:txBody>
      </p:sp>
      <p:sp>
        <p:nvSpPr>
          <p:cNvPr id="12" name="Text 10"/>
          <p:cNvSpPr txBox="1"/>
          <p:nvPr/>
        </p:nvSpPr>
        <p:spPr>
          <a:xfrm>
            <a:off x="5120640" y="5065776"/>
            <a:ext cx="2926080" cy="274320"/>
          </a:xfrm>
          <a:prstGeom prst="rect">
            <a:avLst/>
          </a:prstGeom>
          <a:noFill/>
          <a:ln/>
        </p:spPr>
        <p:txBody>
          <a:bodyPr wrap="square" lIns="0" tIns="0" rIns="0" bIns="0" rtlCol="0" anchor="t"/>
          <a:lstStyle/>
          <a:p>
            <a:pPr algn="l" indent="0" marL="0">
              <a:buNone/>
            </a:pPr>
            <a:r>
              <a:rPr lang="en-US" sz="1400" dirty="0">
                <a:solidFill>
                  <a:srgbClr val="111111"/>
                </a:solidFill>
                <a:latin typeface="Georgia" pitchFamily="34" charset="0"/>
                <a:ea typeface="Georgia" pitchFamily="34" charset="-122"/>
                <a:cs typeface="Georgia" pitchFamily="34" charset="-120"/>
              </a:rPr>
              <a:t>Dhanashree Sainis</a:t>
            </a:r>
            <a:endParaRPr lang="en-US" sz="1400" dirty="0"/>
          </a:p>
        </p:txBody>
      </p:sp>
      <p:sp>
        <p:nvSpPr>
          <p:cNvPr id="13" name="Text 11"/>
          <p:cNvSpPr txBox="1"/>
          <p:nvPr/>
        </p:nvSpPr>
        <p:spPr>
          <a:xfrm>
            <a:off x="5120640" y="5340096"/>
            <a:ext cx="2926080" cy="201168"/>
          </a:xfrm>
          <a:prstGeom prst="rect">
            <a:avLst/>
          </a:prstGeom>
          <a:noFill/>
          <a:ln/>
        </p:spPr>
        <p:txBody>
          <a:bodyPr wrap="square" lIns="0" tIns="0" rIns="0" bIns="0" rtlCol="0" anchor="t"/>
          <a:lstStyle/>
          <a:p>
            <a:pPr algn="l" indent="0" marL="0">
              <a:buNone/>
            </a:pPr>
            <a:r>
              <a:rPr lang="en-US" sz="1000" dirty="0">
                <a:solidFill>
                  <a:srgbClr val="787774"/>
                </a:solidFill>
                <a:latin typeface="Arial" pitchFamily="34" charset="0"/>
                <a:ea typeface="Arial" pitchFamily="34" charset="-122"/>
                <a:cs typeface="Arial" pitchFamily="34" charset="-120"/>
              </a:rPr>
              <a:t>Roll 28  ·  Batch B2</a:t>
            </a:r>
            <a:endParaRPr lang="en-US" sz="1000" dirty="0"/>
          </a:p>
        </p:txBody>
      </p:sp>
      <p:sp>
        <p:nvSpPr>
          <p:cNvPr id="14" name="Text 12"/>
          <p:cNvSpPr txBox="1"/>
          <p:nvPr/>
        </p:nvSpPr>
        <p:spPr>
          <a:xfrm>
            <a:off x="8503920" y="3611880"/>
            <a:ext cx="2743200" cy="201168"/>
          </a:xfrm>
          <a:prstGeom prst="rect">
            <a:avLst/>
          </a:prstGeom>
          <a:noFill/>
          <a:ln/>
        </p:spPr>
        <p:txBody>
          <a:bodyPr wrap="square" lIns="0" tIns="0" rIns="0" bIns="0" rtlCol="0" anchor="t"/>
          <a:lstStyle/>
          <a:p>
            <a:pPr algn="l" indent="0" marL="0">
              <a:buNone/>
            </a:pPr>
            <a:r>
              <a:rPr lang="en-US" sz="850" b="1" spc="180" kern="0" dirty="0">
                <a:solidFill>
                  <a:srgbClr val="787774"/>
                </a:solidFill>
                <a:latin typeface="Arial" pitchFamily="34" charset="0"/>
                <a:ea typeface="Arial" pitchFamily="34" charset="-122"/>
                <a:cs typeface="Arial" pitchFamily="34" charset="-120"/>
              </a:rPr>
              <a:t>TRY IT</a:t>
            </a:r>
            <a:endParaRPr lang="en-US" sz="850" dirty="0"/>
          </a:p>
        </p:txBody>
      </p:sp>
      <p:sp>
        <p:nvSpPr>
          <p:cNvPr id="15" name="Text 13"/>
          <p:cNvSpPr txBox="1"/>
          <p:nvPr/>
        </p:nvSpPr>
        <p:spPr>
          <a:xfrm>
            <a:off x="8503920" y="3931920"/>
            <a:ext cx="2864815" cy="1463040"/>
          </a:xfrm>
          <a:prstGeom prst="rect">
            <a:avLst/>
          </a:prstGeom>
          <a:noFill/>
          <a:ln/>
        </p:spPr>
        <p:txBody>
          <a:bodyPr wrap="square" lIns="0" tIns="0" rIns="0" bIns="0" rtlCol="0" anchor="t"/>
          <a:lstStyle/>
          <a:p>
            <a:pPr algn="l" indent="0" marL="0">
              <a:lnSpc>
                <a:spcPct val="125000"/>
              </a:lnSpc>
              <a:buNone/>
            </a:pPr>
            <a:r>
              <a:rPr lang="en-US" sz="1000" dirty="0">
                <a:solidFill>
                  <a:srgbClr val="787774"/>
                </a:solidFill>
                <a:latin typeface="Arial" pitchFamily="34" charset="0"/>
                <a:ea typeface="Arial" pitchFamily="34" charset="-122"/>
                <a:cs typeface="Arial" pitchFamily="34" charset="-120"/>
              </a:rPr>
              <a:t>Live demo</a:t>
            </a:r>
            <a:endParaRPr lang="en-US" sz="1200" dirty="0"/>
          </a:p>
          <a:p>
            <a:pPr algn="l" indent="0" marL="0">
              <a:lnSpc>
                <a:spcPct val="125000"/>
              </a:lnSpc>
              <a:buNone/>
            </a:pPr>
            <a:r>
              <a:rPr lang="en-US" sz="1200" u="sng" dirty="0">
                <a:solidFill>
                  <a:srgbClr val="111111"/>
                </a:solidFill>
                <a:latin typeface="Arial" pitchFamily="34" charset="0"/>
                <a:ea typeface="Arial" pitchFamily="34" charset="-122"/>
                <a:cs typeface="Arial" pitchFamily="34" charset="-120"/>
                <a:hlinkClick r:id="rId2" invalidUrl="" action="" tgtFrame="" tooltip="" history="1" highlightClick="0" endSnd="0">
                  <a:extLst>
                    <a:ext uri="{A12FA001-AC4F-418D-AE19-62706E023703}">
                      <ahyp:hlinkClr xmlns:ahyp="http://schemas.microsoft.com/office/drawing/2018/hyperlinkcolor" val="tx"/>
                    </a:ext>
                  </a:extLst>
                </a:hlinkClick>
              </a:rPr>
              <a:t>market-lens-kappa.vercel.app</a:t>
            </a:r>
            <a:endParaRPr lang="en-US" sz="1200" dirty="0"/>
          </a:p>
          <a:p>
            <a:pPr algn="l" indent="0" marL="0">
              <a:lnSpc>
                <a:spcPct val="125000"/>
              </a:lnSpc>
              <a:buNone/>
            </a:pPr>
            <a:r>
              <a:rPr lang="en-US" sz="800" dirty="0">
                <a:solidFill>
                  <a:srgbClr val="2F3437"/>
                </a:solidFill>
                <a:latin typeface="Arial" pitchFamily="34" charset="0"/>
                <a:ea typeface="Arial" pitchFamily="34" charset="-122"/>
                <a:cs typeface="Arial" pitchFamily="34" charset="-120"/>
              </a:rPr>
              <a:t> </a:t>
            </a:r>
            <a:endParaRPr lang="en-US" sz="1200" dirty="0"/>
          </a:p>
          <a:p>
            <a:pPr algn="l" indent="0" marL="0">
              <a:lnSpc>
                <a:spcPct val="125000"/>
              </a:lnSpc>
              <a:buNone/>
            </a:pPr>
            <a:r>
              <a:rPr lang="en-US" sz="1000" dirty="0">
                <a:solidFill>
                  <a:srgbClr val="787774"/>
                </a:solidFill>
                <a:latin typeface="Arial" pitchFamily="34" charset="0"/>
                <a:ea typeface="Arial" pitchFamily="34" charset="-122"/>
                <a:cs typeface="Arial" pitchFamily="34" charset="-120"/>
              </a:rPr>
              <a:t>Code</a:t>
            </a:r>
            <a:endParaRPr lang="en-US" sz="1200" dirty="0"/>
          </a:p>
          <a:p>
            <a:pPr algn="l" indent="0" marL="0">
              <a:lnSpc>
                <a:spcPct val="125000"/>
              </a:lnSpc>
              <a:buNone/>
            </a:pPr>
            <a:r>
              <a:rPr lang="en-US" sz="1200" u="sng" dirty="0">
                <a:solidFill>
                  <a:srgbClr val="111111"/>
                </a:solidFill>
                <a:latin typeface="Arial" pitchFamily="34" charset="0"/>
                <a:ea typeface="Arial" pitchFamily="34" charset="-122"/>
                <a:cs typeface="Arial" pitchFamily="34" charset="-120"/>
                <a:hlinkClick r:id="rId3" invalidUrl="" action="" tgtFrame="" tooltip="" history="1" highlightClick="0" endSnd="0">
                  <a:extLst>
                    <a:ext uri="{A12FA001-AC4F-418D-AE19-62706E023703}">
                      <ahyp:hlinkClr xmlns:ahyp="http://schemas.microsoft.com/office/drawing/2018/hyperlinkcolor" val="tx"/>
                    </a:ext>
                  </a:extLst>
                </a:hlinkClick>
              </a:rPr>
              <a:t>github.com/Krishpotanwar/MarketLens</a:t>
            </a:r>
            <a:endParaRPr lang="en-US" sz="1200" dirty="0"/>
          </a:p>
        </p:txBody>
      </p:sp>
      <p:sp>
        <p:nvSpPr>
          <p:cNvPr id="16" name="Text 14"/>
          <p:cNvSpPr txBox="1"/>
          <p:nvPr/>
        </p:nvSpPr>
        <p:spPr>
          <a:xfrm>
            <a:off x="822960" y="6400800"/>
            <a:ext cx="2743200" cy="201168"/>
          </a:xfrm>
          <a:prstGeom prst="rect">
            <a:avLst/>
          </a:prstGeom>
          <a:noFill/>
          <a:ln/>
        </p:spPr>
        <p:txBody>
          <a:bodyPr wrap="square" lIns="0" tIns="0" rIns="0" bIns="0" rtlCol="0" anchor="t"/>
          <a:lstStyle/>
          <a:p>
            <a:pPr algn="l" indent="0" marL="0">
              <a:buNone/>
            </a:pPr>
            <a:r>
              <a:rPr lang="en-US" sz="1000" i="1" dirty="0">
                <a:solidFill>
                  <a:srgbClr val="787774"/>
                </a:solidFill>
                <a:latin typeface="Georgia" pitchFamily="34" charset="0"/>
                <a:ea typeface="Georgia" pitchFamily="34" charset="-122"/>
                <a:cs typeface="Georgia" pitchFamily="34" charset="-120"/>
              </a:rPr>
              <a:t>MarketLens</a:t>
            </a:r>
            <a:endParaRPr lang="en-US" sz="1000" dirty="0"/>
          </a:p>
        </p:txBody>
      </p:sp>
      <p:sp>
        <p:nvSpPr>
          <p:cNvPr id="17" name="Text 15"/>
          <p:cNvSpPr txBox="1"/>
          <p:nvPr/>
        </p:nvSpPr>
        <p:spPr>
          <a:xfrm>
            <a:off x="9997135" y="6400800"/>
            <a:ext cx="1371600" cy="201168"/>
          </a:xfrm>
          <a:prstGeom prst="rect">
            <a:avLst/>
          </a:prstGeom>
          <a:noFill/>
          <a:ln/>
        </p:spPr>
        <p:txBody>
          <a:bodyPr wrap="square" lIns="0" tIns="0" rIns="0" bIns="0" rtlCol="0" anchor="t"/>
          <a:lstStyle/>
          <a:p>
            <a:pPr algn="r" indent="0" marL="0">
              <a:buNone/>
            </a:pPr>
            <a:r>
              <a:rPr lang="en-US" sz="900" spc="100" kern="0" dirty="0">
                <a:solidFill>
                  <a:srgbClr val="787774"/>
                </a:solidFill>
                <a:latin typeface="Arial" pitchFamily="34" charset="0"/>
                <a:ea typeface="Arial" pitchFamily="34" charset="-122"/>
                <a:cs typeface="Arial" pitchFamily="34" charset="-120"/>
              </a:rPr>
              <a:t>10 / 10</a:t>
            </a:r>
            <a:endParaRPr lang="en-US" sz="900" dirty="0"/>
          </a:p>
        </p:txBody>
      </p:sp>
    </p:spTree>
  </p:cSld>
  <p:clrMapOvr>
    <a:masterClrMapping/>
  </p:clrMapOvr>
</p:sld>
</file>

<file path=ppt/theme/theme1.xml><?xml version="1.0" encoding="utf-8"?>
<a:theme xmlns:a="http://schemas.openxmlformats.org/drawingml/2006/main" name="MarketLens Paper">
  <a:themeElements>
    <a:clrScheme name="MarketLens Paper">
      <a:dk1>
        <a:srgbClr val="111111"/>
      </a:dk1>
      <a:lt1>
        <a:srgbClr val="FFFFFF"/>
      </a:lt1>
      <a:dk2>
        <a:srgbClr val="2F3437"/>
      </a:dk2>
      <a:lt2>
        <a:srgbClr val="F7F6F3"/>
      </a:lt2>
      <a:accent1>
        <a:srgbClr val="9F2F2D"/>
      </a:accent1>
      <a:accent2>
        <a:srgbClr val="346538"/>
      </a:accent2>
      <a:accent3>
        <a:srgbClr val="1F6C9F"/>
      </a:accent3>
      <a:accent4>
        <a:srgbClr val="956400"/>
      </a:accent4>
      <a:accent5>
        <a:srgbClr val="787774"/>
      </a:accent5>
      <a:accent6>
        <a:srgbClr val="D9D7D0"/>
      </a:accent6>
      <a:hlink>
        <a:srgbClr val="1F6C9F"/>
      </a:hlink>
      <a:folHlink>
        <a:srgbClr val="787774"/>
      </a:folHlink>
    </a:clrScheme>
    <a:fontScheme name="MarketLens Paper">
      <a:majorFont>
        <a:latin typeface="Georg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MarketLens - DAV Semester 5</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MarketLens - DAV Semester 5 Project Presentation</dc:title>
  <dc:subject>A research workstation and paper-trading platform for Indian stocks, priced after costs</dc:subject>
  <dc:creator>Shreya Sharma, Krish Potanwar, Dhanashree Sainis</dc:creator>
  <cp:lastModifiedBy>Shreya Sharma, Krish Potanwar, Dhanashree Sainis</cp:lastModifiedBy>
  <cp:revision>1</cp:revision>
  <dcterms:created xsi:type="dcterms:W3CDTF">2026-10-29T03:00:46Z</dcterms:created>
  <dcterms:modified xsi:type="dcterms:W3CDTF">2026-10-29T03:00:46Z</dcterms:modified>
</cp:coreProperties>
</file>