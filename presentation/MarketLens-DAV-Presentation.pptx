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1.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hanashree: slides 1 to 4" id="{ead4dfa4-0b27-dcee-cf68-cffb656df8fd}">
          <p14:sldIdLst>
            <p14:sldId id="256"/>
            <p14:sldId id="257"/>
            <p14:sldId id="258"/>
            <p14:sldId id="259"/>
          </p14:sldIdLst>
        </p14:section>
        <p14:section name="Shreya: slides 5 to 8" id="{7b9d403a-f4bd-3a8c-37b6-1920a732ff7f}">
          <p14:sldIdLst>
            <p14:sldId id="260"/>
            <p14:sldId id="261"/>
            <p14:sldId id="262"/>
            <p14:sldId id="263"/>
          </p14:sldIdLst>
        </p14:section>
        <p14:section name="Krish: slides 9 to 12" id="{67b74b8c-60c1-04f5-735c-44ffa3c8547c}">
          <p14:sldIdLst>
            <p14:sldId id="264"/>
            <p14:sldId id="265"/>
            <p14:sldId id="266"/>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Rupees</c:v>
                </c:pt>
              </c:strCache>
            </c:strRef>
          </c:tx>
          <c:spPr>
            <a:solidFill>
              <a:srgbClr val="1F6F5C"/>
            </a:solidFill>
            <a:effectLst/>
          </c:spPr>
          <c:invertIfNegative val="0"/>
          <c:dLbls>
            <c:numFmt formatCode="0.00" sourceLinked="0"/>
            <c:txPr>
              <a:bodyPr/>
              <a:lstStyle/>
              <a:p>
                <a:pPr>
                  <a:defRPr b="0" i="0" strike="noStrike" sz="1000" u="none">
                    <a:solidFill>
                      <a:srgbClr val="16191C"/>
                    </a:solidFill>
                    <a:latin typeface="+mn-lt"/>
                  </a:defRPr>
                </a:pPr>
              </a:p>
            </c:txPr>
            <c:showLegendKey val="0"/>
            <c:showVal val="1"/>
            <c:showCatName val="0"/>
            <c:showSerName val="0"/>
            <c:showPercent val="0"/>
            <c:showBubbleSize val="0"/>
            <c:showLeaderLines val="0"/>
          </c:dLbls>
          <c:cat>
            <c:multiLvlStrRef>
              <c:f>Sheet1!$A$2:$A$8</c:f>
              <c:multiLvlStrCache>
                <c:ptCount val="7"/>
                <c:lvl>
                  <c:pt idx="0">
                    <c:v>Slippage</c:v>
                  </c:pt>
                  <c:pt idx="1">
                    <c:v>Brokerage</c:v>
                  </c:pt>
                  <c:pt idx="2">
                    <c:v>STT</c:v>
                  </c:pt>
                  <c:pt idx="3">
                    <c:v>GST</c:v>
                  </c:pt>
                  <c:pt idx="4">
                    <c:v>Exchange fee</c:v>
                  </c:pt>
                  <c:pt idx="5">
                    <c:v>Stamp duty</c:v>
                  </c:pt>
                  <c:pt idx="6">
                    <c:v>SEBI fee</c:v>
                  </c:pt>
                </c:lvl>
              </c:multiLvlStrCache>
            </c:multiLvlStrRef>
          </c:cat>
          <c:val>
            <c:numRef>
              <c:f>Sheet1!$B$2:$B$8</c:f>
              <c:numCache>
                <c:formatCode>General</c:formatCode>
                <c:ptCount val="7"/>
                <c:pt idx="0">
                  <c:v>100</c:v>
                </c:pt>
                <c:pt idx="1">
                  <c:v>40</c:v>
                </c:pt>
                <c:pt idx="2">
                  <c:v>25</c:v>
                </c:pt>
                <c:pt idx="3">
                  <c:v>8.3</c:v>
                </c:pt>
                <c:pt idx="4">
                  <c:v>5.94</c:v>
                </c:pt>
                <c:pt idx="5">
                  <c:v>3</c:v>
                </c:pt>
                <c:pt idx="6">
                  <c:v>0.2</c:v>
                </c:pt>
              </c:numCache>
            </c:numRef>
          </c:val>
        </c:ser>
        <c:dLbls>
          <c:numFmt formatCode="0.00" sourceLinked="0"/>
          <c:txPr>
            <a:bodyPr/>
            <a:lstStyle/>
            <a:p>
              <a:pPr>
                <a:defRPr b="0" i="0" strike="noStrike" sz="1000" u="none">
                  <a:solidFill>
                    <a:srgbClr val="16191C"/>
                  </a:solidFill>
                  <a:latin typeface="+mn-lt"/>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050" b="0" i="0" u="none" strike="noStrike">
                <a:solidFill>
                  <a:srgbClr val="3B4045"/>
                </a:solidFill>
                <a:latin typeface="+mn-lt"/>
              </a:defRPr>
            </a:pPr>
            <a:endParaRPr lang="en-US"/>
          </a:p>
        </c:txPr>
        <c:crossAx val="2094734552"/>
        <c:crosses val="autoZero"/>
        <c:auto val="1"/>
        <c:lblAlgn val="ctr"/>
        <c:noMultiLvlLbl val="1"/>
      </c:catAx>
      <c:valAx>
        <c:axId val="2094734552"/>
        <c:scaling>
          <c:orientation val="minMax"/>
          <c:max val="125"/>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FFFFF">
            <a:alpha val="0"/>
          </a:srgbClr>
        </a:solidFill>
        <a:ln>
          <a:noFill/>
        </a:ln>
        <a:effectLst/>
      </c:spPr>
    </c:plotArea>
    <c:plotVisOnly val="1"/>
    <c:dispBlanksAs val="span"/>
  </c:chart>
  <c:spPr>
    <a:solidFill>
      <a:srgbClr val="FFFFFF">
        <a:alpha val="0"/>
      </a:srgbClr>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DHANASHREE SAINIS · about 40 s
Good morning, everyone. We are Shreya Sharma, Krish Potanwar, and I am Dhanashree Sainis. Our Data Analytics and Visualization mini project is MarketLens, a research workstation and paper-trading platform for Indian stocks, built around one idea: show the truth after costs. The faint line running through these slides is the real NIFTY 50 over the last two years. I will introduce the project, the problem and our objectives. Shreya will cover the existing and proposed systems, the architecture, the technologies and our method. Krish will show the implementation, the results, the advantages and our conclusion.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DHANASHREE SAINIS · about 40 s
MarketLens is a web application for researching and paper-trading Indian stocks. It brings live market data, technical analysis, scenario modelling and a trading simulator that follows Indian market rules into one place. You can search all 13,109 NSE and BSE listings, study a stock's chart and indicators, generate scenarios, and place a paper trade, and every order shows exactly what it would cost. There are nine modules in four groups: Market, Intelligence, Execution and Research. It needs no paid data feed and no API key. The screenshot is the running app on live data, not a mock-up.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DHANASHREE SAINIS · about 55 s
Most paper-trading apps are flattering. They leave out statutory charges: STT, GST, stamp duty and exchange fees. They fill your order instantly at any hour, as if the market never closed. And most student data projects stop at a notebook and a stale CSV file. Here is what that hides. On a one-lakh-rupee intraday round trip, our engine charges 82 rupees 44 in brokerage and statutory fees, plus 100 rupees of slippage. That is 182 rupees, or 0.18 percent. The stock has to move that far in your favour just to break even. So our problem statement is: build a platform where a learner can research and paper-trade Indian stocks on live data, under real market rules, with every cost applied and every result open to audit.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DHANASHREE SAINIS · about 40 s
That gave us five objectives. One: show live, honest data, and when a feed fails, show a dash instead of an invented number. Two: follow Indian market rules, with sessions from 9:15 to 3:30, weekends and holidays closed, and intraday positions squared off at 3:15. Three: itemise every cost on every order. Four: make the research auditable, with no look-ahead, and results that cannot be edited once published. Five: turn the data into decisions, with indicators, scenarios and a risk simulation, in an interface that works from phone to desktop.
HAND-OFF: Shreya will now compare this with existing systems.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SHREYA SHARMA · about 60 s
Let us compare. Typical paper-trading simulators and student projects charge nothing, or a flat fee, and ignore STT, GST and stamp duty. They fill orders at any hour. Their data is a static file, and when a feed fails some of them fill the gap with a made-up number. Their backtests can peek at future prices, and nobody can re-check the results. Our proposed system, MarketLens, puts seven charges on every order, from one fee schedule. It enforces Indian session hours and the 3:15 square-off. It uses live data, and shows a dash and the source name when a feed is down. Its research fills orders at the next bar, keeps money as exact decimals, and fingerprints every run so nobody can edit it. And its scenario engine works offline, with Groq, Gemini or Grok as an option if you paste your own key.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SHREYA SHARMA · about 55 s
Here is the block diagram. The browser runs React 19 with TypeScript, hosted on Vercel, and refreshes every fifteen seconds. It talks to a FastAPI service on Render, which has 17 read-only routes and caches quotes for ten seconds. The API fetches quotes, candles and search from Yahoo's chart API, IPOs from the NSE website, headlines from Google News and fund NAVs from mfapi.in. Two paths are dashed. The AI providers are optional, and the browser calls them directly with the user's own key. The research core, a normalizer, backtester, forecaster, validator and publisher, runs offline on a synthetic fixture and publishes runs that the API serves. Keeping it apart from the live feed is what makes its numbers auditable. No order ever reaches a broker.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SHREYA SHARMA · about 60 s
The technologies. The front end is React 19, TypeScript 7 and Vite 8, with plain CSS and charts drawn as SVG, so there is no UI or chart library. The back end is Python 3.12 with FastAPI, Uvicorn, and HTTPX for asynchronous fetching. The research core keeps money in Python's Decimal type, stores runs in SQLite and fingerprints them with SHA-256. The data comes from free public sources, the AI is optional, and we test with Vitest, Playwright, axe-core and Python's unittest. On the hardware side this is a software project: we built it on ordinary laptops with Node 22 and Python 3.12. The web app is served from Vercel's edge network, and the API runs on Render's free tier, with 512 megabytes of RAM and a tenth of a CPU. A user needs only a browser, on a phone or a desktop.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SHREYA SHARMA · about 65 s
Our working process has five steps. Ingest: pull quotes, candles, IPOs, fund NAVs and news, cache them for ten seconds, and flag any gap instead of filling it. Analyse: compute the 20 and 50 day moving averages, RSI 14, VWAP and volatility from the stock's real daily prices. Model: generate bull, base, bear and black-swan scenarios, and run 500 Monte Carlo paths over 30 days. Simulate: a paper order needs a live price and an open session, and intraday positions close at 3:15. Account and audit: every charge is itemised, and research runs are fingerprinted and stored read-only. Under all of it is one identity: gross, minus charges, minus slippage, equals net. It is checked for every trade, for the whole run, and again by an independent validator. The backtest fills at the next bar's open, so it never sees the future, and the data is split 60, 20, 20 in time order.
HAND-OFF: Krish will show you the implementation.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KRISH POTANWAR · about 65 s
This is the implementation, running on live data. On the left is the paper-trading terminal after one round trip. We bought and sold 86 shares of Reliance at the same price, 1,158 rupees. The gross profit is zero, but the trade lost 181 rupees 89 to charges. That is the 0.18 percent from earlier, now in the real app. On the right is the AI Strategy Lab. It builds four scenarios, each with a target, a stop and an invalidation condition, and the screen labels them rule-based, not calibrated. Next to it is the Monte Carlo fan chart: 500 jump-diffusion paths over 30 days, with value at risk at 95 and 99 percent. The code is one repository with a React front end, a FastAPI back end that holds the research core, and end-to-end tests that run against a fake upstream. It deploys to Vercel and Render.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KRISH POTANWAR · about 90 s
The results. First, cost. A one-lakh round trip costs 182 rupees 44. Slippage is the largest part at 100 rupees, then brokerage 40, STT 25, GST about 8, exchange fee about 6, stamp duty 3, and the SEBI fee 20 paise. Second, the research run on our 224-bar synthetic fixture. It made zero trades, so net profit is zero, while buy-and-hold lost 589 rupees. The forecast scored a Brier of 0.537, worse than the 0.334 you get by repeating the training base rate. So there is no edge, and the system reports that instead of hiding it. Third, quality. We drove the app in a real browser, the way a user would: 138 checks on live data with zero console errors, and 124 each with the market feed off and with no backend, and nothing invented a price. We also have 107 backend tests, 112 front-end tests, 15 browser tests that run offline, and no serious accessibility issues. That user-style run caught what unit tests missed: Tata Motors had no price because Yahoo retired its ticker, a value at risk of minus 99 percent was a percentage printed as rupees, and the light theme was unreadable. Each one is fixed and now has a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KRISH POTANWAR · about 45 s
The advantages follow from that. Real costs on every order. Real Indian market rules. Honest data, never an invented price. Research anyone can re-check. Free to run, with no paid feed or key. And it works on a phone or a desktop, in light and dark themes. As for applications: classrooms, to teach trading costs and market rules on live data. New investors, to practise with virtual money. Strategy research, to test a rule on a reproducible backtest before trusting it. Data analytics teaching, because it covers the full pipeline. And as a base for a research tool on a licensed broker feed.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KRISH POTANWAR · about 45 s
To conclude. MarketLens covers the whole DAV pipeline: ingesting and cleaning live data, modelling and validating it, simulating risk with Monte Carlo, and visualising it in an interface people can use. Our biggest lesson is that a dashboard is only as good as the numbers behind it. For future scope, we want to run the browser tests in CI on every push, add rate limiting and stricter CORS, build a licensed broker data adapter, verify the fee schedule against NSE circulars, and run the backtest on real historical data. The live demo is at market-lens-kappa.vercel.app, and the code is on GitHub. Thank you. We are happy to take questions.
PRESENTER NOTE: Presenter only, do not read out: the Vercel site updates on every push, but the Render API redeploys on its own schedule and sleeps when idle (the first request can take up to a minute). Before a live demo, open /api/v1/market/status on the Render URL: it should name Yahoo Finance (unofficial), not Angel One SmartAPI.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market-lens-kappa.vercel.app" TargetMode="External"/><Relationship Id="rId1" Type="http://schemas.openxmlformats.org/officeDocument/2006/relationships/image" Target="../media/Slide-1-image-1.jpe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jpe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jpe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jpe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jpe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jpe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jpe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jpe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jpe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2" Type="http://schemas.openxmlformats.org/officeDocument/2006/relationships/chart" Target="/ppt/charts/chart1.xml"/><Relationship Id="rId1" Type="http://schemas.openxmlformats.org/officeDocument/2006/relationships/image" Target="../media/Slide-10-image-1.jpe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jpe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2" Type="http://schemas.openxmlformats.org/officeDocument/2006/relationships/hyperlink" Target="https://market-lens-kappa.vercel.app" TargetMode="External"/><Relationship Id="rId3" Type="http://schemas.openxmlformats.org/officeDocument/2006/relationships/hyperlink" Target="https://github.com/Krishpotanwar/MarketLens" TargetMode="External"/><Relationship Id="rId1" Type="http://schemas.openxmlformats.org/officeDocument/2006/relationships/image" Target="../media/Slide-12-image-1.jpeg"/><Relationship Id="rId4" Type="http://schemas.openxmlformats.org/officeDocument/2006/relationships/slideLayout" Target="../slideLayouts/slideLayout1.xml"/><Relationship Id="rId5"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94360" y="438912"/>
            <a:ext cx="2743200" cy="320040"/>
          </a:xfrm>
          <a:prstGeom prst="rect">
            <a:avLst/>
          </a:prstGeom>
          <a:noFill/>
          <a:ln/>
        </p:spPr>
        <p:txBody>
          <a:bodyPr wrap="square" lIns="0" tIns="0" rIns="0" bIns="0" rtlCol="0" anchor="t"/>
          <a:lstStyle/>
          <a:p>
            <a:pPr indent="0" marL="0">
              <a:buNone/>
            </a:pPr>
            <a:r>
              <a:rPr lang="en-US" sz="1800" dirty="0">
                <a:solidFill>
                  <a:srgbClr val="16191C"/>
                </a:solidFill>
                <a:latin typeface="Georgia" pitchFamily="34" charset="0"/>
                <a:ea typeface="Georgia" pitchFamily="34" charset="-122"/>
                <a:cs typeface="Georgia" pitchFamily="34" charset="-120"/>
              </a:rPr>
              <a:t>MarketLens</a:t>
            </a:r>
            <a:endParaRPr lang="en-US" sz="1800" dirty="0"/>
          </a:p>
        </p:txBody>
      </p:sp>
      <p:sp>
        <p:nvSpPr>
          <p:cNvPr id="3" name="Text 1"/>
          <p:cNvSpPr txBox="1"/>
          <p:nvPr/>
        </p:nvSpPr>
        <p:spPr>
          <a:xfrm>
            <a:off x="5193792" y="502920"/>
            <a:ext cx="6400800" cy="219456"/>
          </a:xfrm>
          <a:prstGeom prst="rect">
            <a:avLst/>
          </a:prstGeom>
          <a:noFill/>
          <a:ln/>
        </p:spPr>
        <p:txBody>
          <a:bodyPr wrap="square" lIns="0" tIns="0" rIns="0" bIns="0" rtlCol="0" anchor="t"/>
          <a:lstStyle/>
          <a:p>
            <a:pPr algn="r" indent="0" marL="0">
              <a:buNone/>
            </a:pPr>
            <a:r>
              <a:rPr lang="en-US" sz="900" spc="200" kern="0" dirty="0">
                <a:solidFill>
                  <a:srgbClr val="6F747A"/>
                </a:solidFill>
                <a:latin typeface="Arial" pitchFamily="34" charset="0"/>
                <a:ea typeface="Arial" pitchFamily="34" charset="-122"/>
                <a:cs typeface="Arial" pitchFamily="34" charset="-120"/>
              </a:rPr>
              <a:t>DATA ANALYTICS AND VISUALIZATION  ·  MINI PROJECT  ·  SEMESTER 5</a:t>
            </a:r>
            <a:endParaRPr lang="en-US" sz="900" dirty="0"/>
          </a:p>
        </p:txBody>
      </p:sp>
      <p:sp>
        <p:nvSpPr>
          <p:cNvPr id="4" name="Text 2"/>
          <p:cNvSpPr txBox="1"/>
          <p:nvPr/>
        </p:nvSpPr>
        <p:spPr>
          <a:xfrm>
            <a:off x="594360" y="1097280"/>
            <a:ext cx="7589520" cy="1828800"/>
          </a:xfrm>
          <a:prstGeom prst="rect">
            <a:avLst/>
          </a:prstGeom>
          <a:noFill/>
          <a:ln/>
        </p:spPr>
        <p:txBody>
          <a:bodyPr wrap="square" lIns="0" tIns="0" rIns="0" bIns="0" rtlCol="0" anchor="t"/>
          <a:lstStyle/>
          <a:p>
            <a:pPr indent="0" marL="0">
              <a:lnSpc>
                <a:spcPct val="95000"/>
              </a:lnSpc>
              <a:buNone/>
            </a:pPr>
            <a:r>
              <a:rPr lang="en-US" sz="6200" dirty="0">
                <a:solidFill>
                  <a:srgbClr val="16191C"/>
                </a:solidFill>
                <a:latin typeface="Georgia" pitchFamily="34" charset="0"/>
                <a:ea typeface="Georgia" pitchFamily="34" charset="-122"/>
                <a:cs typeface="Georgia" pitchFamily="34" charset="-120"/>
              </a:rPr>
              <a:t>Show the truth</a:t>
            </a:r>
            <a:endParaRPr lang="en-US" sz="6200" dirty="0"/>
          </a:p>
          <a:p>
            <a:pPr indent="0" marL="0">
              <a:lnSpc>
                <a:spcPct val="95000"/>
              </a:lnSpc>
              <a:buNone/>
            </a:pPr>
            <a:r>
              <a:rPr lang="en-US" sz="6200" dirty="0">
                <a:solidFill>
                  <a:srgbClr val="16191C"/>
                </a:solidFill>
                <a:latin typeface="Georgia" pitchFamily="34" charset="0"/>
                <a:ea typeface="Georgia" pitchFamily="34" charset="-122"/>
                <a:cs typeface="Georgia" pitchFamily="34" charset="-120"/>
              </a:rPr>
              <a:t>after costs.</a:t>
            </a:r>
            <a:endParaRPr lang="en-US" sz="6200" dirty="0"/>
          </a:p>
        </p:txBody>
      </p:sp>
      <p:sp>
        <p:nvSpPr>
          <p:cNvPr id="5" name="Text 3"/>
          <p:cNvSpPr txBox="1"/>
          <p:nvPr/>
        </p:nvSpPr>
        <p:spPr>
          <a:xfrm>
            <a:off x="594360" y="2971800"/>
            <a:ext cx="6217920" cy="731520"/>
          </a:xfrm>
          <a:prstGeom prst="rect">
            <a:avLst/>
          </a:prstGeom>
          <a:noFill/>
          <a:ln/>
        </p:spPr>
        <p:txBody>
          <a:bodyPr wrap="square" lIns="0" tIns="0" rIns="0" bIns="0" rtlCol="0" anchor="t"/>
          <a:lstStyle/>
          <a:p>
            <a:pPr indent="0" marL="0">
              <a:buNone/>
            </a:pPr>
            <a:r>
              <a:rPr lang="en-US" sz="1500" dirty="0">
                <a:solidFill>
                  <a:srgbClr val="3B4045"/>
                </a:solidFill>
                <a:latin typeface="Arial" pitchFamily="34" charset="0"/>
                <a:ea typeface="Arial" pitchFamily="34" charset="-122"/>
                <a:cs typeface="Arial" pitchFamily="34" charset="-120"/>
              </a:rPr>
              <a:t>A research workstation and paper-trading platform for Indian stocks: live prices, every rupee of cost itemised, and a dash where data is missing.</a:t>
            </a:r>
            <a:endParaRPr lang="en-US" sz="1500" dirty="0"/>
          </a:p>
        </p:txBody>
      </p:sp>
      <p:sp>
        <p:nvSpPr>
          <p:cNvPr id="6" name="Text 4"/>
          <p:cNvSpPr txBox="1"/>
          <p:nvPr/>
        </p:nvSpPr>
        <p:spPr>
          <a:xfrm>
            <a:off x="8595360" y="1188720"/>
            <a:ext cx="2999232" cy="219456"/>
          </a:xfrm>
          <a:prstGeom prst="rect">
            <a:avLst/>
          </a:prstGeom>
          <a:noFill/>
          <a:ln/>
        </p:spPr>
        <p:txBody>
          <a:bodyPr wrap="square" lIns="0" tIns="0" rIns="0" bIns="0" rtlCol="0" anchor="t"/>
          <a:lstStyle/>
          <a:p>
            <a:pPr indent="0" marL="0">
              <a:buNone/>
            </a:pPr>
            <a:r>
              <a:rPr lang="en-US" sz="950" b="1" spc="200" kern="0" dirty="0">
                <a:solidFill>
                  <a:srgbClr val="1F6F5C"/>
                </a:solidFill>
                <a:latin typeface="Arial" pitchFamily="34" charset="0"/>
                <a:ea typeface="Arial" pitchFamily="34" charset="-122"/>
                <a:cs typeface="Arial" pitchFamily="34" charset="-120"/>
              </a:rPr>
              <a:t>PRESENTED BY</a:t>
            </a:r>
            <a:endParaRPr lang="en-US" sz="950" dirty="0"/>
          </a:p>
        </p:txBody>
      </p:sp>
      <p:sp>
        <p:nvSpPr>
          <p:cNvPr id="7" name="Text 5"/>
          <p:cNvSpPr txBox="1"/>
          <p:nvPr/>
        </p:nvSpPr>
        <p:spPr>
          <a:xfrm>
            <a:off x="8595360" y="1499616"/>
            <a:ext cx="2999232" cy="256032"/>
          </a:xfrm>
          <a:prstGeom prst="rect">
            <a:avLst/>
          </a:prstGeom>
          <a:noFill/>
          <a:ln/>
        </p:spPr>
        <p:txBody>
          <a:bodyPr wrap="square" lIns="0" tIns="0" rIns="0" bIns="0" rtlCol="0" anchor="t"/>
          <a:lstStyle/>
          <a:p>
            <a:pPr indent="0" marL="0">
              <a:buNone/>
            </a:pPr>
            <a:r>
              <a:rPr lang="en-US" sz="1500" dirty="0">
                <a:solidFill>
                  <a:srgbClr val="16191C"/>
                </a:solidFill>
                <a:latin typeface="Georgia" pitchFamily="34" charset="0"/>
                <a:ea typeface="Georgia" pitchFamily="34" charset="-122"/>
                <a:cs typeface="Georgia" pitchFamily="34" charset="-120"/>
              </a:rPr>
              <a:t>Shreya Sharma</a:t>
            </a:r>
            <a:endParaRPr lang="en-US" sz="1500" dirty="0"/>
          </a:p>
        </p:txBody>
      </p:sp>
      <p:sp>
        <p:nvSpPr>
          <p:cNvPr id="8" name="Text 6"/>
          <p:cNvSpPr txBox="1"/>
          <p:nvPr/>
        </p:nvSpPr>
        <p:spPr>
          <a:xfrm>
            <a:off x="8595360" y="1764792"/>
            <a:ext cx="2999232" cy="201168"/>
          </a:xfrm>
          <a:prstGeom prst="rect">
            <a:avLst/>
          </a:prstGeom>
          <a:noFill/>
          <a:ln/>
        </p:spPr>
        <p:txBody>
          <a:bodyPr wrap="square" lIns="0" tIns="0" rIns="0" bIns="0" rtlCol="0" anchor="t"/>
          <a:lstStyle/>
          <a:p>
            <a:pPr indent="0" marL="0">
              <a:buNone/>
            </a:pPr>
            <a:r>
              <a:rPr lang="en-US" sz="1000" dirty="0">
                <a:solidFill>
                  <a:srgbClr val="6F747A"/>
                </a:solidFill>
                <a:latin typeface="Arial" pitchFamily="34" charset="0"/>
                <a:ea typeface="Arial" pitchFamily="34" charset="-122"/>
                <a:cs typeface="Arial" pitchFamily="34" charset="-120"/>
              </a:rPr>
              <a:t>Roll 14 · Batch B1</a:t>
            </a:r>
            <a:endParaRPr lang="en-US" sz="1000" dirty="0"/>
          </a:p>
        </p:txBody>
      </p:sp>
      <p:sp>
        <p:nvSpPr>
          <p:cNvPr id="9" name="Text 7"/>
          <p:cNvSpPr txBox="1"/>
          <p:nvPr/>
        </p:nvSpPr>
        <p:spPr>
          <a:xfrm>
            <a:off x="8595360" y="2048256"/>
            <a:ext cx="2999232" cy="256032"/>
          </a:xfrm>
          <a:prstGeom prst="rect">
            <a:avLst/>
          </a:prstGeom>
          <a:noFill/>
          <a:ln/>
        </p:spPr>
        <p:txBody>
          <a:bodyPr wrap="square" lIns="0" tIns="0" rIns="0" bIns="0" rtlCol="0" anchor="t"/>
          <a:lstStyle/>
          <a:p>
            <a:pPr indent="0" marL="0">
              <a:buNone/>
            </a:pPr>
            <a:r>
              <a:rPr lang="en-US" sz="1500" dirty="0">
                <a:solidFill>
                  <a:srgbClr val="16191C"/>
                </a:solidFill>
                <a:latin typeface="Georgia" pitchFamily="34" charset="0"/>
                <a:ea typeface="Georgia" pitchFamily="34" charset="-122"/>
                <a:cs typeface="Georgia" pitchFamily="34" charset="-120"/>
              </a:rPr>
              <a:t>Krish Potanwar</a:t>
            </a:r>
            <a:endParaRPr lang="en-US" sz="1500" dirty="0"/>
          </a:p>
        </p:txBody>
      </p:sp>
      <p:sp>
        <p:nvSpPr>
          <p:cNvPr id="10" name="Text 8"/>
          <p:cNvSpPr txBox="1"/>
          <p:nvPr/>
        </p:nvSpPr>
        <p:spPr>
          <a:xfrm>
            <a:off x="8595360" y="2313432"/>
            <a:ext cx="2999232" cy="201168"/>
          </a:xfrm>
          <a:prstGeom prst="rect">
            <a:avLst/>
          </a:prstGeom>
          <a:noFill/>
          <a:ln/>
        </p:spPr>
        <p:txBody>
          <a:bodyPr wrap="square" lIns="0" tIns="0" rIns="0" bIns="0" rtlCol="0" anchor="t"/>
          <a:lstStyle/>
          <a:p>
            <a:pPr indent="0" marL="0">
              <a:buNone/>
            </a:pPr>
            <a:r>
              <a:rPr lang="en-US" sz="1000" dirty="0">
                <a:solidFill>
                  <a:srgbClr val="6F747A"/>
                </a:solidFill>
                <a:latin typeface="Arial" pitchFamily="34" charset="0"/>
                <a:ea typeface="Arial" pitchFamily="34" charset="-122"/>
                <a:cs typeface="Arial" pitchFamily="34" charset="-120"/>
              </a:rPr>
              <a:t>Roll 21 · Batch B2</a:t>
            </a:r>
            <a:endParaRPr lang="en-US" sz="1000" dirty="0"/>
          </a:p>
        </p:txBody>
      </p:sp>
      <p:sp>
        <p:nvSpPr>
          <p:cNvPr id="11" name="Text 9"/>
          <p:cNvSpPr txBox="1"/>
          <p:nvPr/>
        </p:nvSpPr>
        <p:spPr>
          <a:xfrm>
            <a:off x="8595360" y="2596896"/>
            <a:ext cx="2999232" cy="256032"/>
          </a:xfrm>
          <a:prstGeom prst="rect">
            <a:avLst/>
          </a:prstGeom>
          <a:noFill/>
          <a:ln/>
        </p:spPr>
        <p:txBody>
          <a:bodyPr wrap="square" lIns="0" tIns="0" rIns="0" bIns="0" rtlCol="0" anchor="t"/>
          <a:lstStyle/>
          <a:p>
            <a:pPr indent="0" marL="0">
              <a:buNone/>
            </a:pPr>
            <a:r>
              <a:rPr lang="en-US" sz="1500" dirty="0">
                <a:solidFill>
                  <a:srgbClr val="16191C"/>
                </a:solidFill>
                <a:latin typeface="Georgia" pitchFamily="34" charset="0"/>
                <a:ea typeface="Georgia" pitchFamily="34" charset="-122"/>
                <a:cs typeface="Georgia" pitchFamily="34" charset="-120"/>
              </a:rPr>
              <a:t>Dhanashree Sainis</a:t>
            </a:r>
            <a:endParaRPr lang="en-US" sz="1500" dirty="0"/>
          </a:p>
        </p:txBody>
      </p:sp>
      <p:sp>
        <p:nvSpPr>
          <p:cNvPr id="12" name="Text 10"/>
          <p:cNvSpPr txBox="1"/>
          <p:nvPr/>
        </p:nvSpPr>
        <p:spPr>
          <a:xfrm>
            <a:off x="8595360" y="2862072"/>
            <a:ext cx="2999232" cy="201168"/>
          </a:xfrm>
          <a:prstGeom prst="rect">
            <a:avLst/>
          </a:prstGeom>
          <a:noFill/>
          <a:ln/>
        </p:spPr>
        <p:txBody>
          <a:bodyPr wrap="square" lIns="0" tIns="0" rIns="0" bIns="0" rtlCol="0" anchor="t"/>
          <a:lstStyle/>
          <a:p>
            <a:pPr indent="0" marL="0">
              <a:buNone/>
            </a:pPr>
            <a:r>
              <a:rPr lang="en-US" sz="1000" dirty="0">
                <a:solidFill>
                  <a:srgbClr val="6F747A"/>
                </a:solidFill>
                <a:latin typeface="Arial" pitchFamily="34" charset="0"/>
                <a:ea typeface="Arial" pitchFamily="34" charset="-122"/>
                <a:cs typeface="Arial" pitchFamily="34" charset="-120"/>
              </a:rPr>
              <a:t>Roll 28 · Batch B2</a:t>
            </a:r>
            <a:endParaRPr lang="en-US" sz="1000" dirty="0"/>
          </a:p>
        </p:txBody>
      </p:sp>
      <p:sp>
        <p:nvSpPr>
          <p:cNvPr id="13" name="Shape 11"/>
          <p:cNvSpPr/>
          <p:nvPr/>
        </p:nvSpPr>
        <p:spPr>
          <a:xfrm>
            <a:off x="10897347" y="5684310"/>
            <a:ext cx="1188720" cy="256032"/>
          </a:xfrm>
          <a:prstGeom prst="roundRect">
            <a:avLst>
              <a:gd name="adj" fmla="val 17857"/>
            </a:avLst>
          </a:prstGeom>
          <a:solidFill>
            <a:srgbClr val="1F6F5C"/>
          </a:solidFill>
          <a:ln w="12700">
            <a:solidFill>
              <a:srgbClr val="1F6F5C"/>
            </a:solidFill>
            <a:prstDash val="solid"/>
          </a:ln>
        </p:spPr>
      </p:sp>
      <p:sp>
        <p:nvSpPr>
          <p:cNvPr id="14" name="Text 12"/>
          <p:cNvSpPr txBox="1"/>
          <p:nvPr/>
        </p:nvSpPr>
        <p:spPr>
          <a:xfrm>
            <a:off x="10897347" y="5684310"/>
            <a:ext cx="1188720"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NIFTY  22,936.75</a:t>
            </a:r>
            <a:endParaRPr lang="en-US" sz="900" dirty="0"/>
          </a:p>
        </p:txBody>
      </p:sp>
      <p:sp>
        <p:nvSpPr>
          <p:cNvPr id="15" name="Text 13"/>
          <p:cNvSpPr txBox="1"/>
          <p:nvPr/>
        </p:nvSpPr>
        <p:spPr>
          <a:xfrm>
            <a:off x="594360" y="6382512"/>
            <a:ext cx="6583680" cy="201168"/>
          </a:xfrm>
          <a:prstGeom prst="rect">
            <a:avLst/>
          </a:prstGeom>
          <a:noFill/>
          <a:ln/>
        </p:spPr>
        <p:txBody>
          <a:bodyPr wrap="square" lIns="0" tIns="0" rIns="0" bIns="0" rtlCol="0" anchor="t"/>
          <a:lstStyle/>
          <a:p>
            <a:pPr indent="0" marL="0">
              <a:buNone/>
            </a:pPr>
            <a:r>
              <a:rPr lang="en-US" sz="900" dirty="0">
                <a:solidFill>
                  <a:srgbClr val="6F747A"/>
                </a:solidFill>
                <a:latin typeface="Arial" pitchFamily="34" charset="0"/>
                <a:ea typeface="Arial" pitchFamily="34" charset="-122"/>
                <a:cs typeface="Arial" pitchFamily="34" charset="-120"/>
              </a:rPr>
              <a:t>The line through these slides is the NIFTY 50 at daily close, 29 Oct 2024 to 29 Oct 2026. Source: Yahoo Finance.</a:t>
            </a:r>
            <a:endParaRPr lang="en-US" sz="900" dirty="0"/>
          </a:p>
        </p:txBody>
      </p:sp>
      <p:sp>
        <p:nvSpPr>
          <p:cNvPr id="16" name="Text 14"/>
          <p:cNvSpPr txBox="1"/>
          <p:nvPr/>
        </p:nvSpPr>
        <p:spPr>
          <a:xfrm>
            <a:off x="7479792" y="6364224"/>
            <a:ext cx="4114800" cy="219456"/>
          </a:xfrm>
          <a:prstGeom prst="rect">
            <a:avLst/>
          </a:prstGeom>
          <a:noFill/>
          <a:ln/>
        </p:spPr>
        <p:txBody>
          <a:bodyPr wrap="square" lIns="0" tIns="0" rIns="0" bIns="0" rtlCol="0" anchor="t"/>
          <a:lstStyle/>
          <a:p>
            <a:pPr algn="r" indent="0" marL="0">
              <a:buNone/>
            </a:pPr>
            <a:r>
              <a:rPr lang="en-US" sz="900" b="1" spc="200" kern="0" dirty="0">
                <a:solidFill>
                  <a:srgbClr val="1F6F5C"/>
                </a:solidFill>
                <a:latin typeface="Arial" pitchFamily="34" charset="0"/>
                <a:ea typeface="Arial" pitchFamily="34" charset="-122"/>
                <a:cs typeface="Arial" pitchFamily="34" charset="-120"/>
              </a:rPr>
              <a:t>LIVE DEMO   </a:t>
            </a:r>
            <a:pPr algn="r" indent="0" marL="0">
              <a:buNone/>
            </a:pPr>
            <a:r>
              <a:rPr lang="en-US" sz="1100" u="sng" dirty="0">
                <a:solidFill>
                  <a:srgbClr val="16191C"/>
                </a:solidFill>
                <a:latin typeface="Arial" pitchFamily="34" charset="0"/>
                <a:ea typeface="Arial" pitchFamily="34" charset="-122"/>
                <a:cs typeface="Arial" pitchFamily="34" charset="-120"/>
                <a:hlinkClick r:id="rId2" invalidUrl="" action="" tgtFrame="" tooltip="" history="1" highlightClick="0" endSnd="0">
                  <a:extLst>
                    <a:ext uri="{A12FA001-AC4F-418D-AE19-62706E023703}">
                      <ahyp:hlinkClr xmlns:ahyp="http://schemas.microsoft.com/office/drawing/2018/hyperlinkcolor" val="tx"/>
                    </a:ext>
                  </a:extLst>
                </a:hlinkClick>
              </a:rPr>
              <a:t>market-lens-kappa.vercel.app</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94360" y="457200"/>
            <a:ext cx="6400800" cy="228600"/>
          </a:xfrm>
          <a:prstGeom prst="rect">
            <a:avLst/>
          </a:prstGeom>
          <a:noFill/>
          <a:ln/>
        </p:spPr>
        <p:txBody>
          <a:bodyPr wrap="square" lIns="0" tIns="0" rIns="0" bIns="0" rtlCol="0" anchor="t"/>
          <a:lstStyle/>
          <a:p>
            <a:pPr indent="0" marL="0">
              <a:buNone/>
            </a:pPr>
            <a:r>
              <a:rPr lang="en-US" sz="950" b="1" spc="200" kern="0" dirty="0">
                <a:solidFill>
                  <a:srgbClr val="16191C"/>
                </a:solidFill>
                <a:latin typeface="Arial" pitchFamily="34" charset="0"/>
                <a:ea typeface="Arial" pitchFamily="34" charset="-122"/>
                <a:cs typeface="Arial" pitchFamily="34" charset="-120"/>
              </a:rPr>
              <a:t>No. 01</a:t>
            </a:r>
            <a:pPr indent="0" marL="0">
              <a:buNone/>
            </a:pPr>
            <a:r>
              <a:rPr lang="en-US" sz="950" b="1" spc="200" kern="0" dirty="0">
                <a:solidFill>
                  <a:srgbClr val="1F6F5C"/>
                </a:solidFill>
                <a:latin typeface="Arial" pitchFamily="34" charset="0"/>
                <a:ea typeface="Arial" pitchFamily="34" charset="-122"/>
                <a:cs typeface="Arial" pitchFamily="34" charset="-120"/>
              </a:rPr>
              <a:t>     INTRODUCTION</a:t>
            </a:r>
            <a:endParaRPr lang="en-US" sz="950" dirty="0"/>
          </a:p>
        </p:txBody>
      </p:sp>
      <p:sp>
        <p:nvSpPr>
          <p:cNvPr id="3" name="Text 1"/>
          <p:cNvSpPr txBox="1"/>
          <p:nvPr/>
        </p:nvSpPr>
        <p:spPr>
          <a:xfrm>
            <a:off x="594360" y="749808"/>
            <a:ext cx="11000232" cy="731520"/>
          </a:xfrm>
          <a:prstGeom prst="rect">
            <a:avLst/>
          </a:prstGeom>
          <a:noFill/>
          <a:ln/>
        </p:spPr>
        <p:txBody>
          <a:bodyPr wrap="square" lIns="0" tIns="0" rIns="0" bIns="0" rtlCol="0" anchor="t"/>
          <a:lstStyle/>
          <a:p>
            <a:pPr indent="0" marL="0">
              <a:buNone/>
            </a:pPr>
            <a:r>
              <a:rPr lang="en-US" sz="3200" dirty="0">
                <a:solidFill>
                  <a:srgbClr val="16191C"/>
                </a:solidFill>
                <a:latin typeface="Georgia" pitchFamily="34" charset="0"/>
                <a:ea typeface="Georgia" pitchFamily="34" charset="-122"/>
                <a:cs typeface="Georgia" pitchFamily="34" charset="-120"/>
              </a:rPr>
              <a:t>One workstation for Indian stocks.</a:t>
            </a:r>
            <a:endParaRPr lang="en-US" sz="3200" dirty="0"/>
          </a:p>
        </p:txBody>
      </p:sp>
      <p:sp>
        <p:nvSpPr>
          <p:cNvPr id="4" name="Text 2"/>
          <p:cNvSpPr txBox="1"/>
          <p:nvPr/>
        </p:nvSpPr>
        <p:spPr>
          <a:xfrm>
            <a:off x="594360" y="1828800"/>
            <a:ext cx="4754880" cy="1554480"/>
          </a:xfrm>
          <a:prstGeom prst="rect">
            <a:avLst/>
          </a:prstGeom>
          <a:noFill/>
          <a:ln/>
        </p:spPr>
        <p:txBody>
          <a:bodyPr wrap="square" lIns="0" tIns="0" rIns="0" bIns="0" rtlCol="0" anchor="t"/>
          <a:lstStyle/>
          <a:p>
            <a:pPr indent="0" marL="0">
              <a:lnSpc>
                <a:spcPct val="110000"/>
              </a:lnSpc>
              <a:buNone/>
            </a:pPr>
            <a:r>
              <a:rPr lang="en-US" sz="1500" dirty="0">
                <a:solidFill>
                  <a:srgbClr val="3B4045"/>
                </a:solidFill>
                <a:latin typeface="Arial" pitchFamily="34" charset="0"/>
                <a:ea typeface="Arial" pitchFamily="34" charset="-122"/>
                <a:cs typeface="Arial" pitchFamily="34" charset="-120"/>
              </a:rPr>
              <a:t>MarketLens is a web application for researching and paper-trading Indian stocks. It puts live NSE and BSE data, technical analysis, scenario modelling and a rule-faithful trading simulator in one place, and shows every rupee a trade really costs.</a:t>
            </a:r>
            <a:endParaRPr lang="en-US" sz="1500" dirty="0"/>
          </a:p>
        </p:txBody>
      </p:sp>
      <p:sp>
        <p:nvSpPr>
          <p:cNvPr id="5" name="Shape 3"/>
          <p:cNvSpPr/>
          <p:nvPr/>
        </p:nvSpPr>
        <p:spPr>
          <a:xfrm>
            <a:off x="594360" y="3611880"/>
            <a:ext cx="4754880" cy="0"/>
          </a:xfrm>
          <a:prstGeom prst="line">
            <a:avLst/>
          </a:prstGeom>
          <a:noFill/>
          <a:ln w="9525">
            <a:solidFill>
              <a:srgbClr val="D6D1C7"/>
            </a:solidFill>
            <a:prstDash val="solid"/>
          </a:ln>
        </p:spPr>
      </p:sp>
      <p:sp>
        <p:nvSpPr>
          <p:cNvPr id="6" name="Text 4"/>
          <p:cNvSpPr txBox="1"/>
          <p:nvPr/>
        </p:nvSpPr>
        <p:spPr>
          <a:xfrm>
            <a:off x="594360" y="3749040"/>
            <a:ext cx="1508760" cy="566928"/>
          </a:xfrm>
          <a:prstGeom prst="rect">
            <a:avLst/>
          </a:prstGeom>
          <a:noFill/>
          <a:ln/>
        </p:spPr>
        <p:txBody>
          <a:bodyPr wrap="square" lIns="0" tIns="0" rIns="0" bIns="0" rtlCol="0" anchor="t"/>
          <a:lstStyle/>
          <a:p>
            <a:pPr indent="0" marL="0">
              <a:buNone/>
            </a:pPr>
            <a:r>
              <a:rPr lang="en-US" sz="3400" dirty="0">
                <a:solidFill>
                  <a:srgbClr val="16191C"/>
                </a:solidFill>
                <a:latin typeface="Cambria" pitchFamily="34" charset="0"/>
                <a:ea typeface="Cambria" pitchFamily="34" charset="-122"/>
                <a:cs typeface="Cambria" pitchFamily="34" charset="-120"/>
              </a:rPr>
              <a:t>13,109</a:t>
            </a:r>
            <a:endParaRPr lang="en-US" sz="3400" dirty="0"/>
          </a:p>
        </p:txBody>
      </p:sp>
      <p:sp>
        <p:nvSpPr>
          <p:cNvPr id="7" name="Text 5"/>
          <p:cNvSpPr txBox="1"/>
          <p:nvPr/>
        </p:nvSpPr>
        <p:spPr>
          <a:xfrm>
            <a:off x="594360" y="4370832"/>
            <a:ext cx="1463040" cy="411480"/>
          </a:xfrm>
          <a:prstGeom prst="rect">
            <a:avLst/>
          </a:prstGeom>
          <a:noFill/>
          <a:ln/>
        </p:spPr>
        <p:txBody>
          <a:bodyPr wrap="square" lIns="0" tIns="0" rIns="0" bIns="0" rtlCol="0" anchor="t"/>
          <a:lstStyle/>
          <a:p>
            <a:pPr indent="0" marL="0">
              <a:buNone/>
            </a:pPr>
            <a:r>
              <a:rPr lang="en-US" sz="1100" dirty="0">
                <a:solidFill>
                  <a:srgbClr val="6F747A"/>
                </a:solidFill>
                <a:latin typeface="Arial" pitchFamily="34" charset="0"/>
                <a:ea typeface="Arial" pitchFamily="34" charset="-122"/>
                <a:cs typeface="Arial" pitchFamily="34" charset="-120"/>
              </a:rPr>
              <a:t>NSE and BSE listings, searchable</a:t>
            </a:r>
            <a:endParaRPr lang="en-US" sz="1100" dirty="0"/>
          </a:p>
        </p:txBody>
      </p:sp>
      <p:sp>
        <p:nvSpPr>
          <p:cNvPr id="8" name="Text 6"/>
          <p:cNvSpPr txBox="1"/>
          <p:nvPr/>
        </p:nvSpPr>
        <p:spPr>
          <a:xfrm>
            <a:off x="2221992" y="3749040"/>
            <a:ext cx="1508760" cy="566928"/>
          </a:xfrm>
          <a:prstGeom prst="rect">
            <a:avLst/>
          </a:prstGeom>
          <a:noFill/>
          <a:ln/>
        </p:spPr>
        <p:txBody>
          <a:bodyPr wrap="square" lIns="0" tIns="0" rIns="0" bIns="0" rtlCol="0" anchor="t"/>
          <a:lstStyle/>
          <a:p>
            <a:pPr indent="0" marL="0">
              <a:buNone/>
            </a:pPr>
            <a:r>
              <a:rPr lang="en-US" sz="3400" dirty="0">
                <a:solidFill>
                  <a:srgbClr val="16191C"/>
                </a:solidFill>
                <a:latin typeface="Cambria" pitchFamily="34" charset="0"/>
                <a:ea typeface="Cambria" pitchFamily="34" charset="-122"/>
                <a:cs typeface="Cambria" pitchFamily="34" charset="-120"/>
              </a:rPr>
              <a:t>9</a:t>
            </a:r>
            <a:endParaRPr lang="en-US" sz="3400" dirty="0"/>
          </a:p>
        </p:txBody>
      </p:sp>
      <p:sp>
        <p:nvSpPr>
          <p:cNvPr id="9" name="Text 7"/>
          <p:cNvSpPr txBox="1"/>
          <p:nvPr/>
        </p:nvSpPr>
        <p:spPr>
          <a:xfrm>
            <a:off x="2221992" y="4370832"/>
            <a:ext cx="1463040" cy="411480"/>
          </a:xfrm>
          <a:prstGeom prst="rect">
            <a:avLst/>
          </a:prstGeom>
          <a:noFill/>
          <a:ln/>
        </p:spPr>
        <p:txBody>
          <a:bodyPr wrap="square" lIns="0" tIns="0" rIns="0" bIns="0" rtlCol="0" anchor="t"/>
          <a:lstStyle/>
          <a:p>
            <a:pPr indent="0" marL="0">
              <a:buNone/>
            </a:pPr>
            <a:r>
              <a:rPr lang="en-US" sz="1100" dirty="0">
                <a:solidFill>
                  <a:srgbClr val="6F747A"/>
                </a:solidFill>
                <a:latin typeface="Arial" pitchFamily="34" charset="0"/>
                <a:ea typeface="Arial" pitchFamily="34" charset="-122"/>
                <a:cs typeface="Arial" pitchFamily="34" charset="-120"/>
              </a:rPr>
              <a:t>modules in one interface</a:t>
            </a:r>
            <a:endParaRPr lang="en-US" sz="1100" dirty="0"/>
          </a:p>
        </p:txBody>
      </p:sp>
      <p:sp>
        <p:nvSpPr>
          <p:cNvPr id="10" name="Text 8"/>
          <p:cNvSpPr txBox="1"/>
          <p:nvPr/>
        </p:nvSpPr>
        <p:spPr>
          <a:xfrm>
            <a:off x="3849624" y="3749040"/>
            <a:ext cx="1508760" cy="566928"/>
          </a:xfrm>
          <a:prstGeom prst="rect">
            <a:avLst/>
          </a:prstGeom>
          <a:noFill/>
          <a:ln/>
        </p:spPr>
        <p:txBody>
          <a:bodyPr wrap="square" lIns="0" tIns="0" rIns="0" bIns="0" rtlCol="0" anchor="t"/>
          <a:lstStyle/>
          <a:p>
            <a:pPr indent="0" marL="0">
              <a:buNone/>
            </a:pPr>
            <a:r>
              <a:rPr lang="en-US" sz="3400" dirty="0">
                <a:solidFill>
                  <a:srgbClr val="16191C"/>
                </a:solidFill>
                <a:latin typeface="Cambria" pitchFamily="34" charset="0"/>
                <a:ea typeface="Cambria" pitchFamily="34" charset="-122"/>
                <a:cs typeface="Cambria" pitchFamily="34" charset="-120"/>
              </a:rPr>
              <a:t>0</a:t>
            </a:r>
            <a:endParaRPr lang="en-US" sz="3400" dirty="0"/>
          </a:p>
        </p:txBody>
      </p:sp>
      <p:sp>
        <p:nvSpPr>
          <p:cNvPr id="11" name="Text 9"/>
          <p:cNvSpPr txBox="1"/>
          <p:nvPr/>
        </p:nvSpPr>
        <p:spPr>
          <a:xfrm>
            <a:off x="3849624" y="4370832"/>
            <a:ext cx="1463040" cy="411480"/>
          </a:xfrm>
          <a:prstGeom prst="rect">
            <a:avLst/>
          </a:prstGeom>
          <a:noFill/>
          <a:ln/>
        </p:spPr>
        <p:txBody>
          <a:bodyPr wrap="square" lIns="0" tIns="0" rIns="0" bIns="0" rtlCol="0" anchor="t"/>
          <a:lstStyle/>
          <a:p>
            <a:pPr indent="0" marL="0">
              <a:buNone/>
            </a:pPr>
            <a:r>
              <a:rPr lang="en-US" sz="1100" dirty="0">
                <a:solidFill>
                  <a:srgbClr val="6F747A"/>
                </a:solidFill>
                <a:latin typeface="Arial" pitchFamily="34" charset="0"/>
                <a:ea typeface="Arial" pitchFamily="34" charset="-122"/>
                <a:cs typeface="Arial" pitchFamily="34" charset="-120"/>
              </a:rPr>
              <a:t>paid data feeds or API keys</a:t>
            </a:r>
            <a:endParaRPr lang="en-US" sz="1100" dirty="0"/>
          </a:p>
        </p:txBody>
      </p:sp>
      <p:sp>
        <p:nvSpPr>
          <p:cNvPr id="12" name="Shape 10"/>
          <p:cNvSpPr/>
          <p:nvPr/>
        </p:nvSpPr>
        <p:spPr>
          <a:xfrm>
            <a:off x="5833872" y="1856232"/>
            <a:ext cx="5733288" cy="2159733"/>
          </a:xfrm>
          <a:prstGeom prst="roundRect">
            <a:avLst>
              <a:gd name="adj" fmla="val 2540"/>
            </a:avLst>
          </a:prstGeom>
          <a:solidFill>
            <a:srgbClr val="FFFFFF"/>
          </a:solidFill>
          <a:ln w="12700">
            <a:solidFill>
              <a:srgbClr val="FFFFFF"/>
            </a:solidFill>
            <a:prstDash val="solid"/>
          </a:ln>
          <a:effectLst>
            <a:outerShdw sx="100000" sy="100000" kx="0" ky="0" algn="bl" rotWithShape="0" blurRad="203200" dist="63500" dir="5400000">
              <a:srgbClr val="000000">
                <a:alpha val="18000"/>
              </a:srgbClr>
            </a:outerShdw>
          </a:effectLst>
        </p:spPr>
      </p:sp>
      <p:pic>
        <p:nvPicPr>
          <p:cNvPr id="13" name="Image 0" descr="Screenshot of the Stocks Explorer: index cards, then top gainers, top losers and most active shelves">    </p:cNvPr>
          <p:cNvPicPr>
            <a:picLocks noChangeAspect="1"/>
          </p:cNvPicPr>
          <p:nvPr/>
        </p:nvPicPr>
        <p:blipFill>
          <a:blip r:embed="rId2"/>
          <a:stretch>
            <a:fillRect/>
          </a:stretch>
        </p:blipFill>
        <p:spPr>
          <a:xfrm>
            <a:off x="5806440" y="1828800"/>
            <a:ext cx="5788152" cy="2214597"/>
          </a:xfrm>
          <a:prstGeom prst="rect">
            <a:avLst/>
          </a:prstGeom>
        </p:spPr>
      </p:pic>
      <p:sp>
        <p:nvSpPr>
          <p:cNvPr id="14" name="Text 11"/>
          <p:cNvSpPr txBox="1"/>
          <p:nvPr/>
        </p:nvSpPr>
        <p:spPr>
          <a:xfrm>
            <a:off x="5806440" y="4153125"/>
            <a:ext cx="5788152" cy="201168"/>
          </a:xfrm>
          <a:prstGeom prst="rect">
            <a:avLst/>
          </a:prstGeom>
          <a:noFill/>
          <a:ln/>
        </p:spPr>
        <p:txBody>
          <a:bodyPr wrap="square" lIns="0" tIns="0" rIns="0" bIns="0" rtlCol="0" anchor="t"/>
          <a:lstStyle/>
          <a:p>
            <a:pPr indent="0" marL="0">
              <a:buNone/>
            </a:pPr>
            <a:r>
              <a:rPr lang="en-US" sz="950" dirty="0">
                <a:solidFill>
                  <a:srgbClr val="6F747A"/>
                </a:solidFill>
                <a:latin typeface="Arial" pitchFamily="34" charset="0"/>
                <a:ea typeface="Arial" pitchFamily="34" charset="-122"/>
                <a:cs typeface="Arial" pitchFamily="34" charset="-120"/>
              </a:rPr>
              <a:t>Fig. 1   Stocks Explorer on live Yahoo Finance data.</a:t>
            </a:r>
            <a:endParaRPr lang="en-US" sz="950" dirty="0"/>
          </a:p>
        </p:txBody>
      </p:sp>
      <p:sp>
        <p:nvSpPr>
          <p:cNvPr id="15" name="Shape 12"/>
          <p:cNvSpPr/>
          <p:nvPr/>
        </p:nvSpPr>
        <p:spPr>
          <a:xfrm>
            <a:off x="5806440" y="4434840"/>
            <a:ext cx="5788152" cy="1371600"/>
          </a:xfrm>
          <a:prstGeom prst="rect">
            <a:avLst/>
          </a:prstGeom>
          <a:solidFill>
            <a:srgbClr val="FFFFFF"/>
          </a:solidFill>
          <a:ln w="9525">
            <a:solidFill>
              <a:srgbClr val="D6D1C7"/>
            </a:solidFill>
            <a:prstDash val="solid"/>
          </a:ln>
          <a:effectLst>
            <a:outerShdw sx="100000" sy="100000" kx="0" ky="0" algn="bl" rotWithShape="0" blurRad="127000" dist="25400" dir="5400000">
              <a:srgbClr val="000000">
                <a:alpha val="7000"/>
              </a:srgbClr>
            </a:outerShdw>
          </a:effectLst>
        </p:spPr>
      </p:sp>
      <p:sp>
        <p:nvSpPr>
          <p:cNvPr id="16" name="Text 13"/>
          <p:cNvSpPr txBox="1"/>
          <p:nvPr/>
        </p:nvSpPr>
        <p:spPr>
          <a:xfrm>
            <a:off x="6035040" y="4636008"/>
            <a:ext cx="1241298" cy="219456"/>
          </a:xfrm>
          <a:prstGeom prst="rect">
            <a:avLst/>
          </a:prstGeom>
          <a:noFill/>
          <a:ln/>
        </p:spPr>
        <p:txBody>
          <a:bodyPr wrap="square" lIns="0" tIns="0" rIns="0" bIns="0" rtlCol="0" anchor="t"/>
          <a:lstStyle/>
          <a:p>
            <a:pPr indent="0" marL="0">
              <a:buNone/>
            </a:pPr>
            <a:r>
              <a:rPr lang="en-US" sz="950" b="1" spc="200" kern="0" dirty="0">
                <a:solidFill>
                  <a:srgbClr val="1F6F5C"/>
                </a:solidFill>
                <a:latin typeface="Arial" pitchFamily="34" charset="0"/>
                <a:ea typeface="Arial" pitchFamily="34" charset="-122"/>
                <a:cs typeface="Arial" pitchFamily="34" charset="-120"/>
              </a:rPr>
              <a:t>MARKET</a:t>
            </a:r>
            <a:endParaRPr lang="en-US" sz="950" dirty="0"/>
          </a:p>
        </p:txBody>
      </p:sp>
      <p:sp>
        <p:nvSpPr>
          <p:cNvPr id="17" name="Text 14"/>
          <p:cNvSpPr txBox="1"/>
          <p:nvPr/>
        </p:nvSpPr>
        <p:spPr>
          <a:xfrm>
            <a:off x="6035040" y="4910328"/>
            <a:ext cx="1241298" cy="777240"/>
          </a:xfrm>
          <a:prstGeom prst="rect">
            <a:avLst/>
          </a:prstGeom>
          <a:noFill/>
          <a:ln/>
        </p:spPr>
        <p:txBody>
          <a:bodyPr wrap="square" lIns="0" tIns="0" rIns="0" bIns="0" rtlCol="0" anchor="t"/>
          <a:lstStyle/>
          <a:p>
            <a:pPr indent="0" marL="0">
              <a:lnSpc>
                <a:spcPct val="115000"/>
              </a:lnSpc>
              <a:buNone/>
            </a:pPr>
            <a:r>
              <a:rPr lang="en-US" sz="1150" dirty="0">
                <a:solidFill>
                  <a:srgbClr val="16191C"/>
                </a:solidFill>
                <a:latin typeface="Arial" pitchFamily="34" charset="0"/>
                <a:ea typeface="Arial" pitchFamily="34" charset="-122"/>
                <a:cs typeface="Arial" pitchFamily="34" charset="-120"/>
              </a:rPr>
              <a:t>Stocks Explorer</a:t>
            </a:r>
            <a:endParaRPr lang="en-US" sz="1150" dirty="0"/>
          </a:p>
          <a:p>
            <a:pPr indent="0" marL="0">
              <a:lnSpc>
                <a:spcPct val="115000"/>
              </a:lnSpc>
              <a:buNone/>
            </a:pPr>
            <a:r>
              <a:rPr lang="en-US" sz="1150" dirty="0">
                <a:solidFill>
                  <a:srgbClr val="16191C"/>
                </a:solidFill>
                <a:latin typeface="Arial" pitchFamily="34" charset="0"/>
                <a:ea typeface="Arial" pitchFamily="34" charset="-122"/>
                <a:cs typeface="Arial" pitchFamily="34" charset="-120"/>
              </a:rPr>
              <a:t>Mutual Funds</a:t>
            </a:r>
            <a:endParaRPr lang="en-US" sz="1150" dirty="0"/>
          </a:p>
          <a:p>
            <a:pPr indent="0" marL="0">
              <a:lnSpc>
                <a:spcPct val="115000"/>
              </a:lnSpc>
              <a:buNone/>
            </a:pPr>
            <a:r>
              <a:rPr lang="en-US" sz="1150" dirty="0">
                <a:solidFill>
                  <a:srgbClr val="16191C"/>
                </a:solidFill>
                <a:latin typeface="Arial" pitchFamily="34" charset="0"/>
                <a:ea typeface="Arial" pitchFamily="34" charset="-122"/>
                <a:cs typeface="Arial" pitchFamily="34" charset="-120"/>
              </a:rPr>
              <a:t>New IPOs</a:t>
            </a:r>
            <a:endParaRPr lang="en-US" sz="1150" dirty="0"/>
          </a:p>
        </p:txBody>
      </p:sp>
      <p:sp>
        <p:nvSpPr>
          <p:cNvPr id="18" name="Text 15"/>
          <p:cNvSpPr txBox="1"/>
          <p:nvPr/>
        </p:nvSpPr>
        <p:spPr>
          <a:xfrm>
            <a:off x="7367778" y="4636008"/>
            <a:ext cx="1241298" cy="219456"/>
          </a:xfrm>
          <a:prstGeom prst="rect">
            <a:avLst/>
          </a:prstGeom>
          <a:noFill/>
          <a:ln/>
        </p:spPr>
        <p:txBody>
          <a:bodyPr wrap="square" lIns="0" tIns="0" rIns="0" bIns="0" rtlCol="0" anchor="t"/>
          <a:lstStyle/>
          <a:p>
            <a:pPr indent="0" marL="0">
              <a:buNone/>
            </a:pPr>
            <a:r>
              <a:rPr lang="en-US" sz="950" b="1" spc="200" kern="0" dirty="0">
                <a:solidFill>
                  <a:srgbClr val="1F6F5C"/>
                </a:solidFill>
                <a:latin typeface="Arial" pitchFamily="34" charset="0"/>
                <a:ea typeface="Arial" pitchFamily="34" charset="-122"/>
                <a:cs typeface="Arial" pitchFamily="34" charset="-120"/>
              </a:rPr>
              <a:t>INTELLIGENCE</a:t>
            </a:r>
            <a:endParaRPr lang="en-US" sz="950" dirty="0"/>
          </a:p>
        </p:txBody>
      </p:sp>
      <p:sp>
        <p:nvSpPr>
          <p:cNvPr id="19" name="Text 16"/>
          <p:cNvSpPr txBox="1"/>
          <p:nvPr/>
        </p:nvSpPr>
        <p:spPr>
          <a:xfrm>
            <a:off x="7367778" y="4910328"/>
            <a:ext cx="1241298" cy="777240"/>
          </a:xfrm>
          <a:prstGeom prst="rect">
            <a:avLst/>
          </a:prstGeom>
          <a:noFill/>
          <a:ln/>
        </p:spPr>
        <p:txBody>
          <a:bodyPr wrap="square" lIns="0" tIns="0" rIns="0" bIns="0" rtlCol="0" anchor="t"/>
          <a:lstStyle/>
          <a:p>
            <a:pPr indent="0" marL="0">
              <a:lnSpc>
                <a:spcPct val="115000"/>
              </a:lnSpc>
              <a:buNone/>
            </a:pPr>
            <a:r>
              <a:rPr lang="en-US" sz="1150" dirty="0">
                <a:solidFill>
                  <a:srgbClr val="16191C"/>
                </a:solidFill>
                <a:latin typeface="Arial" pitchFamily="34" charset="0"/>
                <a:ea typeface="Arial" pitchFamily="34" charset="-122"/>
                <a:cs typeface="Arial" pitchFamily="34" charset="-120"/>
              </a:rPr>
              <a:t>AI Strategy Lab</a:t>
            </a:r>
            <a:endParaRPr lang="en-US" sz="1150" dirty="0"/>
          </a:p>
          <a:p>
            <a:pPr indent="0" marL="0">
              <a:lnSpc>
                <a:spcPct val="115000"/>
              </a:lnSpc>
              <a:buNone/>
            </a:pPr>
            <a:r>
              <a:rPr lang="en-US" sz="1150" dirty="0">
                <a:solidFill>
                  <a:srgbClr val="16191C"/>
                </a:solidFill>
                <a:latin typeface="Arial" pitchFamily="34" charset="0"/>
                <a:ea typeface="Arial" pitchFamily="34" charset="-122"/>
                <a:cs typeface="Arial" pitchFamily="34" charset="-120"/>
              </a:rPr>
              <a:t>Trends and Signals</a:t>
            </a:r>
            <a:endParaRPr lang="en-US" sz="1150" dirty="0"/>
          </a:p>
        </p:txBody>
      </p:sp>
      <p:sp>
        <p:nvSpPr>
          <p:cNvPr id="20" name="Text 17"/>
          <p:cNvSpPr txBox="1"/>
          <p:nvPr/>
        </p:nvSpPr>
        <p:spPr>
          <a:xfrm>
            <a:off x="8700516" y="4636008"/>
            <a:ext cx="1241298" cy="219456"/>
          </a:xfrm>
          <a:prstGeom prst="rect">
            <a:avLst/>
          </a:prstGeom>
          <a:noFill/>
          <a:ln/>
        </p:spPr>
        <p:txBody>
          <a:bodyPr wrap="square" lIns="0" tIns="0" rIns="0" bIns="0" rtlCol="0" anchor="t"/>
          <a:lstStyle/>
          <a:p>
            <a:pPr indent="0" marL="0">
              <a:buNone/>
            </a:pPr>
            <a:r>
              <a:rPr lang="en-US" sz="950" b="1" spc="200" kern="0" dirty="0">
                <a:solidFill>
                  <a:srgbClr val="1F6F5C"/>
                </a:solidFill>
                <a:latin typeface="Arial" pitchFamily="34" charset="0"/>
                <a:ea typeface="Arial" pitchFamily="34" charset="-122"/>
                <a:cs typeface="Arial" pitchFamily="34" charset="-120"/>
              </a:rPr>
              <a:t>EXECUTION</a:t>
            </a:r>
            <a:endParaRPr lang="en-US" sz="950" dirty="0"/>
          </a:p>
        </p:txBody>
      </p:sp>
      <p:sp>
        <p:nvSpPr>
          <p:cNvPr id="21" name="Text 18"/>
          <p:cNvSpPr txBox="1"/>
          <p:nvPr/>
        </p:nvSpPr>
        <p:spPr>
          <a:xfrm>
            <a:off x="8700516" y="4910328"/>
            <a:ext cx="1241298" cy="777240"/>
          </a:xfrm>
          <a:prstGeom prst="rect">
            <a:avLst/>
          </a:prstGeom>
          <a:noFill/>
          <a:ln/>
        </p:spPr>
        <p:txBody>
          <a:bodyPr wrap="square" lIns="0" tIns="0" rIns="0" bIns="0" rtlCol="0" anchor="t"/>
          <a:lstStyle/>
          <a:p>
            <a:pPr indent="0" marL="0">
              <a:lnSpc>
                <a:spcPct val="115000"/>
              </a:lnSpc>
              <a:buNone/>
            </a:pPr>
            <a:r>
              <a:rPr lang="en-US" sz="1150" dirty="0">
                <a:solidFill>
                  <a:srgbClr val="16191C"/>
                </a:solidFill>
                <a:latin typeface="Arial" pitchFamily="34" charset="0"/>
                <a:ea typeface="Arial" pitchFamily="34" charset="-122"/>
                <a:cs typeface="Arial" pitchFamily="34" charset="-120"/>
              </a:rPr>
              <a:t>Paper Trading</a:t>
            </a:r>
            <a:endParaRPr lang="en-US" sz="1150" dirty="0"/>
          </a:p>
        </p:txBody>
      </p:sp>
      <p:sp>
        <p:nvSpPr>
          <p:cNvPr id="22" name="Text 19"/>
          <p:cNvSpPr txBox="1"/>
          <p:nvPr/>
        </p:nvSpPr>
        <p:spPr>
          <a:xfrm>
            <a:off x="10033254" y="4636008"/>
            <a:ext cx="1241298" cy="219456"/>
          </a:xfrm>
          <a:prstGeom prst="rect">
            <a:avLst/>
          </a:prstGeom>
          <a:noFill/>
          <a:ln/>
        </p:spPr>
        <p:txBody>
          <a:bodyPr wrap="square" lIns="0" tIns="0" rIns="0" bIns="0" rtlCol="0" anchor="t"/>
          <a:lstStyle/>
          <a:p>
            <a:pPr indent="0" marL="0">
              <a:buNone/>
            </a:pPr>
            <a:r>
              <a:rPr lang="en-US" sz="950" b="1" spc="200" kern="0" dirty="0">
                <a:solidFill>
                  <a:srgbClr val="1F6F5C"/>
                </a:solidFill>
                <a:latin typeface="Arial" pitchFamily="34" charset="0"/>
                <a:ea typeface="Arial" pitchFamily="34" charset="-122"/>
                <a:cs typeface="Arial" pitchFamily="34" charset="-120"/>
              </a:rPr>
              <a:t>RESEARCH</a:t>
            </a:r>
            <a:endParaRPr lang="en-US" sz="950" dirty="0"/>
          </a:p>
        </p:txBody>
      </p:sp>
      <p:sp>
        <p:nvSpPr>
          <p:cNvPr id="23" name="Text 20"/>
          <p:cNvSpPr txBox="1"/>
          <p:nvPr/>
        </p:nvSpPr>
        <p:spPr>
          <a:xfrm>
            <a:off x="10033254" y="4910328"/>
            <a:ext cx="1241298" cy="777240"/>
          </a:xfrm>
          <a:prstGeom prst="rect">
            <a:avLst/>
          </a:prstGeom>
          <a:noFill/>
          <a:ln/>
        </p:spPr>
        <p:txBody>
          <a:bodyPr wrap="square" lIns="0" tIns="0" rIns="0" bIns="0" rtlCol="0" anchor="t"/>
          <a:lstStyle/>
          <a:p>
            <a:pPr indent="0" marL="0">
              <a:lnSpc>
                <a:spcPct val="115000"/>
              </a:lnSpc>
              <a:buNone/>
            </a:pPr>
            <a:r>
              <a:rPr lang="en-US" sz="1150" dirty="0">
                <a:solidFill>
                  <a:srgbClr val="16191C"/>
                </a:solidFill>
                <a:latin typeface="Arial" pitchFamily="34" charset="0"/>
                <a:ea typeface="Arial" pitchFamily="34" charset="-122"/>
                <a:cs typeface="Arial" pitchFamily="34" charset="-120"/>
              </a:rPr>
              <a:t>Overview</a:t>
            </a:r>
            <a:endParaRPr lang="en-US" sz="1150" dirty="0"/>
          </a:p>
          <a:p>
            <a:pPr indent="0" marL="0">
              <a:lnSpc>
                <a:spcPct val="115000"/>
              </a:lnSpc>
              <a:buNone/>
            </a:pPr>
            <a:r>
              <a:rPr lang="en-US" sz="1150" dirty="0">
                <a:solidFill>
                  <a:srgbClr val="16191C"/>
                </a:solidFill>
                <a:latin typeface="Arial" pitchFamily="34" charset="0"/>
                <a:ea typeface="Arial" pitchFamily="34" charset="-122"/>
                <a:cs typeface="Arial" pitchFamily="34" charset="-120"/>
              </a:rPr>
              <a:t>Forecast Lab</a:t>
            </a:r>
            <a:endParaRPr lang="en-US" sz="1150" dirty="0"/>
          </a:p>
          <a:p>
            <a:pPr indent="0" marL="0">
              <a:lnSpc>
                <a:spcPct val="115000"/>
              </a:lnSpc>
              <a:buNone/>
            </a:pPr>
            <a:r>
              <a:rPr lang="en-US" sz="1150" dirty="0">
                <a:solidFill>
                  <a:srgbClr val="16191C"/>
                </a:solidFill>
                <a:latin typeface="Arial" pitchFamily="34" charset="0"/>
                <a:ea typeface="Arial" pitchFamily="34" charset="-122"/>
                <a:cs typeface="Arial" pitchFamily="34" charset="-120"/>
              </a:rPr>
              <a:t>Run Receipt</a:t>
            </a:r>
            <a:endParaRPr lang="en-US" sz="1150" dirty="0"/>
          </a:p>
        </p:txBody>
      </p:sp>
      <p:sp>
        <p:nvSpPr>
          <p:cNvPr id="24" name="Text 21"/>
          <p:cNvSpPr txBox="1"/>
          <p:nvPr/>
        </p:nvSpPr>
        <p:spPr>
          <a:xfrm>
            <a:off x="594360" y="6382512"/>
            <a:ext cx="2743200" cy="201168"/>
          </a:xfrm>
          <a:prstGeom prst="rect">
            <a:avLst/>
          </a:prstGeom>
          <a:noFill/>
          <a:ln/>
        </p:spPr>
        <p:txBody>
          <a:bodyPr wrap="square" lIns="0" tIns="0" rIns="0" bIns="0" rtlCol="0" anchor="t"/>
          <a:lstStyle/>
          <a:p>
            <a:pPr indent="0" marL="0">
              <a:buNone/>
            </a:pPr>
            <a:r>
              <a:rPr lang="en-US" sz="1000" i="1" dirty="0">
                <a:solidFill>
                  <a:srgbClr val="6F747A"/>
                </a:solidFill>
                <a:latin typeface="Georgia" pitchFamily="34" charset="0"/>
                <a:ea typeface="Georgia" pitchFamily="34" charset="-122"/>
                <a:cs typeface="Georgia" pitchFamily="34" charset="-120"/>
              </a:rPr>
              <a:t>MarketLens</a:t>
            </a:r>
            <a:endParaRPr lang="en-US" sz="1000" dirty="0"/>
          </a:p>
        </p:txBody>
      </p:sp>
      <p:sp>
        <p:nvSpPr>
          <p:cNvPr id="25" name="Text 22"/>
          <p:cNvSpPr txBox="1"/>
          <p:nvPr/>
        </p:nvSpPr>
        <p:spPr>
          <a:xfrm>
            <a:off x="9765792" y="6382512"/>
            <a:ext cx="1828800" cy="201168"/>
          </a:xfrm>
          <a:prstGeom prst="rect">
            <a:avLst/>
          </a:prstGeom>
          <a:noFill/>
          <a:ln/>
        </p:spPr>
        <p:txBody>
          <a:bodyPr wrap="square" lIns="0" tIns="0" rIns="0" bIns="0" rtlCol="0" anchor="t"/>
          <a:lstStyle/>
          <a:p>
            <a:pPr algn="r" indent="0" marL="0">
              <a:buNone/>
            </a:pPr>
            <a:r>
              <a:rPr lang="en-US" sz="900" spc="100" kern="0" dirty="0">
                <a:solidFill>
                  <a:srgbClr val="6F747A"/>
                </a:solidFill>
                <a:latin typeface="Arial" pitchFamily="34" charset="0"/>
                <a:ea typeface="Arial" pitchFamily="34" charset="-122"/>
                <a:cs typeface="Arial" pitchFamily="34" charset="-120"/>
              </a:rPr>
              <a:t>02 / 12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94360" y="457200"/>
            <a:ext cx="6400800" cy="228600"/>
          </a:xfrm>
          <a:prstGeom prst="rect">
            <a:avLst/>
          </a:prstGeom>
          <a:noFill/>
          <a:ln/>
        </p:spPr>
        <p:txBody>
          <a:bodyPr wrap="square" lIns="0" tIns="0" rIns="0" bIns="0" rtlCol="0" anchor="t"/>
          <a:lstStyle/>
          <a:p>
            <a:pPr indent="0" marL="0">
              <a:buNone/>
            </a:pPr>
            <a:r>
              <a:rPr lang="en-US" sz="950" b="1" spc="200" kern="0" dirty="0">
                <a:solidFill>
                  <a:srgbClr val="16191C"/>
                </a:solidFill>
                <a:latin typeface="Arial" pitchFamily="34" charset="0"/>
                <a:ea typeface="Arial" pitchFamily="34" charset="-122"/>
                <a:cs typeface="Arial" pitchFamily="34" charset="-120"/>
              </a:rPr>
              <a:t>No. 02</a:t>
            </a:r>
            <a:pPr indent="0" marL="0">
              <a:buNone/>
            </a:pPr>
            <a:r>
              <a:rPr lang="en-US" sz="950" b="1" spc="200" kern="0" dirty="0">
                <a:solidFill>
                  <a:srgbClr val="1F6F5C"/>
                </a:solidFill>
                <a:latin typeface="Arial" pitchFamily="34" charset="0"/>
                <a:ea typeface="Arial" pitchFamily="34" charset="-122"/>
                <a:cs typeface="Arial" pitchFamily="34" charset="-120"/>
              </a:rPr>
              <a:t>     PROBLEM STATEMENT</a:t>
            </a:r>
            <a:endParaRPr lang="en-US" sz="950" dirty="0"/>
          </a:p>
        </p:txBody>
      </p:sp>
      <p:sp>
        <p:nvSpPr>
          <p:cNvPr id="3" name="Text 1"/>
          <p:cNvSpPr txBox="1"/>
          <p:nvPr/>
        </p:nvSpPr>
        <p:spPr>
          <a:xfrm>
            <a:off x="594360" y="749808"/>
            <a:ext cx="4343400" cy="1463040"/>
          </a:xfrm>
          <a:prstGeom prst="rect">
            <a:avLst/>
          </a:prstGeom>
          <a:noFill/>
          <a:ln/>
        </p:spPr>
        <p:txBody>
          <a:bodyPr wrap="square" lIns="0" tIns="0" rIns="0" bIns="0" rtlCol="0" anchor="t"/>
          <a:lstStyle/>
          <a:p>
            <a:pPr indent="0" marL="0">
              <a:buNone/>
            </a:pPr>
            <a:r>
              <a:rPr lang="en-US" sz="3000" dirty="0">
                <a:solidFill>
                  <a:srgbClr val="16191C"/>
                </a:solidFill>
                <a:latin typeface="Georgia" pitchFamily="34" charset="0"/>
                <a:ea typeface="Georgia" pitchFamily="34" charset="-122"/>
                <a:cs typeface="Georgia" pitchFamily="34" charset="-120"/>
              </a:rPr>
              <a:t>Most paper trading hides what trading costs.</a:t>
            </a:r>
            <a:endParaRPr lang="en-US" sz="3000" dirty="0"/>
          </a:p>
        </p:txBody>
      </p:sp>
      <p:sp>
        <p:nvSpPr>
          <p:cNvPr id="4" name="Shape 2"/>
          <p:cNvSpPr/>
          <p:nvPr/>
        </p:nvSpPr>
        <p:spPr>
          <a:xfrm>
            <a:off x="594360" y="2331720"/>
            <a:ext cx="4343400" cy="0"/>
          </a:xfrm>
          <a:prstGeom prst="line">
            <a:avLst/>
          </a:prstGeom>
          <a:noFill/>
          <a:ln w="9525">
            <a:solidFill>
              <a:srgbClr val="D6D1C7"/>
            </a:solidFill>
            <a:prstDash val="solid"/>
          </a:ln>
        </p:spPr>
      </p:sp>
      <p:sp>
        <p:nvSpPr>
          <p:cNvPr id="5" name="Text 3"/>
          <p:cNvSpPr txBox="1"/>
          <p:nvPr/>
        </p:nvSpPr>
        <p:spPr>
          <a:xfrm>
            <a:off x="594360" y="2423160"/>
            <a:ext cx="274320" cy="228600"/>
          </a:xfrm>
          <a:prstGeom prst="rect">
            <a:avLst/>
          </a:prstGeom>
          <a:noFill/>
          <a:ln/>
        </p:spPr>
        <p:txBody>
          <a:bodyPr wrap="square" lIns="0" tIns="0" rIns="0" bIns="0" rtlCol="0" anchor="t"/>
          <a:lstStyle/>
          <a:p>
            <a:pPr indent="0" marL="0">
              <a:buNone/>
            </a:pPr>
            <a:r>
              <a:rPr lang="en-US" sz="1300" b="1" dirty="0">
                <a:solidFill>
                  <a:srgbClr val="1F6F5C"/>
                </a:solidFill>
                <a:latin typeface="Cambria" pitchFamily="34" charset="0"/>
                <a:ea typeface="Cambria" pitchFamily="34" charset="-122"/>
                <a:cs typeface="Cambria" pitchFamily="34" charset="-120"/>
              </a:rPr>
              <a:t>1</a:t>
            </a:r>
            <a:endParaRPr lang="en-US" sz="1300" dirty="0"/>
          </a:p>
        </p:txBody>
      </p:sp>
      <p:sp>
        <p:nvSpPr>
          <p:cNvPr id="6" name="Text 4"/>
          <p:cNvSpPr txBox="1"/>
          <p:nvPr/>
        </p:nvSpPr>
        <p:spPr>
          <a:xfrm>
            <a:off x="960120" y="2423160"/>
            <a:ext cx="3977640" cy="457200"/>
          </a:xfrm>
          <a:prstGeom prst="rect">
            <a:avLst/>
          </a:prstGeom>
          <a:noFill/>
          <a:ln/>
        </p:spPr>
        <p:txBody>
          <a:bodyPr wrap="square" lIns="0" tIns="0" rIns="0" bIns="0" rtlCol="0" anchor="t"/>
          <a:lstStyle/>
          <a:p>
            <a:pPr indent="0" marL="0">
              <a:buNone/>
            </a:pPr>
            <a:r>
              <a:rPr lang="en-US" sz="1300" dirty="0">
                <a:solidFill>
                  <a:srgbClr val="3B4045"/>
                </a:solidFill>
                <a:latin typeface="Arial" pitchFamily="34" charset="0"/>
                <a:ea typeface="Arial" pitchFamily="34" charset="-122"/>
                <a:cs typeface="Arial" pitchFamily="34" charset="-120"/>
              </a:rPr>
              <a:t>Statutory charges are left out: STT, GST, stamp duty, exchange fees.</a:t>
            </a:r>
            <a:endParaRPr lang="en-US" sz="1300" dirty="0"/>
          </a:p>
        </p:txBody>
      </p:sp>
      <p:sp>
        <p:nvSpPr>
          <p:cNvPr id="7" name="Shape 5"/>
          <p:cNvSpPr/>
          <p:nvPr/>
        </p:nvSpPr>
        <p:spPr>
          <a:xfrm>
            <a:off x="594360" y="2953512"/>
            <a:ext cx="4343400" cy="0"/>
          </a:xfrm>
          <a:prstGeom prst="line">
            <a:avLst/>
          </a:prstGeom>
          <a:noFill/>
          <a:ln w="9525">
            <a:solidFill>
              <a:srgbClr val="D6D1C7"/>
            </a:solidFill>
            <a:prstDash val="solid"/>
          </a:ln>
        </p:spPr>
      </p:sp>
      <p:sp>
        <p:nvSpPr>
          <p:cNvPr id="8" name="Text 6"/>
          <p:cNvSpPr txBox="1"/>
          <p:nvPr/>
        </p:nvSpPr>
        <p:spPr>
          <a:xfrm>
            <a:off x="594360" y="3044952"/>
            <a:ext cx="274320" cy="228600"/>
          </a:xfrm>
          <a:prstGeom prst="rect">
            <a:avLst/>
          </a:prstGeom>
          <a:noFill/>
          <a:ln/>
        </p:spPr>
        <p:txBody>
          <a:bodyPr wrap="square" lIns="0" tIns="0" rIns="0" bIns="0" rtlCol="0" anchor="t"/>
          <a:lstStyle/>
          <a:p>
            <a:pPr indent="0" marL="0">
              <a:buNone/>
            </a:pPr>
            <a:r>
              <a:rPr lang="en-US" sz="1300" b="1" dirty="0">
                <a:solidFill>
                  <a:srgbClr val="1F6F5C"/>
                </a:solidFill>
                <a:latin typeface="Cambria" pitchFamily="34" charset="0"/>
                <a:ea typeface="Cambria" pitchFamily="34" charset="-122"/>
                <a:cs typeface="Cambria" pitchFamily="34" charset="-120"/>
              </a:rPr>
              <a:t>2</a:t>
            </a:r>
            <a:endParaRPr lang="en-US" sz="1300" dirty="0"/>
          </a:p>
        </p:txBody>
      </p:sp>
      <p:sp>
        <p:nvSpPr>
          <p:cNvPr id="9" name="Text 7"/>
          <p:cNvSpPr txBox="1"/>
          <p:nvPr/>
        </p:nvSpPr>
        <p:spPr>
          <a:xfrm>
            <a:off x="960120" y="3044952"/>
            <a:ext cx="3977640" cy="457200"/>
          </a:xfrm>
          <a:prstGeom prst="rect">
            <a:avLst/>
          </a:prstGeom>
          <a:noFill/>
          <a:ln/>
        </p:spPr>
        <p:txBody>
          <a:bodyPr wrap="square" lIns="0" tIns="0" rIns="0" bIns="0" rtlCol="0" anchor="t"/>
          <a:lstStyle/>
          <a:p>
            <a:pPr indent="0" marL="0">
              <a:buNone/>
            </a:pPr>
            <a:r>
              <a:rPr lang="en-US" sz="1300" dirty="0">
                <a:solidFill>
                  <a:srgbClr val="3B4045"/>
                </a:solidFill>
                <a:latin typeface="Arial" pitchFamily="34" charset="0"/>
                <a:ea typeface="Arial" pitchFamily="34" charset="-122"/>
                <a:cs typeface="Arial" pitchFamily="34" charset="-120"/>
              </a:rPr>
              <a:t>Orders fill instantly at any hour, as if the market never closed.</a:t>
            </a:r>
            <a:endParaRPr lang="en-US" sz="1300" dirty="0"/>
          </a:p>
        </p:txBody>
      </p:sp>
      <p:sp>
        <p:nvSpPr>
          <p:cNvPr id="10" name="Shape 8"/>
          <p:cNvSpPr/>
          <p:nvPr/>
        </p:nvSpPr>
        <p:spPr>
          <a:xfrm>
            <a:off x="594360" y="3575304"/>
            <a:ext cx="4343400" cy="0"/>
          </a:xfrm>
          <a:prstGeom prst="line">
            <a:avLst/>
          </a:prstGeom>
          <a:noFill/>
          <a:ln w="9525">
            <a:solidFill>
              <a:srgbClr val="D6D1C7"/>
            </a:solidFill>
            <a:prstDash val="solid"/>
          </a:ln>
        </p:spPr>
      </p:sp>
      <p:sp>
        <p:nvSpPr>
          <p:cNvPr id="11" name="Text 9"/>
          <p:cNvSpPr txBox="1"/>
          <p:nvPr/>
        </p:nvSpPr>
        <p:spPr>
          <a:xfrm>
            <a:off x="594360" y="3666744"/>
            <a:ext cx="274320" cy="228600"/>
          </a:xfrm>
          <a:prstGeom prst="rect">
            <a:avLst/>
          </a:prstGeom>
          <a:noFill/>
          <a:ln/>
        </p:spPr>
        <p:txBody>
          <a:bodyPr wrap="square" lIns="0" tIns="0" rIns="0" bIns="0" rtlCol="0" anchor="t"/>
          <a:lstStyle/>
          <a:p>
            <a:pPr indent="0" marL="0">
              <a:buNone/>
            </a:pPr>
            <a:r>
              <a:rPr lang="en-US" sz="1300" b="1" dirty="0">
                <a:solidFill>
                  <a:srgbClr val="1F6F5C"/>
                </a:solidFill>
                <a:latin typeface="Cambria" pitchFamily="34" charset="0"/>
                <a:ea typeface="Cambria" pitchFamily="34" charset="-122"/>
                <a:cs typeface="Cambria" pitchFamily="34" charset="-120"/>
              </a:rPr>
              <a:t>3</a:t>
            </a:r>
            <a:endParaRPr lang="en-US" sz="1300" dirty="0"/>
          </a:p>
        </p:txBody>
      </p:sp>
      <p:sp>
        <p:nvSpPr>
          <p:cNvPr id="12" name="Text 10"/>
          <p:cNvSpPr txBox="1"/>
          <p:nvPr/>
        </p:nvSpPr>
        <p:spPr>
          <a:xfrm>
            <a:off x="960120" y="3666744"/>
            <a:ext cx="3977640" cy="457200"/>
          </a:xfrm>
          <a:prstGeom prst="rect">
            <a:avLst/>
          </a:prstGeom>
          <a:noFill/>
          <a:ln/>
        </p:spPr>
        <p:txBody>
          <a:bodyPr wrap="square" lIns="0" tIns="0" rIns="0" bIns="0" rtlCol="0" anchor="t"/>
          <a:lstStyle/>
          <a:p>
            <a:pPr indent="0" marL="0">
              <a:buNone/>
            </a:pPr>
            <a:r>
              <a:rPr lang="en-US" sz="1300" dirty="0">
                <a:solidFill>
                  <a:srgbClr val="3B4045"/>
                </a:solidFill>
                <a:latin typeface="Arial" pitchFamily="34" charset="0"/>
                <a:ea typeface="Arial" pitchFamily="34" charset="-122"/>
                <a:cs typeface="Arial" pitchFamily="34" charset="-120"/>
              </a:rPr>
              <a:t>Student data projects stop at a notebook and a stale CSV file.</a:t>
            </a:r>
            <a:endParaRPr lang="en-US" sz="1300" dirty="0"/>
          </a:p>
        </p:txBody>
      </p:sp>
      <p:sp>
        <p:nvSpPr>
          <p:cNvPr id="13" name="Shape 11"/>
          <p:cNvSpPr/>
          <p:nvPr/>
        </p:nvSpPr>
        <p:spPr>
          <a:xfrm>
            <a:off x="594360" y="4434840"/>
            <a:ext cx="4343400" cy="1600200"/>
          </a:xfrm>
          <a:prstGeom prst="rect">
            <a:avLst/>
          </a:prstGeom>
          <a:solidFill>
            <a:srgbClr val="E3EEE9"/>
          </a:solidFill>
          <a:ln w="9525">
            <a:solidFill>
              <a:srgbClr val="E3EEE9"/>
            </a:solidFill>
            <a:prstDash val="solid"/>
          </a:ln>
        </p:spPr>
      </p:sp>
      <p:sp>
        <p:nvSpPr>
          <p:cNvPr id="14" name="Text 12"/>
          <p:cNvSpPr txBox="1"/>
          <p:nvPr/>
        </p:nvSpPr>
        <p:spPr>
          <a:xfrm>
            <a:off x="822960" y="4617720"/>
            <a:ext cx="3931920" cy="219456"/>
          </a:xfrm>
          <a:prstGeom prst="rect">
            <a:avLst/>
          </a:prstGeom>
          <a:noFill/>
          <a:ln/>
        </p:spPr>
        <p:txBody>
          <a:bodyPr wrap="square" lIns="0" tIns="0" rIns="0" bIns="0" rtlCol="0" anchor="t"/>
          <a:lstStyle/>
          <a:p>
            <a:pPr indent="0" marL="0">
              <a:buNone/>
            </a:pPr>
            <a:r>
              <a:rPr lang="en-US" sz="950" b="1" spc="200" kern="0" dirty="0">
                <a:solidFill>
                  <a:srgbClr val="1F6F5C"/>
                </a:solidFill>
                <a:latin typeface="Arial" pitchFamily="34" charset="0"/>
                <a:ea typeface="Arial" pitchFamily="34" charset="-122"/>
                <a:cs typeface="Arial" pitchFamily="34" charset="-120"/>
              </a:rPr>
              <a:t>PROBLEM STATEMENT</a:t>
            </a:r>
            <a:endParaRPr lang="en-US" sz="950" dirty="0"/>
          </a:p>
        </p:txBody>
      </p:sp>
      <p:sp>
        <p:nvSpPr>
          <p:cNvPr id="15" name="Text 13"/>
          <p:cNvSpPr txBox="1"/>
          <p:nvPr/>
        </p:nvSpPr>
        <p:spPr>
          <a:xfrm>
            <a:off x="822960" y="4901184"/>
            <a:ext cx="3931920" cy="1051560"/>
          </a:xfrm>
          <a:prstGeom prst="rect">
            <a:avLst/>
          </a:prstGeom>
          <a:noFill/>
          <a:ln/>
        </p:spPr>
        <p:txBody>
          <a:bodyPr wrap="square" lIns="0" tIns="0" rIns="0" bIns="0" rtlCol="0" anchor="t"/>
          <a:lstStyle/>
          <a:p>
            <a:pPr indent="0" marL="0">
              <a:lnSpc>
                <a:spcPct val="105000"/>
              </a:lnSpc>
              <a:buNone/>
            </a:pPr>
            <a:r>
              <a:rPr lang="en-US" sz="1400" i="1" dirty="0">
                <a:solidFill>
                  <a:srgbClr val="16191C"/>
                </a:solidFill>
                <a:latin typeface="Georgia" pitchFamily="34" charset="0"/>
                <a:ea typeface="Georgia" pitchFamily="34" charset="-122"/>
                <a:cs typeface="Georgia" pitchFamily="34" charset="-120"/>
              </a:rPr>
              <a:t>Build a platform where a learner can research and paper-trade Indian stocks on live data, under real market rules, with every cost applied and every result open to audit.</a:t>
            </a:r>
            <a:endParaRPr lang="en-US" sz="1400" dirty="0"/>
          </a:p>
        </p:txBody>
      </p:sp>
      <p:sp>
        <p:nvSpPr>
          <p:cNvPr id="16" name="Text 14"/>
          <p:cNvSpPr txBox="1"/>
          <p:nvPr/>
        </p:nvSpPr>
        <p:spPr>
          <a:xfrm>
            <a:off x="5367528" y="411480"/>
            <a:ext cx="6153912" cy="2331720"/>
          </a:xfrm>
          <a:prstGeom prst="rect">
            <a:avLst/>
          </a:prstGeom>
          <a:noFill/>
          <a:ln/>
        </p:spPr>
        <p:txBody>
          <a:bodyPr wrap="square" lIns="0" tIns="0" rIns="0" bIns="0" rtlCol="0" anchor="t"/>
          <a:lstStyle/>
          <a:p>
            <a:pPr indent="0" marL="0">
              <a:buNone/>
            </a:pPr>
            <a:r>
              <a:rPr lang="en-US" sz="15000" dirty="0">
                <a:solidFill>
                  <a:srgbClr val="16191C"/>
                </a:solidFill>
                <a:latin typeface="Cambria" pitchFamily="34" charset="0"/>
                <a:ea typeface="Cambria" pitchFamily="34" charset="-122"/>
                <a:cs typeface="Cambria" pitchFamily="34" charset="-120"/>
              </a:rPr>
              <a:t>0.18%</a:t>
            </a:r>
            <a:endParaRPr lang="en-US" sz="15000" dirty="0"/>
          </a:p>
        </p:txBody>
      </p:sp>
      <p:sp>
        <p:nvSpPr>
          <p:cNvPr id="17" name="Text 15"/>
          <p:cNvSpPr txBox="1"/>
          <p:nvPr/>
        </p:nvSpPr>
        <p:spPr>
          <a:xfrm>
            <a:off x="5440680" y="2834640"/>
            <a:ext cx="5788152" cy="548640"/>
          </a:xfrm>
          <a:prstGeom prst="rect">
            <a:avLst/>
          </a:prstGeom>
          <a:noFill/>
          <a:ln/>
        </p:spPr>
        <p:txBody>
          <a:bodyPr wrap="square" lIns="0" tIns="0" rIns="0" bIns="0" rtlCol="0" anchor="t"/>
          <a:lstStyle/>
          <a:p>
            <a:pPr indent="0" marL="0">
              <a:buNone/>
            </a:pPr>
            <a:r>
              <a:rPr lang="en-US" sz="1400" dirty="0">
                <a:solidFill>
                  <a:srgbClr val="3B4045"/>
                </a:solidFill>
                <a:latin typeface="Arial" pitchFamily="34" charset="0"/>
                <a:ea typeface="Arial" pitchFamily="34" charset="-122"/>
                <a:cs typeface="Arial" pitchFamily="34" charset="-120"/>
              </a:rPr>
              <a:t>The price has to move this far, in your favour, just for a ₹1,00,000 intraday round trip to break even.</a:t>
            </a:r>
            <a:endParaRPr lang="en-US" sz="1400" dirty="0"/>
          </a:p>
        </p:txBody>
      </p:sp>
      <p:sp>
        <p:nvSpPr>
          <p:cNvPr id="18" name="Shape 16"/>
          <p:cNvSpPr/>
          <p:nvPr/>
        </p:nvSpPr>
        <p:spPr>
          <a:xfrm>
            <a:off x="5440680" y="3657600"/>
            <a:ext cx="6153912" cy="0"/>
          </a:xfrm>
          <a:prstGeom prst="line">
            <a:avLst/>
          </a:prstGeom>
          <a:noFill/>
          <a:ln w="9525">
            <a:solidFill>
              <a:srgbClr val="D6D1C7"/>
            </a:solidFill>
            <a:prstDash val="solid"/>
          </a:ln>
        </p:spPr>
      </p:sp>
      <p:sp>
        <p:nvSpPr>
          <p:cNvPr id="19" name="Text 17"/>
          <p:cNvSpPr txBox="1"/>
          <p:nvPr/>
        </p:nvSpPr>
        <p:spPr>
          <a:xfrm>
            <a:off x="5440680" y="3767328"/>
            <a:ext cx="4690872" cy="237744"/>
          </a:xfrm>
          <a:prstGeom prst="rect">
            <a:avLst/>
          </a:prstGeom>
          <a:noFill/>
          <a:ln/>
        </p:spPr>
        <p:txBody>
          <a:bodyPr wrap="square" lIns="0" tIns="0" rIns="0" bIns="0" rtlCol="0" anchor="t"/>
          <a:lstStyle/>
          <a:p>
            <a:pPr indent="0" marL="0">
              <a:buNone/>
            </a:pPr>
            <a:r>
              <a:rPr lang="en-US" sz="1300" dirty="0">
                <a:solidFill>
                  <a:srgbClr val="3B4045"/>
                </a:solidFill>
                <a:latin typeface="Arial" pitchFamily="34" charset="0"/>
                <a:ea typeface="Arial" pitchFamily="34" charset="-122"/>
                <a:cs typeface="Arial" pitchFamily="34" charset="-120"/>
              </a:rPr>
              <a:t>Statutory charges and brokerage</a:t>
            </a:r>
            <a:endParaRPr lang="en-US" sz="1300" dirty="0"/>
          </a:p>
        </p:txBody>
      </p:sp>
      <p:sp>
        <p:nvSpPr>
          <p:cNvPr id="20" name="Text 18"/>
          <p:cNvSpPr txBox="1"/>
          <p:nvPr/>
        </p:nvSpPr>
        <p:spPr>
          <a:xfrm>
            <a:off x="10131552" y="3767328"/>
            <a:ext cx="1463040" cy="237744"/>
          </a:xfrm>
          <a:prstGeom prst="rect">
            <a:avLst/>
          </a:prstGeom>
          <a:noFill/>
          <a:ln/>
        </p:spPr>
        <p:txBody>
          <a:bodyPr wrap="square" lIns="0" tIns="0" rIns="0" bIns="0" rtlCol="0" anchor="t"/>
          <a:lstStyle/>
          <a:p>
            <a:pPr algn="r" indent="0" marL="0">
              <a:buNone/>
            </a:pPr>
            <a:r>
              <a:rPr lang="en-US" sz="1300" dirty="0">
                <a:solidFill>
                  <a:srgbClr val="16191C"/>
                </a:solidFill>
                <a:latin typeface="Arial" pitchFamily="34" charset="0"/>
                <a:ea typeface="Arial" pitchFamily="34" charset="-122"/>
                <a:cs typeface="Arial" pitchFamily="34" charset="-120"/>
              </a:rPr>
              <a:t>₹82.44</a:t>
            </a:r>
            <a:endParaRPr lang="en-US" sz="1300" dirty="0"/>
          </a:p>
        </p:txBody>
      </p:sp>
      <p:sp>
        <p:nvSpPr>
          <p:cNvPr id="21" name="Shape 19"/>
          <p:cNvSpPr/>
          <p:nvPr/>
        </p:nvSpPr>
        <p:spPr>
          <a:xfrm>
            <a:off x="5440680" y="4078224"/>
            <a:ext cx="6153912" cy="0"/>
          </a:xfrm>
          <a:prstGeom prst="line">
            <a:avLst/>
          </a:prstGeom>
          <a:noFill/>
          <a:ln w="9525">
            <a:solidFill>
              <a:srgbClr val="D6D1C7"/>
            </a:solidFill>
            <a:prstDash val="solid"/>
          </a:ln>
        </p:spPr>
      </p:sp>
      <p:sp>
        <p:nvSpPr>
          <p:cNvPr id="22" name="Text 20"/>
          <p:cNvSpPr txBox="1"/>
          <p:nvPr/>
        </p:nvSpPr>
        <p:spPr>
          <a:xfrm>
            <a:off x="5440680" y="4187952"/>
            <a:ext cx="4690872" cy="237744"/>
          </a:xfrm>
          <a:prstGeom prst="rect">
            <a:avLst/>
          </a:prstGeom>
          <a:noFill/>
          <a:ln/>
        </p:spPr>
        <p:txBody>
          <a:bodyPr wrap="square" lIns="0" tIns="0" rIns="0" bIns="0" rtlCol="0" anchor="t"/>
          <a:lstStyle/>
          <a:p>
            <a:pPr indent="0" marL="0">
              <a:buNone/>
            </a:pPr>
            <a:r>
              <a:rPr lang="en-US" sz="1300" dirty="0">
                <a:solidFill>
                  <a:srgbClr val="3B4045"/>
                </a:solidFill>
                <a:latin typeface="Arial" pitchFamily="34" charset="0"/>
                <a:ea typeface="Arial" pitchFamily="34" charset="-122"/>
                <a:cs typeface="Arial" pitchFamily="34" charset="-120"/>
              </a:rPr>
              <a:t>Slippage, 0.05% each way</a:t>
            </a:r>
            <a:endParaRPr lang="en-US" sz="1300" dirty="0"/>
          </a:p>
        </p:txBody>
      </p:sp>
      <p:sp>
        <p:nvSpPr>
          <p:cNvPr id="23" name="Text 21"/>
          <p:cNvSpPr txBox="1"/>
          <p:nvPr/>
        </p:nvSpPr>
        <p:spPr>
          <a:xfrm>
            <a:off x="10131552" y="4187952"/>
            <a:ext cx="1463040" cy="237744"/>
          </a:xfrm>
          <a:prstGeom prst="rect">
            <a:avLst/>
          </a:prstGeom>
          <a:noFill/>
          <a:ln/>
        </p:spPr>
        <p:txBody>
          <a:bodyPr wrap="square" lIns="0" tIns="0" rIns="0" bIns="0" rtlCol="0" anchor="t"/>
          <a:lstStyle/>
          <a:p>
            <a:pPr algn="r" indent="0" marL="0">
              <a:buNone/>
            </a:pPr>
            <a:r>
              <a:rPr lang="en-US" sz="1300" dirty="0">
                <a:solidFill>
                  <a:srgbClr val="16191C"/>
                </a:solidFill>
                <a:latin typeface="Arial" pitchFamily="34" charset="0"/>
                <a:ea typeface="Arial" pitchFamily="34" charset="-122"/>
                <a:cs typeface="Arial" pitchFamily="34" charset="-120"/>
              </a:rPr>
              <a:t>₹100.00</a:t>
            </a:r>
            <a:endParaRPr lang="en-US" sz="1300" dirty="0"/>
          </a:p>
        </p:txBody>
      </p:sp>
      <p:sp>
        <p:nvSpPr>
          <p:cNvPr id="24" name="Shape 22"/>
          <p:cNvSpPr/>
          <p:nvPr/>
        </p:nvSpPr>
        <p:spPr>
          <a:xfrm>
            <a:off x="5440680" y="4498848"/>
            <a:ext cx="6153912" cy="0"/>
          </a:xfrm>
          <a:prstGeom prst="line">
            <a:avLst/>
          </a:prstGeom>
          <a:noFill/>
          <a:ln w="12700">
            <a:solidFill>
              <a:srgbClr val="16191C"/>
            </a:solidFill>
            <a:prstDash val="solid"/>
          </a:ln>
        </p:spPr>
      </p:sp>
      <p:sp>
        <p:nvSpPr>
          <p:cNvPr id="25" name="Text 23"/>
          <p:cNvSpPr txBox="1"/>
          <p:nvPr/>
        </p:nvSpPr>
        <p:spPr>
          <a:xfrm>
            <a:off x="5440680" y="4608576"/>
            <a:ext cx="4690872" cy="237744"/>
          </a:xfrm>
          <a:prstGeom prst="rect">
            <a:avLst/>
          </a:prstGeom>
          <a:noFill/>
          <a:ln/>
        </p:spPr>
        <p:txBody>
          <a:bodyPr wrap="square" lIns="0" tIns="0" rIns="0" bIns="0" rtlCol="0" anchor="t"/>
          <a:lstStyle/>
          <a:p>
            <a:pPr indent="0" marL="0">
              <a:buNone/>
            </a:pPr>
            <a:r>
              <a:rPr lang="en-US" sz="1300" b="1" dirty="0">
                <a:solidFill>
                  <a:srgbClr val="16191C"/>
                </a:solidFill>
                <a:latin typeface="Arial" pitchFamily="34" charset="0"/>
                <a:ea typeface="Arial" pitchFamily="34" charset="-122"/>
                <a:cs typeface="Arial" pitchFamily="34" charset="-120"/>
              </a:rPr>
              <a:t>Cost of the round trip</a:t>
            </a:r>
            <a:endParaRPr lang="en-US" sz="1300" dirty="0"/>
          </a:p>
        </p:txBody>
      </p:sp>
      <p:sp>
        <p:nvSpPr>
          <p:cNvPr id="26" name="Text 24"/>
          <p:cNvSpPr txBox="1"/>
          <p:nvPr/>
        </p:nvSpPr>
        <p:spPr>
          <a:xfrm>
            <a:off x="10131552" y="4608576"/>
            <a:ext cx="1463040" cy="237744"/>
          </a:xfrm>
          <a:prstGeom prst="rect">
            <a:avLst/>
          </a:prstGeom>
          <a:noFill/>
          <a:ln/>
        </p:spPr>
        <p:txBody>
          <a:bodyPr wrap="square" lIns="0" tIns="0" rIns="0" bIns="0" rtlCol="0" anchor="t"/>
          <a:lstStyle/>
          <a:p>
            <a:pPr algn="r" indent="0" marL="0">
              <a:buNone/>
            </a:pPr>
            <a:r>
              <a:rPr lang="en-US" sz="1300" b="1" dirty="0">
                <a:solidFill>
                  <a:srgbClr val="16191C"/>
                </a:solidFill>
                <a:latin typeface="Arial" pitchFamily="34" charset="0"/>
                <a:ea typeface="Arial" pitchFamily="34" charset="-122"/>
                <a:cs typeface="Arial" pitchFamily="34" charset="-120"/>
              </a:rPr>
              <a:t>₹182.44</a:t>
            </a:r>
            <a:endParaRPr lang="en-US" sz="1300" dirty="0"/>
          </a:p>
        </p:txBody>
      </p:sp>
      <p:sp>
        <p:nvSpPr>
          <p:cNvPr id="27" name="Shape 25"/>
          <p:cNvSpPr/>
          <p:nvPr/>
        </p:nvSpPr>
        <p:spPr>
          <a:xfrm>
            <a:off x="5440680" y="4919472"/>
            <a:ext cx="6153912" cy="0"/>
          </a:xfrm>
          <a:prstGeom prst="line">
            <a:avLst/>
          </a:prstGeom>
          <a:noFill/>
          <a:ln w="9525">
            <a:solidFill>
              <a:srgbClr val="D6D1C7"/>
            </a:solidFill>
            <a:prstDash val="solid"/>
          </a:ln>
        </p:spPr>
      </p:sp>
      <p:sp>
        <p:nvSpPr>
          <p:cNvPr id="28" name="Text 26"/>
          <p:cNvSpPr txBox="1"/>
          <p:nvPr/>
        </p:nvSpPr>
        <p:spPr>
          <a:xfrm>
            <a:off x="5440680" y="5074920"/>
            <a:ext cx="5788152" cy="384048"/>
          </a:xfrm>
          <a:prstGeom prst="rect">
            <a:avLst/>
          </a:prstGeom>
          <a:noFill/>
          <a:ln/>
        </p:spPr>
        <p:txBody>
          <a:bodyPr wrap="square" lIns="0" tIns="0" rIns="0" bIns="0" rtlCol="0" anchor="t"/>
          <a:lstStyle/>
          <a:p>
            <a:pPr indent="0" marL="0">
              <a:buNone/>
            </a:pPr>
            <a:r>
              <a:rPr lang="en-US" sz="1000" dirty="0">
                <a:solidFill>
                  <a:srgbClr val="6F747A"/>
                </a:solidFill>
                <a:latin typeface="Arial" pitchFamily="34" charset="0"/>
                <a:ea typeface="Arial" pitchFamily="34" charset="-122"/>
                <a:cs typeface="Arial" pitchFamily="34" charset="-120"/>
              </a:rPr>
              <a:t>Rates from the MarketLens fee schedule. It mirrors published broker schedules and is not yet verified against NSE circulars.</a:t>
            </a:r>
            <a:endParaRPr lang="en-US" sz="1000" dirty="0"/>
          </a:p>
        </p:txBody>
      </p:sp>
      <p:sp>
        <p:nvSpPr>
          <p:cNvPr id="29" name="Text 27"/>
          <p:cNvSpPr txBox="1"/>
          <p:nvPr/>
        </p:nvSpPr>
        <p:spPr>
          <a:xfrm>
            <a:off x="594360" y="6382512"/>
            <a:ext cx="2743200" cy="201168"/>
          </a:xfrm>
          <a:prstGeom prst="rect">
            <a:avLst/>
          </a:prstGeom>
          <a:noFill/>
          <a:ln/>
        </p:spPr>
        <p:txBody>
          <a:bodyPr wrap="square" lIns="0" tIns="0" rIns="0" bIns="0" rtlCol="0" anchor="t"/>
          <a:lstStyle/>
          <a:p>
            <a:pPr indent="0" marL="0">
              <a:buNone/>
            </a:pPr>
            <a:r>
              <a:rPr lang="en-US" sz="1000" i="1" dirty="0">
                <a:solidFill>
                  <a:srgbClr val="6F747A"/>
                </a:solidFill>
                <a:latin typeface="Georgia" pitchFamily="34" charset="0"/>
                <a:ea typeface="Georgia" pitchFamily="34" charset="-122"/>
                <a:cs typeface="Georgia" pitchFamily="34" charset="-120"/>
              </a:rPr>
              <a:t>MarketLens</a:t>
            </a:r>
            <a:endParaRPr lang="en-US" sz="1000" dirty="0"/>
          </a:p>
        </p:txBody>
      </p:sp>
      <p:sp>
        <p:nvSpPr>
          <p:cNvPr id="30" name="Text 28"/>
          <p:cNvSpPr txBox="1"/>
          <p:nvPr/>
        </p:nvSpPr>
        <p:spPr>
          <a:xfrm>
            <a:off x="9765792" y="6382512"/>
            <a:ext cx="1828800" cy="201168"/>
          </a:xfrm>
          <a:prstGeom prst="rect">
            <a:avLst/>
          </a:prstGeom>
          <a:noFill/>
          <a:ln/>
        </p:spPr>
        <p:txBody>
          <a:bodyPr wrap="square" lIns="0" tIns="0" rIns="0" bIns="0" rtlCol="0" anchor="t"/>
          <a:lstStyle/>
          <a:p>
            <a:pPr algn="r" indent="0" marL="0">
              <a:buNone/>
            </a:pPr>
            <a:r>
              <a:rPr lang="en-US" sz="900" spc="100" kern="0" dirty="0">
                <a:solidFill>
                  <a:srgbClr val="6F747A"/>
                </a:solidFill>
                <a:latin typeface="Arial" pitchFamily="34" charset="0"/>
                <a:ea typeface="Arial" pitchFamily="34" charset="-122"/>
                <a:cs typeface="Arial" pitchFamily="34" charset="-120"/>
              </a:rPr>
              <a:t>03 / 12</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94360" y="457200"/>
            <a:ext cx="6400800" cy="228600"/>
          </a:xfrm>
          <a:prstGeom prst="rect">
            <a:avLst/>
          </a:prstGeom>
          <a:noFill/>
          <a:ln/>
        </p:spPr>
        <p:txBody>
          <a:bodyPr wrap="square" lIns="0" tIns="0" rIns="0" bIns="0" rtlCol="0" anchor="t"/>
          <a:lstStyle/>
          <a:p>
            <a:pPr indent="0" marL="0">
              <a:buNone/>
            </a:pPr>
            <a:r>
              <a:rPr lang="en-US" sz="950" b="1" spc="200" kern="0" dirty="0">
                <a:solidFill>
                  <a:srgbClr val="16191C"/>
                </a:solidFill>
                <a:latin typeface="Arial" pitchFamily="34" charset="0"/>
                <a:ea typeface="Arial" pitchFamily="34" charset="-122"/>
                <a:cs typeface="Arial" pitchFamily="34" charset="-120"/>
              </a:rPr>
              <a:t>No. 03</a:t>
            </a:r>
            <a:pPr indent="0" marL="0">
              <a:buNone/>
            </a:pPr>
            <a:r>
              <a:rPr lang="en-US" sz="950" b="1" spc="200" kern="0" dirty="0">
                <a:solidFill>
                  <a:srgbClr val="1F6F5C"/>
                </a:solidFill>
                <a:latin typeface="Arial" pitchFamily="34" charset="0"/>
                <a:ea typeface="Arial" pitchFamily="34" charset="-122"/>
                <a:cs typeface="Arial" pitchFamily="34" charset="-120"/>
              </a:rPr>
              <a:t>     OBJECTIVES</a:t>
            </a:r>
            <a:endParaRPr lang="en-US" sz="950" dirty="0"/>
          </a:p>
        </p:txBody>
      </p:sp>
      <p:sp>
        <p:nvSpPr>
          <p:cNvPr id="3" name="Text 1"/>
          <p:cNvSpPr txBox="1"/>
          <p:nvPr/>
        </p:nvSpPr>
        <p:spPr>
          <a:xfrm>
            <a:off x="594360" y="749808"/>
            <a:ext cx="11000232" cy="731520"/>
          </a:xfrm>
          <a:prstGeom prst="rect">
            <a:avLst/>
          </a:prstGeom>
          <a:noFill/>
          <a:ln/>
        </p:spPr>
        <p:txBody>
          <a:bodyPr wrap="square" lIns="0" tIns="0" rIns="0" bIns="0" rtlCol="0" anchor="t"/>
          <a:lstStyle/>
          <a:p>
            <a:pPr indent="0" marL="0">
              <a:buNone/>
            </a:pPr>
            <a:r>
              <a:rPr lang="en-US" sz="3200" dirty="0">
                <a:solidFill>
                  <a:srgbClr val="16191C"/>
                </a:solidFill>
                <a:latin typeface="Georgia" pitchFamily="34" charset="0"/>
                <a:ea typeface="Georgia" pitchFamily="34" charset="-122"/>
                <a:cs typeface="Georgia" pitchFamily="34" charset="-120"/>
              </a:rPr>
              <a:t>What MarketLens set out to do.</a:t>
            </a:r>
            <a:endParaRPr lang="en-US" sz="3200" dirty="0"/>
          </a:p>
        </p:txBody>
      </p:sp>
      <p:sp>
        <p:nvSpPr>
          <p:cNvPr id="4" name="Shape 2"/>
          <p:cNvSpPr/>
          <p:nvPr/>
        </p:nvSpPr>
        <p:spPr>
          <a:xfrm>
            <a:off x="594360" y="1920240"/>
            <a:ext cx="1995221" cy="0"/>
          </a:xfrm>
          <a:prstGeom prst="line">
            <a:avLst/>
          </a:prstGeom>
          <a:noFill/>
          <a:ln w="12700">
            <a:solidFill>
              <a:srgbClr val="16191C"/>
            </a:solidFill>
            <a:prstDash val="solid"/>
          </a:ln>
        </p:spPr>
      </p:sp>
      <p:sp>
        <p:nvSpPr>
          <p:cNvPr id="5" name="Text 3"/>
          <p:cNvSpPr txBox="1"/>
          <p:nvPr/>
        </p:nvSpPr>
        <p:spPr>
          <a:xfrm>
            <a:off x="594360" y="2057400"/>
            <a:ext cx="1995221" cy="548640"/>
          </a:xfrm>
          <a:prstGeom prst="rect">
            <a:avLst/>
          </a:prstGeom>
          <a:noFill/>
          <a:ln/>
        </p:spPr>
        <p:txBody>
          <a:bodyPr wrap="square" lIns="0" tIns="0" rIns="0" bIns="0" rtlCol="0" anchor="t"/>
          <a:lstStyle/>
          <a:p>
            <a:pPr indent="0" marL="0">
              <a:buNone/>
            </a:pPr>
            <a:r>
              <a:rPr lang="en-US" sz="3000" dirty="0">
                <a:solidFill>
                  <a:srgbClr val="1F6F5C"/>
                </a:solidFill>
                <a:latin typeface="Cambria" pitchFamily="34" charset="0"/>
                <a:ea typeface="Cambria" pitchFamily="34" charset="-122"/>
                <a:cs typeface="Cambria" pitchFamily="34" charset="-120"/>
              </a:rPr>
              <a:t>01</a:t>
            </a:r>
            <a:endParaRPr lang="en-US" sz="3000" dirty="0"/>
          </a:p>
        </p:txBody>
      </p:sp>
      <p:sp>
        <p:nvSpPr>
          <p:cNvPr id="6" name="Text 4"/>
          <p:cNvSpPr txBox="1"/>
          <p:nvPr/>
        </p:nvSpPr>
        <p:spPr>
          <a:xfrm>
            <a:off x="594360" y="2697480"/>
            <a:ext cx="1995221" cy="502920"/>
          </a:xfrm>
          <a:prstGeom prst="rect">
            <a:avLst/>
          </a:prstGeom>
          <a:noFill/>
          <a:ln/>
        </p:spPr>
        <p:txBody>
          <a:bodyPr wrap="square" lIns="0" tIns="0" rIns="0" bIns="0" rtlCol="0" anchor="t"/>
          <a:lstStyle/>
          <a:p>
            <a:pPr indent="0" marL="0">
              <a:buNone/>
            </a:pPr>
            <a:r>
              <a:rPr lang="en-US" sz="1400" b="1" dirty="0">
                <a:solidFill>
                  <a:srgbClr val="16191C"/>
                </a:solidFill>
                <a:latin typeface="Arial" pitchFamily="34" charset="0"/>
                <a:ea typeface="Arial" pitchFamily="34" charset="-122"/>
                <a:cs typeface="Arial" pitchFamily="34" charset="-120"/>
              </a:rPr>
              <a:t>Show live, honest data</a:t>
            </a:r>
            <a:endParaRPr lang="en-US" sz="1400" dirty="0"/>
          </a:p>
        </p:txBody>
      </p:sp>
      <p:sp>
        <p:nvSpPr>
          <p:cNvPr id="7" name="Text 5"/>
          <p:cNvSpPr txBox="1"/>
          <p:nvPr/>
        </p:nvSpPr>
        <p:spPr>
          <a:xfrm>
            <a:off x="594360" y="3246120"/>
            <a:ext cx="1995221" cy="1234440"/>
          </a:xfrm>
          <a:prstGeom prst="rect">
            <a:avLst/>
          </a:prstGeom>
          <a:noFill/>
          <a:ln/>
        </p:spPr>
        <p:txBody>
          <a:bodyPr wrap="square" lIns="0" tIns="0" rIns="0" bIns="0" rtlCol="0" anchor="t"/>
          <a:lstStyle/>
          <a:p>
            <a:pPr indent="0" marL="0">
              <a:lnSpc>
                <a:spcPct val="110000"/>
              </a:lnSpc>
              <a:buNone/>
            </a:pPr>
            <a:r>
              <a:rPr lang="en-US" sz="1200" dirty="0">
                <a:solidFill>
                  <a:srgbClr val="3B4045"/>
                </a:solidFill>
                <a:latin typeface="Arial" pitchFamily="34" charset="0"/>
                <a:ea typeface="Arial" pitchFamily="34" charset="-122"/>
                <a:cs typeface="Arial" pitchFamily="34" charset="-120"/>
              </a:rPr>
              <a:t>Live NSE and BSE quotes, charts, IPOs, fund NAVs and news. A dash, never an invented number, when a feed fails.</a:t>
            </a:r>
            <a:endParaRPr lang="en-US" sz="1200" dirty="0"/>
          </a:p>
        </p:txBody>
      </p:sp>
      <p:sp>
        <p:nvSpPr>
          <p:cNvPr id="8" name="Shape 6"/>
          <p:cNvSpPr/>
          <p:nvPr/>
        </p:nvSpPr>
        <p:spPr>
          <a:xfrm>
            <a:off x="2845613" y="1920240"/>
            <a:ext cx="1995221" cy="0"/>
          </a:xfrm>
          <a:prstGeom prst="line">
            <a:avLst/>
          </a:prstGeom>
          <a:noFill/>
          <a:ln w="12700">
            <a:solidFill>
              <a:srgbClr val="16191C"/>
            </a:solidFill>
            <a:prstDash val="solid"/>
          </a:ln>
        </p:spPr>
      </p:sp>
      <p:sp>
        <p:nvSpPr>
          <p:cNvPr id="9" name="Text 7"/>
          <p:cNvSpPr txBox="1"/>
          <p:nvPr/>
        </p:nvSpPr>
        <p:spPr>
          <a:xfrm>
            <a:off x="2845613" y="2057400"/>
            <a:ext cx="1995221" cy="548640"/>
          </a:xfrm>
          <a:prstGeom prst="rect">
            <a:avLst/>
          </a:prstGeom>
          <a:noFill/>
          <a:ln/>
        </p:spPr>
        <p:txBody>
          <a:bodyPr wrap="square" lIns="0" tIns="0" rIns="0" bIns="0" rtlCol="0" anchor="t"/>
          <a:lstStyle/>
          <a:p>
            <a:pPr indent="0" marL="0">
              <a:buNone/>
            </a:pPr>
            <a:r>
              <a:rPr lang="en-US" sz="3000" dirty="0">
                <a:solidFill>
                  <a:srgbClr val="1F6F5C"/>
                </a:solidFill>
                <a:latin typeface="Cambria" pitchFamily="34" charset="0"/>
                <a:ea typeface="Cambria" pitchFamily="34" charset="-122"/>
                <a:cs typeface="Cambria" pitchFamily="34" charset="-120"/>
              </a:rPr>
              <a:t>02</a:t>
            </a:r>
            <a:endParaRPr lang="en-US" sz="3000" dirty="0"/>
          </a:p>
        </p:txBody>
      </p:sp>
      <p:sp>
        <p:nvSpPr>
          <p:cNvPr id="10" name="Text 8"/>
          <p:cNvSpPr txBox="1"/>
          <p:nvPr/>
        </p:nvSpPr>
        <p:spPr>
          <a:xfrm>
            <a:off x="2845613" y="2697480"/>
            <a:ext cx="1995221" cy="502920"/>
          </a:xfrm>
          <a:prstGeom prst="rect">
            <a:avLst/>
          </a:prstGeom>
          <a:noFill/>
          <a:ln/>
        </p:spPr>
        <p:txBody>
          <a:bodyPr wrap="square" lIns="0" tIns="0" rIns="0" bIns="0" rtlCol="0" anchor="t"/>
          <a:lstStyle/>
          <a:p>
            <a:pPr indent="0" marL="0">
              <a:buNone/>
            </a:pPr>
            <a:r>
              <a:rPr lang="en-US" sz="1400" b="1" dirty="0">
                <a:solidFill>
                  <a:srgbClr val="16191C"/>
                </a:solidFill>
                <a:latin typeface="Arial" pitchFamily="34" charset="0"/>
                <a:ea typeface="Arial" pitchFamily="34" charset="-122"/>
                <a:cs typeface="Arial" pitchFamily="34" charset="-120"/>
              </a:rPr>
              <a:t>Follow Indian market rules</a:t>
            </a:r>
            <a:endParaRPr lang="en-US" sz="1400" dirty="0"/>
          </a:p>
        </p:txBody>
      </p:sp>
      <p:sp>
        <p:nvSpPr>
          <p:cNvPr id="11" name="Text 9"/>
          <p:cNvSpPr txBox="1"/>
          <p:nvPr/>
        </p:nvSpPr>
        <p:spPr>
          <a:xfrm>
            <a:off x="2845613" y="3246120"/>
            <a:ext cx="1995221" cy="1234440"/>
          </a:xfrm>
          <a:prstGeom prst="rect">
            <a:avLst/>
          </a:prstGeom>
          <a:noFill/>
          <a:ln/>
        </p:spPr>
        <p:txBody>
          <a:bodyPr wrap="square" lIns="0" tIns="0" rIns="0" bIns="0" rtlCol="0" anchor="t"/>
          <a:lstStyle/>
          <a:p>
            <a:pPr indent="0" marL="0">
              <a:lnSpc>
                <a:spcPct val="110000"/>
              </a:lnSpc>
              <a:buNone/>
            </a:pPr>
            <a:r>
              <a:rPr lang="en-US" sz="1200" dirty="0">
                <a:solidFill>
                  <a:srgbClr val="3B4045"/>
                </a:solidFill>
                <a:latin typeface="Arial" pitchFamily="34" charset="0"/>
                <a:ea typeface="Arial" pitchFamily="34" charset="-122"/>
                <a:cs typeface="Arial" pitchFamily="34" charset="-120"/>
              </a:rPr>
              <a:t>Sessions from 9:15 to 3:30 IST, weekends and holidays closed, intraday positions squared off at 3:15 PM.</a:t>
            </a:r>
            <a:endParaRPr lang="en-US" sz="1200" dirty="0"/>
          </a:p>
        </p:txBody>
      </p:sp>
      <p:sp>
        <p:nvSpPr>
          <p:cNvPr id="12" name="Shape 10"/>
          <p:cNvSpPr/>
          <p:nvPr/>
        </p:nvSpPr>
        <p:spPr>
          <a:xfrm>
            <a:off x="5096866" y="1920240"/>
            <a:ext cx="1995221" cy="0"/>
          </a:xfrm>
          <a:prstGeom prst="line">
            <a:avLst/>
          </a:prstGeom>
          <a:noFill/>
          <a:ln w="12700">
            <a:solidFill>
              <a:srgbClr val="16191C"/>
            </a:solidFill>
            <a:prstDash val="solid"/>
          </a:ln>
        </p:spPr>
      </p:sp>
      <p:sp>
        <p:nvSpPr>
          <p:cNvPr id="13" name="Text 11"/>
          <p:cNvSpPr txBox="1"/>
          <p:nvPr/>
        </p:nvSpPr>
        <p:spPr>
          <a:xfrm>
            <a:off x="5096866" y="2057400"/>
            <a:ext cx="1995221" cy="548640"/>
          </a:xfrm>
          <a:prstGeom prst="rect">
            <a:avLst/>
          </a:prstGeom>
          <a:noFill/>
          <a:ln/>
        </p:spPr>
        <p:txBody>
          <a:bodyPr wrap="square" lIns="0" tIns="0" rIns="0" bIns="0" rtlCol="0" anchor="t"/>
          <a:lstStyle/>
          <a:p>
            <a:pPr indent="0" marL="0">
              <a:buNone/>
            </a:pPr>
            <a:r>
              <a:rPr lang="en-US" sz="3000" dirty="0">
                <a:solidFill>
                  <a:srgbClr val="1F6F5C"/>
                </a:solidFill>
                <a:latin typeface="Cambria" pitchFamily="34" charset="0"/>
                <a:ea typeface="Cambria" pitchFamily="34" charset="-122"/>
                <a:cs typeface="Cambria" pitchFamily="34" charset="-120"/>
              </a:rPr>
              <a:t>03</a:t>
            </a:r>
            <a:endParaRPr lang="en-US" sz="3000" dirty="0"/>
          </a:p>
        </p:txBody>
      </p:sp>
      <p:sp>
        <p:nvSpPr>
          <p:cNvPr id="14" name="Text 12"/>
          <p:cNvSpPr txBox="1"/>
          <p:nvPr/>
        </p:nvSpPr>
        <p:spPr>
          <a:xfrm>
            <a:off x="5096866" y="2697480"/>
            <a:ext cx="1995221" cy="502920"/>
          </a:xfrm>
          <a:prstGeom prst="rect">
            <a:avLst/>
          </a:prstGeom>
          <a:noFill/>
          <a:ln/>
        </p:spPr>
        <p:txBody>
          <a:bodyPr wrap="square" lIns="0" tIns="0" rIns="0" bIns="0" rtlCol="0" anchor="t"/>
          <a:lstStyle/>
          <a:p>
            <a:pPr indent="0" marL="0">
              <a:buNone/>
            </a:pPr>
            <a:r>
              <a:rPr lang="en-US" sz="1400" b="1" dirty="0">
                <a:solidFill>
                  <a:srgbClr val="16191C"/>
                </a:solidFill>
                <a:latin typeface="Arial" pitchFamily="34" charset="0"/>
                <a:ea typeface="Arial" pitchFamily="34" charset="-122"/>
                <a:cs typeface="Arial" pitchFamily="34" charset="-120"/>
              </a:rPr>
              <a:t>Itemise every cost</a:t>
            </a:r>
            <a:endParaRPr lang="en-US" sz="1400" dirty="0"/>
          </a:p>
        </p:txBody>
      </p:sp>
      <p:sp>
        <p:nvSpPr>
          <p:cNvPr id="15" name="Text 13"/>
          <p:cNvSpPr txBox="1"/>
          <p:nvPr/>
        </p:nvSpPr>
        <p:spPr>
          <a:xfrm>
            <a:off x="5096866" y="3246120"/>
            <a:ext cx="1995221" cy="1234440"/>
          </a:xfrm>
          <a:prstGeom prst="rect">
            <a:avLst/>
          </a:prstGeom>
          <a:noFill/>
          <a:ln/>
        </p:spPr>
        <p:txBody>
          <a:bodyPr wrap="square" lIns="0" tIns="0" rIns="0" bIns="0" rtlCol="0" anchor="t"/>
          <a:lstStyle/>
          <a:p>
            <a:pPr indent="0" marL="0">
              <a:lnSpc>
                <a:spcPct val="110000"/>
              </a:lnSpc>
              <a:buNone/>
            </a:pPr>
            <a:r>
              <a:rPr lang="en-US" sz="1200" dirty="0">
                <a:solidFill>
                  <a:srgbClr val="3B4045"/>
                </a:solidFill>
                <a:latin typeface="Arial" pitchFamily="34" charset="0"/>
                <a:ea typeface="Arial" pitchFamily="34" charset="-122"/>
                <a:cs typeface="Arial" pitchFamily="34" charset="-120"/>
              </a:rPr>
              <a:t>Brokerage, STT, exchange fee, SEBI fee, stamp duty, GST and slippage on every paper order.</a:t>
            </a:r>
            <a:endParaRPr lang="en-US" sz="1200" dirty="0"/>
          </a:p>
        </p:txBody>
      </p:sp>
      <p:sp>
        <p:nvSpPr>
          <p:cNvPr id="16" name="Shape 14"/>
          <p:cNvSpPr/>
          <p:nvPr/>
        </p:nvSpPr>
        <p:spPr>
          <a:xfrm>
            <a:off x="7348118" y="1920240"/>
            <a:ext cx="1995221" cy="0"/>
          </a:xfrm>
          <a:prstGeom prst="line">
            <a:avLst/>
          </a:prstGeom>
          <a:noFill/>
          <a:ln w="12700">
            <a:solidFill>
              <a:srgbClr val="16191C"/>
            </a:solidFill>
            <a:prstDash val="solid"/>
          </a:ln>
        </p:spPr>
      </p:sp>
      <p:sp>
        <p:nvSpPr>
          <p:cNvPr id="17" name="Text 15"/>
          <p:cNvSpPr txBox="1"/>
          <p:nvPr/>
        </p:nvSpPr>
        <p:spPr>
          <a:xfrm>
            <a:off x="7348118" y="2057400"/>
            <a:ext cx="1995221" cy="548640"/>
          </a:xfrm>
          <a:prstGeom prst="rect">
            <a:avLst/>
          </a:prstGeom>
          <a:noFill/>
          <a:ln/>
        </p:spPr>
        <p:txBody>
          <a:bodyPr wrap="square" lIns="0" tIns="0" rIns="0" bIns="0" rtlCol="0" anchor="t"/>
          <a:lstStyle/>
          <a:p>
            <a:pPr indent="0" marL="0">
              <a:buNone/>
            </a:pPr>
            <a:r>
              <a:rPr lang="en-US" sz="3000" dirty="0">
                <a:solidFill>
                  <a:srgbClr val="1F6F5C"/>
                </a:solidFill>
                <a:latin typeface="Cambria" pitchFamily="34" charset="0"/>
                <a:ea typeface="Cambria" pitchFamily="34" charset="-122"/>
                <a:cs typeface="Cambria" pitchFamily="34" charset="-120"/>
              </a:rPr>
              <a:t>04</a:t>
            </a:r>
            <a:endParaRPr lang="en-US" sz="3000" dirty="0"/>
          </a:p>
        </p:txBody>
      </p:sp>
      <p:sp>
        <p:nvSpPr>
          <p:cNvPr id="18" name="Text 16"/>
          <p:cNvSpPr txBox="1"/>
          <p:nvPr/>
        </p:nvSpPr>
        <p:spPr>
          <a:xfrm>
            <a:off x="7348118" y="2697480"/>
            <a:ext cx="1995221" cy="502920"/>
          </a:xfrm>
          <a:prstGeom prst="rect">
            <a:avLst/>
          </a:prstGeom>
          <a:noFill/>
          <a:ln/>
        </p:spPr>
        <p:txBody>
          <a:bodyPr wrap="square" lIns="0" tIns="0" rIns="0" bIns="0" rtlCol="0" anchor="t"/>
          <a:lstStyle/>
          <a:p>
            <a:pPr indent="0" marL="0">
              <a:buNone/>
            </a:pPr>
            <a:r>
              <a:rPr lang="en-US" sz="1400" b="1" dirty="0">
                <a:solidFill>
                  <a:srgbClr val="16191C"/>
                </a:solidFill>
                <a:latin typeface="Arial" pitchFamily="34" charset="0"/>
                <a:ea typeface="Arial" pitchFamily="34" charset="-122"/>
                <a:cs typeface="Arial" pitchFamily="34" charset="-120"/>
              </a:rPr>
              <a:t>Make research auditable</a:t>
            </a:r>
            <a:endParaRPr lang="en-US" sz="1400" dirty="0"/>
          </a:p>
        </p:txBody>
      </p:sp>
      <p:sp>
        <p:nvSpPr>
          <p:cNvPr id="19" name="Text 17"/>
          <p:cNvSpPr txBox="1"/>
          <p:nvPr/>
        </p:nvSpPr>
        <p:spPr>
          <a:xfrm>
            <a:off x="7348118" y="3246120"/>
            <a:ext cx="1995221" cy="1234440"/>
          </a:xfrm>
          <a:prstGeom prst="rect">
            <a:avLst/>
          </a:prstGeom>
          <a:noFill/>
          <a:ln/>
        </p:spPr>
        <p:txBody>
          <a:bodyPr wrap="square" lIns="0" tIns="0" rIns="0" bIns="0" rtlCol="0" anchor="t"/>
          <a:lstStyle/>
          <a:p>
            <a:pPr indent="0" marL="0">
              <a:lnSpc>
                <a:spcPct val="110000"/>
              </a:lnSpc>
              <a:buNone/>
            </a:pPr>
            <a:r>
              <a:rPr lang="en-US" sz="1200" dirty="0">
                <a:solidFill>
                  <a:srgbClr val="3B4045"/>
                </a:solidFill>
                <a:latin typeface="Arial" pitchFamily="34" charset="0"/>
                <a:ea typeface="Arial" pitchFamily="34" charset="-122"/>
                <a:cs typeface="Arial" pitchFamily="34" charset="-120"/>
              </a:rPr>
              <a:t>A backtest and forecast with no look-ahead, published as fingerprinted runs nobody can edit.</a:t>
            </a:r>
            <a:endParaRPr lang="en-US" sz="1200" dirty="0"/>
          </a:p>
        </p:txBody>
      </p:sp>
      <p:sp>
        <p:nvSpPr>
          <p:cNvPr id="20" name="Shape 18"/>
          <p:cNvSpPr/>
          <p:nvPr/>
        </p:nvSpPr>
        <p:spPr>
          <a:xfrm>
            <a:off x="9599371" y="1920240"/>
            <a:ext cx="1995221" cy="0"/>
          </a:xfrm>
          <a:prstGeom prst="line">
            <a:avLst/>
          </a:prstGeom>
          <a:noFill/>
          <a:ln w="12700">
            <a:solidFill>
              <a:srgbClr val="16191C"/>
            </a:solidFill>
            <a:prstDash val="solid"/>
          </a:ln>
        </p:spPr>
      </p:sp>
      <p:sp>
        <p:nvSpPr>
          <p:cNvPr id="21" name="Text 19"/>
          <p:cNvSpPr txBox="1"/>
          <p:nvPr/>
        </p:nvSpPr>
        <p:spPr>
          <a:xfrm>
            <a:off x="9599371" y="2057400"/>
            <a:ext cx="1995221" cy="548640"/>
          </a:xfrm>
          <a:prstGeom prst="rect">
            <a:avLst/>
          </a:prstGeom>
          <a:noFill/>
          <a:ln/>
        </p:spPr>
        <p:txBody>
          <a:bodyPr wrap="square" lIns="0" tIns="0" rIns="0" bIns="0" rtlCol="0" anchor="t"/>
          <a:lstStyle/>
          <a:p>
            <a:pPr indent="0" marL="0">
              <a:buNone/>
            </a:pPr>
            <a:r>
              <a:rPr lang="en-US" sz="3000" dirty="0">
                <a:solidFill>
                  <a:srgbClr val="1F6F5C"/>
                </a:solidFill>
                <a:latin typeface="Cambria" pitchFamily="34" charset="0"/>
                <a:ea typeface="Cambria" pitchFamily="34" charset="-122"/>
                <a:cs typeface="Cambria" pitchFamily="34" charset="-120"/>
              </a:rPr>
              <a:t>05</a:t>
            </a:r>
            <a:endParaRPr lang="en-US" sz="3000" dirty="0"/>
          </a:p>
        </p:txBody>
      </p:sp>
      <p:sp>
        <p:nvSpPr>
          <p:cNvPr id="22" name="Text 20"/>
          <p:cNvSpPr txBox="1"/>
          <p:nvPr/>
        </p:nvSpPr>
        <p:spPr>
          <a:xfrm>
            <a:off x="9599371" y="2697480"/>
            <a:ext cx="1995221" cy="502920"/>
          </a:xfrm>
          <a:prstGeom prst="rect">
            <a:avLst/>
          </a:prstGeom>
          <a:noFill/>
          <a:ln/>
        </p:spPr>
        <p:txBody>
          <a:bodyPr wrap="square" lIns="0" tIns="0" rIns="0" bIns="0" rtlCol="0" anchor="t"/>
          <a:lstStyle/>
          <a:p>
            <a:pPr indent="0" marL="0">
              <a:buNone/>
            </a:pPr>
            <a:r>
              <a:rPr lang="en-US" sz="1400" b="1" dirty="0">
                <a:solidFill>
                  <a:srgbClr val="16191C"/>
                </a:solidFill>
                <a:latin typeface="Arial" pitchFamily="34" charset="0"/>
                <a:ea typeface="Arial" pitchFamily="34" charset="-122"/>
                <a:cs typeface="Arial" pitchFamily="34" charset="-120"/>
              </a:rPr>
              <a:t>Turn data into decisions</a:t>
            </a:r>
            <a:endParaRPr lang="en-US" sz="1400" dirty="0"/>
          </a:p>
        </p:txBody>
      </p:sp>
      <p:sp>
        <p:nvSpPr>
          <p:cNvPr id="23" name="Text 21"/>
          <p:cNvSpPr txBox="1"/>
          <p:nvPr/>
        </p:nvSpPr>
        <p:spPr>
          <a:xfrm>
            <a:off x="9599371" y="3246120"/>
            <a:ext cx="1995221" cy="1234440"/>
          </a:xfrm>
          <a:prstGeom prst="rect">
            <a:avLst/>
          </a:prstGeom>
          <a:noFill/>
          <a:ln/>
        </p:spPr>
        <p:txBody>
          <a:bodyPr wrap="square" lIns="0" tIns="0" rIns="0" bIns="0" rtlCol="0" anchor="t"/>
          <a:lstStyle/>
          <a:p>
            <a:pPr indent="0" marL="0">
              <a:lnSpc>
                <a:spcPct val="110000"/>
              </a:lnSpc>
              <a:buNone/>
            </a:pPr>
            <a:r>
              <a:rPr lang="en-US" sz="1200" dirty="0">
                <a:solidFill>
                  <a:srgbClr val="3B4045"/>
                </a:solidFill>
                <a:latin typeface="Arial" pitchFamily="34" charset="0"/>
                <a:ea typeface="Arial" pitchFamily="34" charset="-122"/>
                <a:cs typeface="Arial" pitchFamily="34" charset="-120"/>
              </a:rPr>
              <a:t>Indicators, four scenarios and a Monte Carlo risk fan, in an interface that works from phone to desktop.</a:t>
            </a:r>
            <a:endParaRPr lang="en-US" sz="1200" dirty="0"/>
          </a:p>
        </p:txBody>
      </p:sp>
      <p:sp>
        <p:nvSpPr>
          <p:cNvPr id="24" name="Text 22"/>
          <p:cNvSpPr txBox="1"/>
          <p:nvPr/>
        </p:nvSpPr>
        <p:spPr>
          <a:xfrm>
            <a:off x="594360" y="4846320"/>
            <a:ext cx="1828800" cy="219456"/>
          </a:xfrm>
          <a:prstGeom prst="rect">
            <a:avLst/>
          </a:prstGeom>
          <a:noFill/>
          <a:ln/>
        </p:spPr>
        <p:txBody>
          <a:bodyPr wrap="square" lIns="0" tIns="0" rIns="0" bIns="0" rtlCol="0" anchor="t"/>
          <a:lstStyle/>
          <a:p>
            <a:pPr indent="0" marL="0">
              <a:buNone/>
            </a:pPr>
            <a:r>
              <a:rPr lang="en-US" sz="950" b="1" spc="200" kern="0" dirty="0">
                <a:solidFill>
                  <a:srgbClr val="1F6F5C"/>
                </a:solidFill>
                <a:latin typeface="Arial" pitchFamily="34" charset="0"/>
                <a:ea typeface="Arial" pitchFamily="34" charset="-122"/>
                <a:cs typeface="Arial" pitchFamily="34" charset="-120"/>
              </a:rPr>
              <a:t>AIM</a:t>
            </a:r>
            <a:endParaRPr lang="en-US" sz="950" dirty="0"/>
          </a:p>
        </p:txBody>
      </p:sp>
      <p:sp>
        <p:nvSpPr>
          <p:cNvPr id="25" name="Text 23"/>
          <p:cNvSpPr txBox="1"/>
          <p:nvPr/>
        </p:nvSpPr>
        <p:spPr>
          <a:xfrm>
            <a:off x="594360" y="5120640"/>
            <a:ext cx="8686800" cy="777240"/>
          </a:xfrm>
          <a:prstGeom prst="rect">
            <a:avLst/>
          </a:prstGeom>
          <a:noFill/>
          <a:ln/>
        </p:spPr>
        <p:txBody>
          <a:bodyPr wrap="square" lIns="0" tIns="0" rIns="0" bIns="0" rtlCol="0" anchor="t"/>
          <a:lstStyle/>
          <a:p>
            <a:pPr indent="0" marL="0">
              <a:buNone/>
            </a:pPr>
            <a:r>
              <a:rPr lang="en-US" sz="2100" i="1" dirty="0">
                <a:solidFill>
                  <a:srgbClr val="16191C"/>
                </a:solidFill>
                <a:latin typeface="Georgia" pitchFamily="34" charset="0"/>
                <a:ea typeface="Georgia" pitchFamily="34" charset="-122"/>
                <a:cs typeface="Georgia" pitchFamily="34" charset="-120"/>
              </a:rPr>
              <a:t>Make the cost of trading visible, and make every number on screen traceable to its source.</a:t>
            </a:r>
            <a:endParaRPr lang="en-US" sz="2100" dirty="0"/>
          </a:p>
        </p:txBody>
      </p:sp>
      <p:sp>
        <p:nvSpPr>
          <p:cNvPr id="26" name="Text 24"/>
          <p:cNvSpPr txBox="1"/>
          <p:nvPr/>
        </p:nvSpPr>
        <p:spPr>
          <a:xfrm>
            <a:off x="594360" y="6382512"/>
            <a:ext cx="2743200" cy="201168"/>
          </a:xfrm>
          <a:prstGeom prst="rect">
            <a:avLst/>
          </a:prstGeom>
          <a:noFill/>
          <a:ln/>
        </p:spPr>
        <p:txBody>
          <a:bodyPr wrap="square" lIns="0" tIns="0" rIns="0" bIns="0" rtlCol="0" anchor="t"/>
          <a:lstStyle/>
          <a:p>
            <a:pPr indent="0" marL="0">
              <a:buNone/>
            </a:pPr>
            <a:r>
              <a:rPr lang="en-US" sz="1000" i="1" dirty="0">
                <a:solidFill>
                  <a:srgbClr val="6F747A"/>
                </a:solidFill>
                <a:latin typeface="Georgia" pitchFamily="34" charset="0"/>
                <a:ea typeface="Georgia" pitchFamily="34" charset="-122"/>
                <a:cs typeface="Georgia" pitchFamily="34" charset="-120"/>
              </a:rPr>
              <a:t>MarketLens</a:t>
            </a:r>
            <a:endParaRPr lang="en-US" sz="1000" dirty="0"/>
          </a:p>
        </p:txBody>
      </p:sp>
      <p:sp>
        <p:nvSpPr>
          <p:cNvPr id="27" name="Text 25"/>
          <p:cNvSpPr txBox="1"/>
          <p:nvPr/>
        </p:nvSpPr>
        <p:spPr>
          <a:xfrm>
            <a:off x="9765792" y="6382512"/>
            <a:ext cx="1828800" cy="201168"/>
          </a:xfrm>
          <a:prstGeom prst="rect">
            <a:avLst/>
          </a:prstGeom>
          <a:noFill/>
          <a:ln/>
        </p:spPr>
        <p:txBody>
          <a:bodyPr wrap="square" lIns="0" tIns="0" rIns="0" bIns="0" rtlCol="0" anchor="t"/>
          <a:lstStyle/>
          <a:p>
            <a:pPr algn="r" indent="0" marL="0">
              <a:buNone/>
            </a:pPr>
            <a:r>
              <a:rPr lang="en-US" sz="900" spc="100" kern="0" dirty="0">
                <a:solidFill>
                  <a:srgbClr val="6F747A"/>
                </a:solidFill>
                <a:latin typeface="Arial" pitchFamily="34" charset="0"/>
                <a:ea typeface="Arial" pitchFamily="34" charset="-122"/>
                <a:cs typeface="Arial" pitchFamily="34" charset="-120"/>
              </a:rPr>
              <a:t>04 / 12</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6095848" cy="6858000"/>
          </a:xfrm>
          <a:prstGeom prst="rect">
            <a:avLst/>
          </a:prstGeom>
          <a:solidFill>
            <a:srgbClr val="F5E4E0">
              <a:alpha val="94000"/>
            </a:srgbClr>
          </a:solidFill>
          <a:ln w="12700">
            <a:solidFill>
              <a:srgbClr val="F5E4E0"/>
            </a:solidFill>
            <a:prstDash val="solid"/>
          </a:ln>
        </p:spPr>
      </p:sp>
      <p:sp>
        <p:nvSpPr>
          <p:cNvPr id="3" name="Shape 1"/>
          <p:cNvSpPr/>
          <p:nvPr/>
        </p:nvSpPr>
        <p:spPr>
          <a:xfrm>
            <a:off x="6095848" y="0"/>
            <a:ext cx="6095848" cy="6858000"/>
          </a:xfrm>
          <a:prstGeom prst="rect">
            <a:avLst/>
          </a:prstGeom>
          <a:solidFill>
            <a:srgbClr val="E3EEE9">
              <a:alpha val="94000"/>
            </a:srgbClr>
          </a:solidFill>
          <a:ln w="12700">
            <a:solidFill>
              <a:srgbClr val="E3EEE9"/>
            </a:solidFill>
            <a:prstDash val="solid"/>
          </a:ln>
        </p:spPr>
      </p:sp>
      <p:sp>
        <p:nvSpPr>
          <p:cNvPr id="4" name="Text 2"/>
          <p:cNvSpPr txBox="1"/>
          <p:nvPr/>
        </p:nvSpPr>
        <p:spPr>
          <a:xfrm>
            <a:off x="594360" y="457200"/>
            <a:ext cx="6400800" cy="228600"/>
          </a:xfrm>
          <a:prstGeom prst="rect">
            <a:avLst/>
          </a:prstGeom>
          <a:noFill/>
          <a:ln/>
        </p:spPr>
        <p:txBody>
          <a:bodyPr wrap="square" lIns="0" tIns="0" rIns="0" bIns="0" rtlCol="0" anchor="t"/>
          <a:lstStyle/>
          <a:p>
            <a:pPr indent="0" marL="0">
              <a:buNone/>
            </a:pPr>
            <a:r>
              <a:rPr lang="en-US" sz="950" b="1" spc="200" kern="0" dirty="0">
                <a:solidFill>
                  <a:srgbClr val="16191C"/>
                </a:solidFill>
                <a:latin typeface="Arial" pitchFamily="34" charset="0"/>
                <a:ea typeface="Arial" pitchFamily="34" charset="-122"/>
                <a:cs typeface="Arial" pitchFamily="34" charset="-120"/>
              </a:rPr>
              <a:t>No. 04</a:t>
            </a:r>
            <a:pPr indent="0" marL="0">
              <a:buNone/>
            </a:pPr>
            <a:r>
              <a:rPr lang="en-US" sz="950" b="1" spc="200" kern="0" dirty="0">
                <a:solidFill>
                  <a:srgbClr val="A3433B"/>
                </a:solidFill>
                <a:latin typeface="Arial" pitchFamily="34" charset="0"/>
                <a:ea typeface="Arial" pitchFamily="34" charset="-122"/>
                <a:cs typeface="Arial" pitchFamily="34" charset="-120"/>
              </a:rPr>
              <a:t>     EXISTING SYSTEM</a:t>
            </a:r>
            <a:endParaRPr lang="en-US" sz="950" dirty="0"/>
          </a:p>
        </p:txBody>
      </p:sp>
      <p:sp>
        <p:nvSpPr>
          <p:cNvPr id="5" name="Text 3"/>
          <p:cNvSpPr txBox="1"/>
          <p:nvPr/>
        </p:nvSpPr>
        <p:spPr>
          <a:xfrm>
            <a:off x="594360" y="749808"/>
            <a:ext cx="4937760" cy="868680"/>
          </a:xfrm>
          <a:prstGeom prst="rect">
            <a:avLst/>
          </a:prstGeom>
          <a:noFill/>
          <a:ln/>
        </p:spPr>
        <p:txBody>
          <a:bodyPr wrap="square" lIns="0" tIns="0" rIns="0" bIns="0" rtlCol="0" anchor="t"/>
          <a:lstStyle/>
          <a:p>
            <a:pPr indent="0" marL="0">
              <a:buNone/>
            </a:pPr>
            <a:r>
              <a:rPr lang="en-US" sz="2600" dirty="0">
                <a:solidFill>
                  <a:srgbClr val="A3433B"/>
                </a:solidFill>
                <a:latin typeface="Georgia" pitchFamily="34" charset="0"/>
                <a:ea typeface="Georgia" pitchFamily="34" charset="-122"/>
                <a:cs typeface="Georgia" pitchFamily="34" charset="-120"/>
              </a:rPr>
              <a:t>Simulators that flatter.</a:t>
            </a:r>
            <a:endParaRPr lang="en-US" sz="2600" dirty="0"/>
          </a:p>
        </p:txBody>
      </p:sp>
      <p:sp>
        <p:nvSpPr>
          <p:cNvPr id="6" name="Shape 4"/>
          <p:cNvSpPr/>
          <p:nvPr/>
        </p:nvSpPr>
        <p:spPr>
          <a:xfrm>
            <a:off x="594360" y="1719072"/>
            <a:ext cx="4937760" cy="0"/>
          </a:xfrm>
          <a:prstGeom prst="line">
            <a:avLst/>
          </a:prstGeom>
          <a:noFill/>
          <a:ln w="9525">
            <a:solidFill>
              <a:srgbClr val="D6D1C7"/>
            </a:solidFill>
            <a:prstDash val="solid"/>
          </a:ln>
        </p:spPr>
      </p:sp>
      <p:sp>
        <p:nvSpPr>
          <p:cNvPr id="7" name="Text 5"/>
          <p:cNvSpPr txBox="1"/>
          <p:nvPr/>
        </p:nvSpPr>
        <p:spPr>
          <a:xfrm>
            <a:off x="594360" y="1828800"/>
            <a:ext cx="4937760" cy="219456"/>
          </a:xfrm>
          <a:prstGeom prst="rect">
            <a:avLst/>
          </a:prstGeom>
          <a:noFill/>
          <a:ln/>
        </p:spPr>
        <p:txBody>
          <a:bodyPr wrap="square" lIns="0" tIns="0" rIns="0" bIns="0" rtlCol="0" anchor="t"/>
          <a:lstStyle/>
          <a:p>
            <a:pPr indent="0" marL="0">
              <a:buNone/>
            </a:pPr>
            <a:r>
              <a:rPr lang="en-US" sz="950" b="1" spc="200" kern="0" dirty="0">
                <a:solidFill>
                  <a:srgbClr val="A3433B"/>
                </a:solidFill>
                <a:latin typeface="Arial" pitchFamily="34" charset="0"/>
                <a:ea typeface="Arial" pitchFamily="34" charset="-122"/>
                <a:cs typeface="Arial" pitchFamily="34" charset="-120"/>
              </a:rPr>
              <a:t>COSTS</a:t>
            </a:r>
            <a:endParaRPr lang="en-US" sz="950" dirty="0"/>
          </a:p>
        </p:txBody>
      </p:sp>
      <p:sp>
        <p:nvSpPr>
          <p:cNvPr id="8" name="Text 6"/>
          <p:cNvSpPr txBox="1"/>
          <p:nvPr/>
        </p:nvSpPr>
        <p:spPr>
          <a:xfrm>
            <a:off x="594360" y="2084832"/>
            <a:ext cx="4937760" cy="502920"/>
          </a:xfrm>
          <a:prstGeom prst="rect">
            <a:avLst/>
          </a:prstGeom>
          <a:noFill/>
          <a:ln/>
        </p:spPr>
        <p:txBody>
          <a:bodyPr wrap="square" lIns="0" tIns="0" rIns="0" bIns="0" rtlCol="0" anchor="t"/>
          <a:lstStyle/>
          <a:p>
            <a:pPr indent="0" marL="0">
              <a:buNone/>
            </a:pPr>
            <a:r>
              <a:rPr lang="en-US" sz="1350" dirty="0">
                <a:solidFill>
                  <a:srgbClr val="3B4045"/>
                </a:solidFill>
                <a:latin typeface="Arial" pitchFamily="34" charset="0"/>
                <a:ea typeface="Arial" pitchFamily="34" charset="-122"/>
                <a:cs typeface="Arial" pitchFamily="34" charset="-120"/>
              </a:rPr>
              <a:t>Zero or flat fees. STT, GST and stamp duty are ignored.</a:t>
            </a:r>
            <a:endParaRPr lang="en-US" sz="1350" dirty="0"/>
          </a:p>
        </p:txBody>
      </p:sp>
      <p:sp>
        <p:nvSpPr>
          <p:cNvPr id="9" name="Shape 7"/>
          <p:cNvSpPr/>
          <p:nvPr/>
        </p:nvSpPr>
        <p:spPr>
          <a:xfrm>
            <a:off x="594360" y="2569464"/>
            <a:ext cx="4937760" cy="0"/>
          </a:xfrm>
          <a:prstGeom prst="line">
            <a:avLst/>
          </a:prstGeom>
          <a:noFill/>
          <a:ln w="9525">
            <a:solidFill>
              <a:srgbClr val="D6D1C7"/>
            </a:solidFill>
            <a:prstDash val="solid"/>
          </a:ln>
        </p:spPr>
      </p:sp>
      <p:sp>
        <p:nvSpPr>
          <p:cNvPr id="10" name="Text 8"/>
          <p:cNvSpPr txBox="1"/>
          <p:nvPr/>
        </p:nvSpPr>
        <p:spPr>
          <a:xfrm>
            <a:off x="594360" y="2679192"/>
            <a:ext cx="4937760" cy="219456"/>
          </a:xfrm>
          <a:prstGeom prst="rect">
            <a:avLst/>
          </a:prstGeom>
          <a:noFill/>
          <a:ln/>
        </p:spPr>
        <p:txBody>
          <a:bodyPr wrap="square" lIns="0" tIns="0" rIns="0" bIns="0" rtlCol="0" anchor="t"/>
          <a:lstStyle/>
          <a:p>
            <a:pPr indent="0" marL="0">
              <a:buNone/>
            </a:pPr>
            <a:r>
              <a:rPr lang="en-US" sz="950" b="1" spc="200" kern="0" dirty="0">
                <a:solidFill>
                  <a:srgbClr val="A3433B"/>
                </a:solidFill>
                <a:latin typeface="Arial" pitchFamily="34" charset="0"/>
                <a:ea typeface="Arial" pitchFamily="34" charset="-122"/>
                <a:cs typeface="Arial" pitchFamily="34" charset="-120"/>
              </a:rPr>
              <a:t>MARKET HOURS</a:t>
            </a:r>
            <a:endParaRPr lang="en-US" sz="950" dirty="0"/>
          </a:p>
        </p:txBody>
      </p:sp>
      <p:sp>
        <p:nvSpPr>
          <p:cNvPr id="11" name="Text 9"/>
          <p:cNvSpPr txBox="1"/>
          <p:nvPr/>
        </p:nvSpPr>
        <p:spPr>
          <a:xfrm>
            <a:off x="594360" y="2935224"/>
            <a:ext cx="4937760" cy="502920"/>
          </a:xfrm>
          <a:prstGeom prst="rect">
            <a:avLst/>
          </a:prstGeom>
          <a:noFill/>
          <a:ln/>
        </p:spPr>
        <p:txBody>
          <a:bodyPr wrap="square" lIns="0" tIns="0" rIns="0" bIns="0" rtlCol="0" anchor="t"/>
          <a:lstStyle/>
          <a:p>
            <a:pPr indent="0" marL="0">
              <a:buNone/>
            </a:pPr>
            <a:r>
              <a:rPr lang="en-US" sz="1350" dirty="0">
                <a:solidFill>
                  <a:srgbClr val="3B4045"/>
                </a:solidFill>
                <a:latin typeface="Arial" pitchFamily="34" charset="0"/>
                <a:ea typeface="Arial" pitchFamily="34" charset="-122"/>
                <a:cs typeface="Arial" pitchFamily="34" charset="-120"/>
              </a:rPr>
              <a:t>Orders fill instantly at any hour, weekends included.</a:t>
            </a:r>
            <a:endParaRPr lang="en-US" sz="1350" dirty="0"/>
          </a:p>
        </p:txBody>
      </p:sp>
      <p:sp>
        <p:nvSpPr>
          <p:cNvPr id="12" name="Shape 10"/>
          <p:cNvSpPr/>
          <p:nvPr/>
        </p:nvSpPr>
        <p:spPr>
          <a:xfrm>
            <a:off x="594360" y="3419856"/>
            <a:ext cx="4937760" cy="0"/>
          </a:xfrm>
          <a:prstGeom prst="line">
            <a:avLst/>
          </a:prstGeom>
          <a:noFill/>
          <a:ln w="9525">
            <a:solidFill>
              <a:srgbClr val="D6D1C7"/>
            </a:solidFill>
            <a:prstDash val="solid"/>
          </a:ln>
        </p:spPr>
      </p:sp>
      <p:sp>
        <p:nvSpPr>
          <p:cNvPr id="13" name="Text 11"/>
          <p:cNvSpPr txBox="1"/>
          <p:nvPr/>
        </p:nvSpPr>
        <p:spPr>
          <a:xfrm>
            <a:off x="594360" y="3529584"/>
            <a:ext cx="4937760" cy="219456"/>
          </a:xfrm>
          <a:prstGeom prst="rect">
            <a:avLst/>
          </a:prstGeom>
          <a:noFill/>
          <a:ln/>
        </p:spPr>
        <p:txBody>
          <a:bodyPr wrap="square" lIns="0" tIns="0" rIns="0" bIns="0" rtlCol="0" anchor="t"/>
          <a:lstStyle/>
          <a:p>
            <a:pPr indent="0" marL="0">
              <a:buNone/>
            </a:pPr>
            <a:r>
              <a:rPr lang="en-US" sz="950" b="1" spc="200" kern="0" dirty="0">
                <a:solidFill>
                  <a:srgbClr val="A3433B"/>
                </a:solidFill>
                <a:latin typeface="Arial" pitchFamily="34" charset="0"/>
                <a:ea typeface="Arial" pitchFamily="34" charset="-122"/>
                <a:cs typeface="Arial" pitchFamily="34" charset="-120"/>
              </a:rPr>
              <a:t>DATA</a:t>
            </a:r>
            <a:endParaRPr lang="en-US" sz="950" dirty="0"/>
          </a:p>
        </p:txBody>
      </p:sp>
      <p:sp>
        <p:nvSpPr>
          <p:cNvPr id="14" name="Text 12"/>
          <p:cNvSpPr txBox="1"/>
          <p:nvPr/>
        </p:nvSpPr>
        <p:spPr>
          <a:xfrm>
            <a:off x="594360" y="3785616"/>
            <a:ext cx="4937760" cy="502920"/>
          </a:xfrm>
          <a:prstGeom prst="rect">
            <a:avLst/>
          </a:prstGeom>
          <a:noFill/>
          <a:ln/>
        </p:spPr>
        <p:txBody>
          <a:bodyPr wrap="square" lIns="0" tIns="0" rIns="0" bIns="0" rtlCol="0" anchor="t"/>
          <a:lstStyle/>
          <a:p>
            <a:pPr indent="0" marL="0">
              <a:buNone/>
            </a:pPr>
            <a:r>
              <a:rPr lang="en-US" sz="1350" dirty="0">
                <a:solidFill>
                  <a:srgbClr val="3B4045"/>
                </a:solidFill>
                <a:latin typeface="Arial" pitchFamily="34" charset="0"/>
                <a:ea typeface="Arial" pitchFamily="34" charset="-122"/>
                <a:cs typeface="Arial" pitchFamily="34" charset="-120"/>
              </a:rPr>
              <a:t>A static CSV, or a made-up number when a feed fails.</a:t>
            </a:r>
            <a:endParaRPr lang="en-US" sz="1350" dirty="0"/>
          </a:p>
        </p:txBody>
      </p:sp>
      <p:sp>
        <p:nvSpPr>
          <p:cNvPr id="15" name="Shape 13"/>
          <p:cNvSpPr/>
          <p:nvPr/>
        </p:nvSpPr>
        <p:spPr>
          <a:xfrm>
            <a:off x="594360" y="4270248"/>
            <a:ext cx="4937760" cy="0"/>
          </a:xfrm>
          <a:prstGeom prst="line">
            <a:avLst/>
          </a:prstGeom>
          <a:noFill/>
          <a:ln w="9525">
            <a:solidFill>
              <a:srgbClr val="D6D1C7"/>
            </a:solidFill>
            <a:prstDash val="solid"/>
          </a:ln>
        </p:spPr>
      </p:sp>
      <p:sp>
        <p:nvSpPr>
          <p:cNvPr id="16" name="Text 14"/>
          <p:cNvSpPr txBox="1"/>
          <p:nvPr/>
        </p:nvSpPr>
        <p:spPr>
          <a:xfrm>
            <a:off x="594360" y="4379976"/>
            <a:ext cx="4937760" cy="219456"/>
          </a:xfrm>
          <a:prstGeom prst="rect">
            <a:avLst/>
          </a:prstGeom>
          <a:noFill/>
          <a:ln/>
        </p:spPr>
        <p:txBody>
          <a:bodyPr wrap="square" lIns="0" tIns="0" rIns="0" bIns="0" rtlCol="0" anchor="t"/>
          <a:lstStyle/>
          <a:p>
            <a:pPr indent="0" marL="0">
              <a:buNone/>
            </a:pPr>
            <a:r>
              <a:rPr lang="en-US" sz="950" b="1" spc="200" kern="0" dirty="0">
                <a:solidFill>
                  <a:srgbClr val="A3433B"/>
                </a:solidFill>
                <a:latin typeface="Arial" pitchFamily="34" charset="0"/>
                <a:ea typeface="Arial" pitchFamily="34" charset="-122"/>
                <a:cs typeface="Arial" pitchFamily="34" charset="-120"/>
              </a:rPr>
              <a:t>RESEARCH</a:t>
            </a:r>
            <a:endParaRPr lang="en-US" sz="950" dirty="0"/>
          </a:p>
        </p:txBody>
      </p:sp>
      <p:sp>
        <p:nvSpPr>
          <p:cNvPr id="17" name="Text 15"/>
          <p:cNvSpPr txBox="1"/>
          <p:nvPr/>
        </p:nvSpPr>
        <p:spPr>
          <a:xfrm>
            <a:off x="594360" y="4636008"/>
            <a:ext cx="4937760" cy="502920"/>
          </a:xfrm>
          <a:prstGeom prst="rect">
            <a:avLst/>
          </a:prstGeom>
          <a:noFill/>
          <a:ln/>
        </p:spPr>
        <p:txBody>
          <a:bodyPr wrap="square" lIns="0" tIns="0" rIns="0" bIns="0" rtlCol="0" anchor="t"/>
          <a:lstStyle/>
          <a:p>
            <a:pPr indent="0" marL="0">
              <a:buNone/>
            </a:pPr>
            <a:r>
              <a:rPr lang="en-US" sz="1350" dirty="0">
                <a:solidFill>
                  <a:srgbClr val="3B4045"/>
                </a:solidFill>
                <a:latin typeface="Arial" pitchFamily="34" charset="0"/>
                <a:ea typeface="Arial" pitchFamily="34" charset="-122"/>
                <a:cs typeface="Arial" pitchFamily="34" charset="-120"/>
              </a:rPr>
              <a:t>Backtests that can peek ahead, with results nobody can re-check.</a:t>
            </a:r>
            <a:endParaRPr lang="en-US" sz="1350" dirty="0"/>
          </a:p>
        </p:txBody>
      </p:sp>
      <p:sp>
        <p:nvSpPr>
          <p:cNvPr id="18" name="Shape 16"/>
          <p:cNvSpPr/>
          <p:nvPr/>
        </p:nvSpPr>
        <p:spPr>
          <a:xfrm>
            <a:off x="594360" y="5120640"/>
            <a:ext cx="4937760" cy="0"/>
          </a:xfrm>
          <a:prstGeom prst="line">
            <a:avLst/>
          </a:prstGeom>
          <a:noFill/>
          <a:ln w="9525">
            <a:solidFill>
              <a:srgbClr val="D6D1C7"/>
            </a:solidFill>
            <a:prstDash val="solid"/>
          </a:ln>
        </p:spPr>
      </p:sp>
      <p:sp>
        <p:nvSpPr>
          <p:cNvPr id="19" name="Text 17"/>
          <p:cNvSpPr txBox="1"/>
          <p:nvPr/>
        </p:nvSpPr>
        <p:spPr>
          <a:xfrm>
            <a:off x="594360" y="5230368"/>
            <a:ext cx="4937760" cy="219456"/>
          </a:xfrm>
          <a:prstGeom prst="rect">
            <a:avLst/>
          </a:prstGeom>
          <a:noFill/>
          <a:ln/>
        </p:spPr>
        <p:txBody>
          <a:bodyPr wrap="square" lIns="0" tIns="0" rIns="0" bIns="0" rtlCol="0" anchor="t"/>
          <a:lstStyle/>
          <a:p>
            <a:pPr indent="0" marL="0">
              <a:buNone/>
            </a:pPr>
            <a:r>
              <a:rPr lang="en-US" sz="950" b="1" spc="200" kern="0" dirty="0">
                <a:solidFill>
                  <a:srgbClr val="A3433B"/>
                </a:solidFill>
                <a:latin typeface="Arial" pitchFamily="34" charset="0"/>
                <a:ea typeface="Arial" pitchFamily="34" charset="-122"/>
                <a:cs typeface="Arial" pitchFamily="34" charset="-120"/>
              </a:rPr>
              <a:t>AI</a:t>
            </a:r>
            <a:endParaRPr lang="en-US" sz="950" dirty="0"/>
          </a:p>
        </p:txBody>
      </p:sp>
      <p:sp>
        <p:nvSpPr>
          <p:cNvPr id="20" name="Text 18"/>
          <p:cNvSpPr txBox="1"/>
          <p:nvPr/>
        </p:nvSpPr>
        <p:spPr>
          <a:xfrm>
            <a:off x="594360" y="5486400"/>
            <a:ext cx="4937760" cy="502920"/>
          </a:xfrm>
          <a:prstGeom prst="rect">
            <a:avLst/>
          </a:prstGeom>
          <a:noFill/>
          <a:ln/>
        </p:spPr>
        <p:txBody>
          <a:bodyPr wrap="square" lIns="0" tIns="0" rIns="0" bIns="0" rtlCol="0" anchor="t"/>
          <a:lstStyle/>
          <a:p>
            <a:pPr indent="0" marL="0">
              <a:buNone/>
            </a:pPr>
            <a:r>
              <a:rPr lang="en-US" sz="1350" dirty="0">
                <a:solidFill>
                  <a:srgbClr val="3B4045"/>
                </a:solidFill>
                <a:latin typeface="Arial" pitchFamily="34" charset="0"/>
                <a:ea typeface="Arial" pitchFamily="34" charset="-122"/>
                <a:cs typeface="Arial" pitchFamily="34" charset="-120"/>
              </a:rPr>
              <a:t>Insight locked behind a paid API key.</a:t>
            </a:r>
            <a:endParaRPr lang="en-US" sz="1350" dirty="0"/>
          </a:p>
        </p:txBody>
      </p:sp>
      <p:sp>
        <p:nvSpPr>
          <p:cNvPr id="21" name="Text 19"/>
          <p:cNvSpPr txBox="1"/>
          <p:nvPr/>
        </p:nvSpPr>
        <p:spPr>
          <a:xfrm>
            <a:off x="6629400" y="457200"/>
            <a:ext cx="6400800" cy="228600"/>
          </a:xfrm>
          <a:prstGeom prst="rect">
            <a:avLst/>
          </a:prstGeom>
          <a:noFill/>
          <a:ln/>
        </p:spPr>
        <p:txBody>
          <a:bodyPr wrap="square" lIns="0" tIns="0" rIns="0" bIns="0" rtlCol="0" anchor="t"/>
          <a:lstStyle/>
          <a:p>
            <a:pPr indent="0" marL="0">
              <a:buNone/>
            </a:pPr>
            <a:r>
              <a:rPr lang="en-US" sz="950" b="1" spc="200" kern="0" dirty="0">
                <a:solidFill>
                  <a:srgbClr val="16191C"/>
                </a:solidFill>
                <a:latin typeface="Arial" pitchFamily="34" charset="0"/>
                <a:ea typeface="Arial" pitchFamily="34" charset="-122"/>
                <a:cs typeface="Arial" pitchFamily="34" charset="-120"/>
              </a:rPr>
              <a:t>No. 05</a:t>
            </a:r>
            <a:pPr indent="0" marL="0">
              <a:buNone/>
            </a:pPr>
            <a:r>
              <a:rPr lang="en-US" sz="950" b="1" spc="200" kern="0" dirty="0">
                <a:solidFill>
                  <a:srgbClr val="1F6F5C"/>
                </a:solidFill>
                <a:latin typeface="Arial" pitchFamily="34" charset="0"/>
                <a:ea typeface="Arial" pitchFamily="34" charset="-122"/>
                <a:cs typeface="Arial" pitchFamily="34" charset="-120"/>
              </a:rPr>
              <a:t>     PROPOSED SYSTEM</a:t>
            </a:r>
            <a:endParaRPr lang="en-US" sz="950" dirty="0"/>
          </a:p>
        </p:txBody>
      </p:sp>
      <p:sp>
        <p:nvSpPr>
          <p:cNvPr id="22" name="Text 20"/>
          <p:cNvSpPr txBox="1"/>
          <p:nvPr/>
        </p:nvSpPr>
        <p:spPr>
          <a:xfrm>
            <a:off x="6629400" y="749808"/>
            <a:ext cx="4965192" cy="868680"/>
          </a:xfrm>
          <a:prstGeom prst="rect">
            <a:avLst/>
          </a:prstGeom>
          <a:noFill/>
          <a:ln/>
        </p:spPr>
        <p:txBody>
          <a:bodyPr wrap="square" lIns="0" tIns="0" rIns="0" bIns="0" rtlCol="0" anchor="t"/>
          <a:lstStyle/>
          <a:p>
            <a:pPr indent="0" marL="0">
              <a:buNone/>
            </a:pPr>
            <a:r>
              <a:rPr lang="en-US" sz="2600" dirty="0">
                <a:solidFill>
                  <a:srgbClr val="1F6F5C"/>
                </a:solidFill>
                <a:latin typeface="Georgia" pitchFamily="34" charset="0"/>
                <a:ea typeface="Georgia" pitchFamily="34" charset="-122"/>
                <a:cs typeface="Georgia" pitchFamily="34" charset="-120"/>
              </a:rPr>
              <a:t>MarketLens shows the friction.</a:t>
            </a:r>
            <a:endParaRPr lang="en-US" sz="2600" dirty="0"/>
          </a:p>
        </p:txBody>
      </p:sp>
      <p:sp>
        <p:nvSpPr>
          <p:cNvPr id="23" name="Shape 21"/>
          <p:cNvSpPr/>
          <p:nvPr/>
        </p:nvSpPr>
        <p:spPr>
          <a:xfrm>
            <a:off x="6629400" y="1719072"/>
            <a:ext cx="4965192" cy="0"/>
          </a:xfrm>
          <a:prstGeom prst="line">
            <a:avLst/>
          </a:prstGeom>
          <a:noFill/>
          <a:ln w="9525">
            <a:solidFill>
              <a:srgbClr val="D6D1C7"/>
            </a:solidFill>
            <a:prstDash val="solid"/>
          </a:ln>
        </p:spPr>
      </p:sp>
      <p:sp>
        <p:nvSpPr>
          <p:cNvPr id="24" name="Text 22"/>
          <p:cNvSpPr txBox="1"/>
          <p:nvPr/>
        </p:nvSpPr>
        <p:spPr>
          <a:xfrm>
            <a:off x="6629400" y="1828800"/>
            <a:ext cx="4965192" cy="219456"/>
          </a:xfrm>
          <a:prstGeom prst="rect">
            <a:avLst/>
          </a:prstGeom>
          <a:noFill/>
          <a:ln/>
        </p:spPr>
        <p:txBody>
          <a:bodyPr wrap="square" lIns="0" tIns="0" rIns="0" bIns="0" rtlCol="0" anchor="t"/>
          <a:lstStyle/>
          <a:p>
            <a:pPr indent="0" marL="0">
              <a:buNone/>
            </a:pPr>
            <a:r>
              <a:rPr lang="en-US" sz="950" b="1" spc="200" kern="0" dirty="0">
                <a:solidFill>
                  <a:srgbClr val="1F6F5C"/>
                </a:solidFill>
                <a:latin typeface="Arial" pitchFamily="34" charset="0"/>
                <a:ea typeface="Arial" pitchFamily="34" charset="-122"/>
                <a:cs typeface="Arial" pitchFamily="34" charset="-120"/>
              </a:rPr>
              <a:t>COSTS</a:t>
            </a:r>
            <a:endParaRPr lang="en-US" sz="950" dirty="0"/>
          </a:p>
        </p:txBody>
      </p:sp>
      <p:sp>
        <p:nvSpPr>
          <p:cNvPr id="25" name="Text 23"/>
          <p:cNvSpPr txBox="1"/>
          <p:nvPr/>
        </p:nvSpPr>
        <p:spPr>
          <a:xfrm>
            <a:off x="6629400" y="2084832"/>
            <a:ext cx="4965192" cy="502920"/>
          </a:xfrm>
          <a:prstGeom prst="rect">
            <a:avLst/>
          </a:prstGeom>
          <a:noFill/>
          <a:ln/>
        </p:spPr>
        <p:txBody>
          <a:bodyPr wrap="square" lIns="0" tIns="0" rIns="0" bIns="0" rtlCol="0" anchor="t"/>
          <a:lstStyle/>
          <a:p>
            <a:pPr indent="0" marL="0">
              <a:buNone/>
            </a:pPr>
            <a:r>
              <a:rPr lang="en-US" sz="1350" dirty="0">
                <a:solidFill>
                  <a:srgbClr val="16191C"/>
                </a:solidFill>
                <a:latin typeface="Arial" pitchFamily="34" charset="0"/>
                <a:ea typeface="Arial" pitchFamily="34" charset="-122"/>
                <a:cs typeface="Arial" pitchFamily="34" charset="-120"/>
              </a:rPr>
              <a:t>Seven charges on every order, from one fee schedule shared by both engines.</a:t>
            </a:r>
            <a:endParaRPr lang="en-US" sz="1350" dirty="0"/>
          </a:p>
        </p:txBody>
      </p:sp>
      <p:sp>
        <p:nvSpPr>
          <p:cNvPr id="26" name="Shape 24"/>
          <p:cNvSpPr/>
          <p:nvPr/>
        </p:nvSpPr>
        <p:spPr>
          <a:xfrm>
            <a:off x="6629400" y="2569464"/>
            <a:ext cx="4965192" cy="0"/>
          </a:xfrm>
          <a:prstGeom prst="line">
            <a:avLst/>
          </a:prstGeom>
          <a:noFill/>
          <a:ln w="9525">
            <a:solidFill>
              <a:srgbClr val="D6D1C7"/>
            </a:solidFill>
            <a:prstDash val="solid"/>
          </a:ln>
        </p:spPr>
      </p:sp>
      <p:sp>
        <p:nvSpPr>
          <p:cNvPr id="27" name="Text 25"/>
          <p:cNvSpPr txBox="1"/>
          <p:nvPr/>
        </p:nvSpPr>
        <p:spPr>
          <a:xfrm>
            <a:off x="6629400" y="2679192"/>
            <a:ext cx="4965192" cy="219456"/>
          </a:xfrm>
          <a:prstGeom prst="rect">
            <a:avLst/>
          </a:prstGeom>
          <a:noFill/>
          <a:ln/>
        </p:spPr>
        <p:txBody>
          <a:bodyPr wrap="square" lIns="0" tIns="0" rIns="0" bIns="0" rtlCol="0" anchor="t"/>
          <a:lstStyle/>
          <a:p>
            <a:pPr indent="0" marL="0">
              <a:buNone/>
            </a:pPr>
            <a:r>
              <a:rPr lang="en-US" sz="950" b="1" spc="200" kern="0" dirty="0">
                <a:solidFill>
                  <a:srgbClr val="1F6F5C"/>
                </a:solidFill>
                <a:latin typeface="Arial" pitchFamily="34" charset="0"/>
                <a:ea typeface="Arial" pitchFamily="34" charset="-122"/>
                <a:cs typeface="Arial" pitchFamily="34" charset="-120"/>
              </a:rPr>
              <a:t>MARKET HOURS</a:t>
            </a:r>
            <a:endParaRPr lang="en-US" sz="950" dirty="0"/>
          </a:p>
        </p:txBody>
      </p:sp>
      <p:sp>
        <p:nvSpPr>
          <p:cNvPr id="28" name="Text 26"/>
          <p:cNvSpPr txBox="1"/>
          <p:nvPr/>
        </p:nvSpPr>
        <p:spPr>
          <a:xfrm>
            <a:off x="6629400" y="2935224"/>
            <a:ext cx="4965192" cy="502920"/>
          </a:xfrm>
          <a:prstGeom prst="rect">
            <a:avLst/>
          </a:prstGeom>
          <a:noFill/>
          <a:ln/>
        </p:spPr>
        <p:txBody>
          <a:bodyPr wrap="square" lIns="0" tIns="0" rIns="0" bIns="0" rtlCol="0" anchor="t"/>
          <a:lstStyle/>
          <a:p>
            <a:pPr indent="0" marL="0">
              <a:buNone/>
            </a:pPr>
            <a:r>
              <a:rPr lang="en-US" sz="1350" dirty="0">
                <a:solidFill>
                  <a:srgbClr val="16191C"/>
                </a:solidFill>
                <a:latin typeface="Arial" pitchFamily="34" charset="0"/>
                <a:ea typeface="Arial" pitchFamily="34" charset="-122"/>
                <a:cs typeface="Arial" pitchFamily="34" charset="-120"/>
              </a:rPr>
              <a:t>9:15 to 3:30 IST, holidays closed, intraday square-off at 3:15 PM.</a:t>
            </a:r>
            <a:endParaRPr lang="en-US" sz="1350" dirty="0"/>
          </a:p>
        </p:txBody>
      </p:sp>
      <p:sp>
        <p:nvSpPr>
          <p:cNvPr id="29" name="Shape 27"/>
          <p:cNvSpPr/>
          <p:nvPr/>
        </p:nvSpPr>
        <p:spPr>
          <a:xfrm>
            <a:off x="6629400" y="3419856"/>
            <a:ext cx="4965192" cy="0"/>
          </a:xfrm>
          <a:prstGeom prst="line">
            <a:avLst/>
          </a:prstGeom>
          <a:noFill/>
          <a:ln w="9525">
            <a:solidFill>
              <a:srgbClr val="D6D1C7"/>
            </a:solidFill>
            <a:prstDash val="solid"/>
          </a:ln>
        </p:spPr>
      </p:sp>
      <p:sp>
        <p:nvSpPr>
          <p:cNvPr id="30" name="Text 28"/>
          <p:cNvSpPr txBox="1"/>
          <p:nvPr/>
        </p:nvSpPr>
        <p:spPr>
          <a:xfrm>
            <a:off x="6629400" y="3529584"/>
            <a:ext cx="4965192" cy="219456"/>
          </a:xfrm>
          <a:prstGeom prst="rect">
            <a:avLst/>
          </a:prstGeom>
          <a:noFill/>
          <a:ln/>
        </p:spPr>
        <p:txBody>
          <a:bodyPr wrap="square" lIns="0" tIns="0" rIns="0" bIns="0" rtlCol="0" anchor="t"/>
          <a:lstStyle/>
          <a:p>
            <a:pPr indent="0" marL="0">
              <a:buNone/>
            </a:pPr>
            <a:r>
              <a:rPr lang="en-US" sz="950" b="1" spc="200" kern="0" dirty="0">
                <a:solidFill>
                  <a:srgbClr val="1F6F5C"/>
                </a:solidFill>
                <a:latin typeface="Arial" pitchFamily="34" charset="0"/>
                <a:ea typeface="Arial" pitchFamily="34" charset="-122"/>
                <a:cs typeface="Arial" pitchFamily="34" charset="-120"/>
              </a:rPr>
              <a:t>DATA</a:t>
            </a:r>
            <a:endParaRPr lang="en-US" sz="950" dirty="0"/>
          </a:p>
        </p:txBody>
      </p:sp>
      <p:sp>
        <p:nvSpPr>
          <p:cNvPr id="31" name="Text 29"/>
          <p:cNvSpPr txBox="1"/>
          <p:nvPr/>
        </p:nvSpPr>
        <p:spPr>
          <a:xfrm>
            <a:off x="6629400" y="3785616"/>
            <a:ext cx="4965192" cy="502920"/>
          </a:xfrm>
          <a:prstGeom prst="rect">
            <a:avLst/>
          </a:prstGeom>
          <a:noFill/>
          <a:ln/>
        </p:spPr>
        <p:txBody>
          <a:bodyPr wrap="square" lIns="0" tIns="0" rIns="0" bIns="0" rtlCol="0" anchor="t"/>
          <a:lstStyle/>
          <a:p>
            <a:pPr indent="0" marL="0">
              <a:buNone/>
            </a:pPr>
            <a:r>
              <a:rPr lang="en-US" sz="1350" dirty="0">
                <a:solidFill>
                  <a:srgbClr val="16191C"/>
                </a:solidFill>
                <a:latin typeface="Arial" pitchFamily="34" charset="0"/>
                <a:ea typeface="Arial" pitchFamily="34" charset="-122"/>
                <a:cs typeface="Arial" pitchFamily="34" charset="-120"/>
              </a:rPr>
              <a:t>Live Yahoo, NSE, mfapi and Google News data. A dash and the source name when a feed is down.</a:t>
            </a:r>
            <a:endParaRPr lang="en-US" sz="1350" dirty="0"/>
          </a:p>
        </p:txBody>
      </p:sp>
      <p:sp>
        <p:nvSpPr>
          <p:cNvPr id="32" name="Shape 30"/>
          <p:cNvSpPr/>
          <p:nvPr/>
        </p:nvSpPr>
        <p:spPr>
          <a:xfrm>
            <a:off x="6629400" y="4270248"/>
            <a:ext cx="4965192" cy="0"/>
          </a:xfrm>
          <a:prstGeom prst="line">
            <a:avLst/>
          </a:prstGeom>
          <a:noFill/>
          <a:ln w="9525">
            <a:solidFill>
              <a:srgbClr val="D6D1C7"/>
            </a:solidFill>
            <a:prstDash val="solid"/>
          </a:ln>
        </p:spPr>
      </p:sp>
      <p:sp>
        <p:nvSpPr>
          <p:cNvPr id="33" name="Text 31"/>
          <p:cNvSpPr txBox="1"/>
          <p:nvPr/>
        </p:nvSpPr>
        <p:spPr>
          <a:xfrm>
            <a:off x="6629400" y="4379976"/>
            <a:ext cx="4965192" cy="219456"/>
          </a:xfrm>
          <a:prstGeom prst="rect">
            <a:avLst/>
          </a:prstGeom>
          <a:noFill/>
          <a:ln/>
        </p:spPr>
        <p:txBody>
          <a:bodyPr wrap="square" lIns="0" tIns="0" rIns="0" bIns="0" rtlCol="0" anchor="t"/>
          <a:lstStyle/>
          <a:p>
            <a:pPr indent="0" marL="0">
              <a:buNone/>
            </a:pPr>
            <a:r>
              <a:rPr lang="en-US" sz="950" b="1" spc="200" kern="0" dirty="0">
                <a:solidFill>
                  <a:srgbClr val="1F6F5C"/>
                </a:solidFill>
                <a:latin typeface="Arial" pitchFamily="34" charset="0"/>
                <a:ea typeface="Arial" pitchFamily="34" charset="-122"/>
                <a:cs typeface="Arial" pitchFamily="34" charset="-120"/>
              </a:rPr>
              <a:t>RESEARCH</a:t>
            </a:r>
            <a:endParaRPr lang="en-US" sz="950" dirty="0"/>
          </a:p>
        </p:txBody>
      </p:sp>
      <p:sp>
        <p:nvSpPr>
          <p:cNvPr id="34" name="Text 32"/>
          <p:cNvSpPr txBox="1"/>
          <p:nvPr/>
        </p:nvSpPr>
        <p:spPr>
          <a:xfrm>
            <a:off x="6629400" y="4636008"/>
            <a:ext cx="4965192" cy="502920"/>
          </a:xfrm>
          <a:prstGeom prst="rect">
            <a:avLst/>
          </a:prstGeom>
          <a:noFill/>
          <a:ln/>
        </p:spPr>
        <p:txBody>
          <a:bodyPr wrap="square" lIns="0" tIns="0" rIns="0" bIns="0" rtlCol="0" anchor="t"/>
          <a:lstStyle/>
          <a:p>
            <a:pPr indent="0" marL="0">
              <a:buNone/>
            </a:pPr>
            <a:r>
              <a:rPr lang="en-US" sz="1350" dirty="0">
                <a:solidFill>
                  <a:srgbClr val="16191C"/>
                </a:solidFill>
                <a:latin typeface="Arial" pitchFamily="34" charset="0"/>
                <a:ea typeface="Arial" pitchFamily="34" charset="-122"/>
                <a:cs typeface="Arial" pitchFamily="34" charset="-120"/>
              </a:rPr>
              <a:t>Next-bar fills, Decimal money, and SHA-256 fingerprinted runs the database will not let anyone edit.</a:t>
            </a:r>
            <a:endParaRPr lang="en-US" sz="1350" dirty="0"/>
          </a:p>
        </p:txBody>
      </p:sp>
      <p:sp>
        <p:nvSpPr>
          <p:cNvPr id="35" name="Shape 33"/>
          <p:cNvSpPr/>
          <p:nvPr/>
        </p:nvSpPr>
        <p:spPr>
          <a:xfrm>
            <a:off x="6629400" y="5120640"/>
            <a:ext cx="4965192" cy="0"/>
          </a:xfrm>
          <a:prstGeom prst="line">
            <a:avLst/>
          </a:prstGeom>
          <a:noFill/>
          <a:ln w="9525">
            <a:solidFill>
              <a:srgbClr val="D6D1C7"/>
            </a:solidFill>
            <a:prstDash val="solid"/>
          </a:ln>
        </p:spPr>
      </p:sp>
      <p:sp>
        <p:nvSpPr>
          <p:cNvPr id="36" name="Text 34"/>
          <p:cNvSpPr txBox="1"/>
          <p:nvPr/>
        </p:nvSpPr>
        <p:spPr>
          <a:xfrm>
            <a:off x="6629400" y="5230368"/>
            <a:ext cx="4965192" cy="219456"/>
          </a:xfrm>
          <a:prstGeom prst="rect">
            <a:avLst/>
          </a:prstGeom>
          <a:noFill/>
          <a:ln/>
        </p:spPr>
        <p:txBody>
          <a:bodyPr wrap="square" lIns="0" tIns="0" rIns="0" bIns="0" rtlCol="0" anchor="t"/>
          <a:lstStyle/>
          <a:p>
            <a:pPr indent="0" marL="0">
              <a:buNone/>
            </a:pPr>
            <a:r>
              <a:rPr lang="en-US" sz="950" b="1" spc="200" kern="0" dirty="0">
                <a:solidFill>
                  <a:srgbClr val="1F6F5C"/>
                </a:solidFill>
                <a:latin typeface="Arial" pitchFamily="34" charset="0"/>
                <a:ea typeface="Arial" pitchFamily="34" charset="-122"/>
                <a:cs typeface="Arial" pitchFamily="34" charset="-120"/>
              </a:rPr>
              <a:t>AI</a:t>
            </a:r>
            <a:endParaRPr lang="en-US" sz="950" dirty="0"/>
          </a:p>
        </p:txBody>
      </p:sp>
      <p:sp>
        <p:nvSpPr>
          <p:cNvPr id="37" name="Text 35"/>
          <p:cNvSpPr txBox="1"/>
          <p:nvPr/>
        </p:nvSpPr>
        <p:spPr>
          <a:xfrm>
            <a:off x="6629400" y="5486400"/>
            <a:ext cx="4965192" cy="502920"/>
          </a:xfrm>
          <a:prstGeom prst="rect">
            <a:avLst/>
          </a:prstGeom>
          <a:noFill/>
          <a:ln/>
        </p:spPr>
        <p:txBody>
          <a:bodyPr wrap="square" lIns="0" tIns="0" rIns="0" bIns="0" rtlCol="0" anchor="t"/>
          <a:lstStyle/>
          <a:p>
            <a:pPr indent="0" marL="0">
              <a:buNone/>
            </a:pPr>
            <a:r>
              <a:rPr lang="en-US" sz="1350" dirty="0">
                <a:solidFill>
                  <a:srgbClr val="16191C"/>
                </a:solidFill>
                <a:latin typeface="Arial" pitchFamily="34" charset="0"/>
                <a:ea typeface="Arial" pitchFamily="34" charset="-122"/>
                <a:cs typeface="Arial" pitchFamily="34" charset="-120"/>
              </a:rPr>
              <a:t>A scenario engine that works offline. Groq, Gemini or Grok if you paste a key.</a:t>
            </a:r>
            <a:endParaRPr lang="en-US" sz="1350" dirty="0"/>
          </a:p>
        </p:txBody>
      </p:sp>
      <p:sp>
        <p:nvSpPr>
          <p:cNvPr id="38" name="Text 36"/>
          <p:cNvSpPr txBox="1"/>
          <p:nvPr/>
        </p:nvSpPr>
        <p:spPr>
          <a:xfrm>
            <a:off x="594360" y="6382512"/>
            <a:ext cx="2743200" cy="201168"/>
          </a:xfrm>
          <a:prstGeom prst="rect">
            <a:avLst/>
          </a:prstGeom>
          <a:noFill/>
          <a:ln/>
        </p:spPr>
        <p:txBody>
          <a:bodyPr wrap="square" lIns="0" tIns="0" rIns="0" bIns="0" rtlCol="0" anchor="t"/>
          <a:lstStyle/>
          <a:p>
            <a:pPr indent="0" marL="0">
              <a:buNone/>
            </a:pPr>
            <a:r>
              <a:rPr lang="en-US" sz="1000" i="1" dirty="0">
                <a:solidFill>
                  <a:srgbClr val="6F747A"/>
                </a:solidFill>
                <a:latin typeface="Georgia" pitchFamily="34" charset="0"/>
                <a:ea typeface="Georgia" pitchFamily="34" charset="-122"/>
                <a:cs typeface="Georgia" pitchFamily="34" charset="-120"/>
              </a:rPr>
              <a:t>MarketLens</a:t>
            </a:r>
            <a:endParaRPr lang="en-US" sz="1000" dirty="0"/>
          </a:p>
        </p:txBody>
      </p:sp>
      <p:sp>
        <p:nvSpPr>
          <p:cNvPr id="39" name="Text 37"/>
          <p:cNvSpPr txBox="1"/>
          <p:nvPr/>
        </p:nvSpPr>
        <p:spPr>
          <a:xfrm>
            <a:off x="9765792" y="6382512"/>
            <a:ext cx="1828800" cy="201168"/>
          </a:xfrm>
          <a:prstGeom prst="rect">
            <a:avLst/>
          </a:prstGeom>
          <a:noFill/>
          <a:ln/>
        </p:spPr>
        <p:txBody>
          <a:bodyPr wrap="square" lIns="0" tIns="0" rIns="0" bIns="0" rtlCol="0" anchor="t"/>
          <a:lstStyle/>
          <a:p>
            <a:pPr algn="r" indent="0" marL="0">
              <a:buNone/>
            </a:pPr>
            <a:r>
              <a:rPr lang="en-US" sz="900" spc="100" kern="0" dirty="0">
                <a:solidFill>
                  <a:srgbClr val="6F747A"/>
                </a:solidFill>
                <a:latin typeface="Arial" pitchFamily="34" charset="0"/>
                <a:ea typeface="Arial" pitchFamily="34" charset="-122"/>
                <a:cs typeface="Arial" pitchFamily="34" charset="-120"/>
              </a:rPr>
              <a:t>05 / 12</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94360" y="457200"/>
            <a:ext cx="6400800" cy="228600"/>
          </a:xfrm>
          <a:prstGeom prst="rect">
            <a:avLst/>
          </a:prstGeom>
          <a:noFill/>
          <a:ln/>
        </p:spPr>
        <p:txBody>
          <a:bodyPr wrap="square" lIns="0" tIns="0" rIns="0" bIns="0" rtlCol="0" anchor="t"/>
          <a:lstStyle/>
          <a:p>
            <a:pPr indent="0" marL="0">
              <a:buNone/>
            </a:pPr>
            <a:r>
              <a:rPr lang="en-US" sz="950" b="1" spc="200" kern="0" dirty="0">
                <a:solidFill>
                  <a:srgbClr val="16191C"/>
                </a:solidFill>
                <a:latin typeface="Arial" pitchFamily="34" charset="0"/>
                <a:ea typeface="Arial" pitchFamily="34" charset="-122"/>
                <a:cs typeface="Arial" pitchFamily="34" charset="-120"/>
              </a:rPr>
              <a:t>No. 06</a:t>
            </a:r>
            <a:pPr indent="0" marL="0">
              <a:buNone/>
            </a:pPr>
            <a:r>
              <a:rPr lang="en-US" sz="950" b="1" spc="200" kern="0" dirty="0">
                <a:solidFill>
                  <a:srgbClr val="1F6F5C"/>
                </a:solidFill>
                <a:latin typeface="Arial" pitchFamily="34" charset="0"/>
                <a:ea typeface="Arial" pitchFamily="34" charset="-122"/>
                <a:cs typeface="Arial" pitchFamily="34" charset="-120"/>
              </a:rPr>
              <a:t>     SYSTEM ARCHITECTURE / BLOCK DIAGRAM</a:t>
            </a:r>
            <a:endParaRPr lang="en-US" sz="950" dirty="0"/>
          </a:p>
        </p:txBody>
      </p:sp>
      <p:sp>
        <p:nvSpPr>
          <p:cNvPr id="3" name="Text 1"/>
          <p:cNvSpPr txBox="1"/>
          <p:nvPr/>
        </p:nvSpPr>
        <p:spPr>
          <a:xfrm>
            <a:off x="594360" y="749808"/>
            <a:ext cx="11000232" cy="731520"/>
          </a:xfrm>
          <a:prstGeom prst="rect">
            <a:avLst/>
          </a:prstGeom>
          <a:noFill/>
          <a:ln/>
        </p:spPr>
        <p:txBody>
          <a:bodyPr wrap="square" lIns="0" tIns="0" rIns="0" bIns="0" rtlCol="0" anchor="t"/>
          <a:lstStyle/>
          <a:p>
            <a:pPr indent="0" marL="0">
              <a:buNone/>
            </a:pPr>
            <a:r>
              <a:rPr lang="en-US" sz="3200" dirty="0">
                <a:solidFill>
                  <a:srgbClr val="16191C"/>
                </a:solidFill>
                <a:latin typeface="Georgia" pitchFamily="34" charset="0"/>
                <a:ea typeface="Georgia" pitchFamily="34" charset="-122"/>
                <a:cs typeface="Georgia" pitchFamily="34" charset="-120"/>
              </a:rPr>
              <a:t>A small stack, with the research core kept apart.</a:t>
            </a:r>
            <a:endParaRPr lang="en-US" sz="3200" dirty="0"/>
          </a:p>
        </p:txBody>
      </p:sp>
      <p:sp>
        <p:nvSpPr>
          <p:cNvPr id="4" name="Shape 2"/>
          <p:cNvSpPr/>
          <p:nvPr/>
        </p:nvSpPr>
        <p:spPr>
          <a:xfrm>
            <a:off x="594360" y="1965960"/>
            <a:ext cx="3063240" cy="1417320"/>
          </a:xfrm>
          <a:prstGeom prst="rect">
            <a:avLst/>
          </a:prstGeom>
          <a:solidFill>
            <a:srgbClr val="FFFFFF"/>
          </a:solidFill>
          <a:ln w="9525">
            <a:solidFill>
              <a:srgbClr val="D6D1C7"/>
            </a:solidFill>
            <a:prstDash val="solid"/>
          </a:ln>
          <a:effectLst>
            <a:outerShdw sx="100000" sy="100000" kx="0" ky="0" algn="bl" rotWithShape="0" blurRad="127000" dist="25400" dir="5400000">
              <a:srgbClr val="000000">
                <a:alpha val="7000"/>
              </a:srgbClr>
            </a:outerShdw>
          </a:effectLst>
        </p:spPr>
      </p:sp>
      <p:sp>
        <p:nvSpPr>
          <p:cNvPr id="5" name="Text 3"/>
          <p:cNvSpPr txBox="1"/>
          <p:nvPr/>
        </p:nvSpPr>
        <p:spPr>
          <a:xfrm>
            <a:off x="795528" y="2130552"/>
            <a:ext cx="2660904" cy="310896"/>
          </a:xfrm>
          <a:prstGeom prst="rect">
            <a:avLst/>
          </a:prstGeom>
          <a:noFill/>
          <a:ln/>
        </p:spPr>
        <p:txBody>
          <a:bodyPr wrap="square" lIns="0" tIns="0" rIns="0" bIns="0" rtlCol="0" anchor="t"/>
          <a:lstStyle/>
          <a:p>
            <a:pPr indent="0" marL="0">
              <a:buNone/>
            </a:pPr>
            <a:r>
              <a:rPr lang="en-US" sz="1700" dirty="0">
                <a:solidFill>
                  <a:srgbClr val="16191C"/>
                </a:solidFill>
                <a:latin typeface="Georgia" pitchFamily="34" charset="0"/>
                <a:ea typeface="Georgia" pitchFamily="34" charset="-122"/>
                <a:cs typeface="Georgia" pitchFamily="34" charset="-120"/>
              </a:rPr>
              <a:t>Browser</a:t>
            </a:r>
            <a:endParaRPr lang="en-US" sz="1700" dirty="0"/>
          </a:p>
        </p:txBody>
      </p:sp>
      <p:sp>
        <p:nvSpPr>
          <p:cNvPr id="6" name="Text 4"/>
          <p:cNvSpPr txBox="1"/>
          <p:nvPr/>
        </p:nvSpPr>
        <p:spPr>
          <a:xfrm>
            <a:off x="795528" y="2514600"/>
            <a:ext cx="2660904" cy="777240"/>
          </a:xfrm>
          <a:prstGeom prst="rect">
            <a:avLst/>
          </a:prstGeom>
          <a:noFill/>
          <a:ln/>
        </p:spPr>
        <p:txBody>
          <a:bodyPr wrap="square" lIns="0" tIns="0" rIns="0" bIns="0" rtlCol="0" anchor="t"/>
          <a:lstStyle/>
          <a:p>
            <a:pPr indent="0" marL="0">
              <a:lnSpc>
                <a:spcPct val="110000"/>
              </a:lnSpc>
              <a:buNone/>
            </a:pPr>
            <a:r>
              <a:rPr lang="en-US" sz="1150" dirty="0">
                <a:solidFill>
                  <a:srgbClr val="3B4045"/>
                </a:solidFill>
                <a:latin typeface="Arial" pitchFamily="34" charset="0"/>
                <a:ea typeface="Arial" pitchFamily="34" charset="-122"/>
                <a:cs typeface="Arial" pitchFamily="34" charset="-120"/>
              </a:rPr>
              <a:t>React 19 and TypeScript, plain CSS, SVG charts. Hosted on Vercel; screens refresh every 15 s.</a:t>
            </a:r>
            <a:endParaRPr lang="en-US" sz="1150" dirty="0"/>
          </a:p>
        </p:txBody>
      </p:sp>
      <p:sp>
        <p:nvSpPr>
          <p:cNvPr id="7" name="Shape 5"/>
          <p:cNvSpPr/>
          <p:nvPr/>
        </p:nvSpPr>
        <p:spPr>
          <a:xfrm>
            <a:off x="4434840" y="1965960"/>
            <a:ext cx="3246120" cy="1417320"/>
          </a:xfrm>
          <a:prstGeom prst="rect">
            <a:avLst/>
          </a:prstGeom>
          <a:solidFill>
            <a:srgbClr val="FFFFFF"/>
          </a:solidFill>
          <a:ln w="9525">
            <a:solidFill>
              <a:srgbClr val="D6D1C7"/>
            </a:solidFill>
            <a:prstDash val="solid"/>
          </a:ln>
          <a:effectLst>
            <a:outerShdw sx="100000" sy="100000" kx="0" ky="0" algn="bl" rotWithShape="0" blurRad="127000" dist="25400" dir="5400000">
              <a:srgbClr val="000000">
                <a:alpha val="7000"/>
              </a:srgbClr>
            </a:outerShdw>
          </a:effectLst>
        </p:spPr>
      </p:sp>
      <p:sp>
        <p:nvSpPr>
          <p:cNvPr id="8" name="Text 6"/>
          <p:cNvSpPr txBox="1"/>
          <p:nvPr/>
        </p:nvSpPr>
        <p:spPr>
          <a:xfrm>
            <a:off x="4636008" y="2130552"/>
            <a:ext cx="2843784" cy="310896"/>
          </a:xfrm>
          <a:prstGeom prst="rect">
            <a:avLst/>
          </a:prstGeom>
          <a:noFill/>
          <a:ln/>
        </p:spPr>
        <p:txBody>
          <a:bodyPr wrap="square" lIns="0" tIns="0" rIns="0" bIns="0" rtlCol="0" anchor="t"/>
          <a:lstStyle/>
          <a:p>
            <a:pPr indent="0" marL="0">
              <a:buNone/>
            </a:pPr>
            <a:r>
              <a:rPr lang="en-US" sz="1700" dirty="0">
                <a:solidFill>
                  <a:srgbClr val="16191C"/>
                </a:solidFill>
                <a:latin typeface="Georgia" pitchFamily="34" charset="0"/>
                <a:ea typeface="Georgia" pitchFamily="34" charset="-122"/>
                <a:cs typeface="Georgia" pitchFamily="34" charset="-120"/>
              </a:rPr>
              <a:t>API</a:t>
            </a:r>
            <a:endParaRPr lang="en-US" sz="1700" dirty="0"/>
          </a:p>
        </p:txBody>
      </p:sp>
      <p:sp>
        <p:nvSpPr>
          <p:cNvPr id="9" name="Text 7"/>
          <p:cNvSpPr txBox="1"/>
          <p:nvPr/>
        </p:nvSpPr>
        <p:spPr>
          <a:xfrm>
            <a:off x="4636008" y="2514600"/>
            <a:ext cx="2843784" cy="777240"/>
          </a:xfrm>
          <a:prstGeom prst="rect">
            <a:avLst/>
          </a:prstGeom>
          <a:noFill/>
          <a:ln/>
        </p:spPr>
        <p:txBody>
          <a:bodyPr wrap="square" lIns="0" tIns="0" rIns="0" bIns="0" rtlCol="0" anchor="t"/>
          <a:lstStyle/>
          <a:p>
            <a:pPr indent="0" marL="0">
              <a:lnSpc>
                <a:spcPct val="110000"/>
              </a:lnSpc>
              <a:buNone/>
            </a:pPr>
            <a:r>
              <a:rPr lang="en-US" sz="1150" dirty="0">
                <a:solidFill>
                  <a:srgbClr val="3B4045"/>
                </a:solidFill>
                <a:latin typeface="Arial" pitchFamily="34" charset="0"/>
                <a:ea typeface="Arial" pitchFamily="34" charset="-122"/>
                <a:cs typeface="Arial" pitchFamily="34" charset="-120"/>
              </a:rPr>
              <a:t>FastAPI on Render. 17 read-only GET routes and a 10-second quote cache.</a:t>
            </a:r>
            <a:endParaRPr lang="en-US" sz="1150" dirty="0"/>
          </a:p>
        </p:txBody>
      </p:sp>
      <p:sp>
        <p:nvSpPr>
          <p:cNvPr id="10" name="Shape 8"/>
          <p:cNvSpPr/>
          <p:nvPr/>
        </p:nvSpPr>
        <p:spPr>
          <a:xfrm>
            <a:off x="8458200" y="1965960"/>
            <a:ext cx="3136392" cy="1417320"/>
          </a:xfrm>
          <a:prstGeom prst="rect">
            <a:avLst/>
          </a:prstGeom>
          <a:solidFill>
            <a:srgbClr val="FFFFFF"/>
          </a:solidFill>
          <a:ln w="9525">
            <a:solidFill>
              <a:srgbClr val="D6D1C7"/>
            </a:solidFill>
            <a:prstDash val="solid"/>
          </a:ln>
          <a:effectLst>
            <a:outerShdw sx="100000" sy="100000" kx="0" ky="0" algn="bl" rotWithShape="0" blurRad="127000" dist="25400" dir="5400000">
              <a:srgbClr val="000000">
                <a:alpha val="7000"/>
              </a:srgbClr>
            </a:outerShdw>
          </a:effectLst>
        </p:spPr>
      </p:sp>
      <p:sp>
        <p:nvSpPr>
          <p:cNvPr id="11" name="Text 9"/>
          <p:cNvSpPr txBox="1"/>
          <p:nvPr/>
        </p:nvSpPr>
        <p:spPr>
          <a:xfrm>
            <a:off x="8659368" y="2130552"/>
            <a:ext cx="2734056" cy="310896"/>
          </a:xfrm>
          <a:prstGeom prst="rect">
            <a:avLst/>
          </a:prstGeom>
          <a:noFill/>
          <a:ln/>
        </p:spPr>
        <p:txBody>
          <a:bodyPr wrap="square" lIns="0" tIns="0" rIns="0" bIns="0" rtlCol="0" anchor="t"/>
          <a:lstStyle/>
          <a:p>
            <a:pPr indent="0" marL="0">
              <a:buNone/>
            </a:pPr>
            <a:r>
              <a:rPr lang="en-US" sz="1700" dirty="0">
                <a:solidFill>
                  <a:srgbClr val="16191C"/>
                </a:solidFill>
                <a:latin typeface="Georgia" pitchFamily="34" charset="0"/>
                <a:ea typeface="Georgia" pitchFamily="34" charset="-122"/>
                <a:cs typeface="Georgia" pitchFamily="34" charset="-120"/>
              </a:rPr>
              <a:t>Public sources</a:t>
            </a:r>
            <a:endParaRPr lang="en-US" sz="1700" dirty="0"/>
          </a:p>
        </p:txBody>
      </p:sp>
      <p:sp>
        <p:nvSpPr>
          <p:cNvPr id="12" name="Text 10"/>
          <p:cNvSpPr txBox="1"/>
          <p:nvPr/>
        </p:nvSpPr>
        <p:spPr>
          <a:xfrm>
            <a:off x="8659368" y="2514600"/>
            <a:ext cx="2734056" cy="777240"/>
          </a:xfrm>
          <a:prstGeom prst="rect">
            <a:avLst/>
          </a:prstGeom>
          <a:noFill/>
          <a:ln/>
        </p:spPr>
        <p:txBody>
          <a:bodyPr wrap="square" lIns="0" tIns="0" rIns="0" bIns="0" rtlCol="0" anchor="t"/>
          <a:lstStyle/>
          <a:p>
            <a:pPr indent="0" marL="0">
              <a:lnSpc>
                <a:spcPct val="110000"/>
              </a:lnSpc>
              <a:buNone/>
            </a:pPr>
            <a:r>
              <a:rPr lang="en-US" sz="1150" dirty="0">
                <a:solidFill>
                  <a:srgbClr val="3B4045"/>
                </a:solidFill>
                <a:latin typeface="Arial" pitchFamily="34" charset="0"/>
                <a:ea typeface="Arial" pitchFamily="34" charset="-122"/>
                <a:cs typeface="Arial" pitchFamily="34" charset="-120"/>
              </a:rPr>
              <a:t>Yahoo chart API: quotes, candles, search</a:t>
            </a:r>
            <a:endParaRPr lang="en-US" sz="1150" dirty="0"/>
          </a:p>
          <a:p>
            <a:pPr indent="0" marL="0">
              <a:lnSpc>
                <a:spcPct val="110000"/>
              </a:lnSpc>
              <a:buNone/>
            </a:pPr>
            <a:r>
              <a:rPr lang="en-US" sz="1150" dirty="0">
                <a:solidFill>
                  <a:srgbClr val="3B4045"/>
                </a:solidFill>
                <a:latin typeface="Arial" pitchFamily="34" charset="0"/>
                <a:ea typeface="Arial" pitchFamily="34" charset="-122"/>
                <a:cs typeface="Arial" pitchFamily="34" charset="-120"/>
              </a:rPr>
              <a:t>NSE website: IPOs</a:t>
            </a:r>
            <a:endParaRPr lang="en-US" sz="1150" dirty="0"/>
          </a:p>
          <a:p>
            <a:pPr indent="0" marL="0">
              <a:lnSpc>
                <a:spcPct val="110000"/>
              </a:lnSpc>
              <a:buNone/>
            </a:pPr>
            <a:r>
              <a:rPr lang="en-US" sz="1150" dirty="0">
                <a:solidFill>
                  <a:srgbClr val="3B4045"/>
                </a:solidFill>
                <a:latin typeface="Arial" pitchFamily="34" charset="0"/>
                <a:ea typeface="Arial" pitchFamily="34" charset="-122"/>
                <a:cs typeface="Arial" pitchFamily="34" charset="-120"/>
              </a:rPr>
              <a:t>Google News RSS: headlines</a:t>
            </a:r>
            <a:endParaRPr lang="en-US" sz="1150" dirty="0"/>
          </a:p>
          <a:p>
            <a:pPr indent="0" marL="0">
              <a:lnSpc>
                <a:spcPct val="110000"/>
              </a:lnSpc>
              <a:buNone/>
            </a:pPr>
            <a:r>
              <a:rPr lang="en-US" sz="1150" dirty="0">
                <a:solidFill>
                  <a:srgbClr val="3B4045"/>
                </a:solidFill>
                <a:latin typeface="Arial" pitchFamily="34" charset="0"/>
                <a:ea typeface="Arial" pitchFamily="34" charset="-122"/>
                <a:cs typeface="Arial" pitchFamily="34" charset="-120"/>
              </a:rPr>
              <a:t>mfapi.in: fund NAVs</a:t>
            </a:r>
            <a:endParaRPr lang="en-US" sz="1150" dirty="0"/>
          </a:p>
        </p:txBody>
      </p:sp>
      <p:sp>
        <p:nvSpPr>
          <p:cNvPr id="13" name="Shape 11"/>
          <p:cNvSpPr/>
          <p:nvPr/>
        </p:nvSpPr>
        <p:spPr>
          <a:xfrm>
            <a:off x="3657600" y="2679192"/>
            <a:ext cx="777240" cy="0"/>
          </a:xfrm>
          <a:prstGeom prst="line">
            <a:avLst/>
          </a:prstGeom>
          <a:noFill/>
          <a:ln w="15875">
            <a:solidFill>
              <a:srgbClr val="6F747A"/>
            </a:solidFill>
            <a:prstDash val="solid"/>
            <a:tailEnd type="triangle"/>
          </a:ln>
        </p:spPr>
      </p:sp>
      <p:sp>
        <p:nvSpPr>
          <p:cNvPr id="14" name="Text 12"/>
          <p:cNvSpPr txBox="1"/>
          <p:nvPr/>
        </p:nvSpPr>
        <p:spPr>
          <a:xfrm>
            <a:off x="3593592" y="2423160"/>
            <a:ext cx="914400" cy="182880"/>
          </a:xfrm>
          <a:prstGeom prst="rect">
            <a:avLst/>
          </a:prstGeom>
          <a:noFill/>
          <a:ln/>
        </p:spPr>
        <p:txBody>
          <a:bodyPr wrap="square" lIns="0" tIns="0" rIns="0" bIns="0" rtlCol="0" anchor="t"/>
          <a:lstStyle/>
          <a:p>
            <a:pPr algn="ctr" indent="0" marL="0">
              <a:buNone/>
            </a:pPr>
            <a:r>
              <a:rPr lang="en-US" sz="850" b="1" spc="200" kern="0" dirty="0">
                <a:solidFill>
                  <a:srgbClr val="6F747A"/>
                </a:solidFill>
                <a:latin typeface="Arial" pitchFamily="34" charset="0"/>
                <a:ea typeface="Arial" pitchFamily="34" charset="-122"/>
                <a:cs typeface="Arial" pitchFamily="34" charset="-120"/>
              </a:rPr>
              <a:t>JSON</a:t>
            </a:r>
            <a:endParaRPr lang="en-US" sz="850" dirty="0"/>
          </a:p>
        </p:txBody>
      </p:sp>
      <p:sp>
        <p:nvSpPr>
          <p:cNvPr id="15" name="Shape 13"/>
          <p:cNvSpPr/>
          <p:nvPr/>
        </p:nvSpPr>
        <p:spPr>
          <a:xfrm>
            <a:off x="7680960" y="2679192"/>
            <a:ext cx="777240" cy="0"/>
          </a:xfrm>
          <a:prstGeom prst="line">
            <a:avLst/>
          </a:prstGeom>
          <a:noFill/>
          <a:ln w="15875">
            <a:solidFill>
              <a:srgbClr val="6F747A"/>
            </a:solidFill>
            <a:prstDash val="solid"/>
            <a:tailEnd type="triangle"/>
          </a:ln>
        </p:spPr>
      </p:sp>
      <p:sp>
        <p:nvSpPr>
          <p:cNvPr id="16" name="Text 14"/>
          <p:cNvSpPr txBox="1"/>
          <p:nvPr/>
        </p:nvSpPr>
        <p:spPr>
          <a:xfrm>
            <a:off x="7616952" y="2423160"/>
            <a:ext cx="914400" cy="182880"/>
          </a:xfrm>
          <a:prstGeom prst="rect">
            <a:avLst/>
          </a:prstGeom>
          <a:noFill/>
          <a:ln/>
        </p:spPr>
        <p:txBody>
          <a:bodyPr wrap="square" lIns="0" tIns="0" rIns="0" bIns="0" rtlCol="0" anchor="t"/>
          <a:lstStyle/>
          <a:p>
            <a:pPr algn="ctr" indent="0" marL="0">
              <a:buNone/>
            </a:pPr>
            <a:r>
              <a:rPr lang="en-US" sz="850" b="1" spc="200" kern="0" dirty="0">
                <a:solidFill>
                  <a:srgbClr val="6F747A"/>
                </a:solidFill>
                <a:latin typeface="Arial" pitchFamily="34" charset="0"/>
                <a:ea typeface="Arial" pitchFamily="34" charset="-122"/>
                <a:cs typeface="Arial" pitchFamily="34" charset="-120"/>
              </a:rPr>
              <a:t>FETCH</a:t>
            </a:r>
            <a:endParaRPr lang="en-US" sz="850" dirty="0"/>
          </a:p>
        </p:txBody>
      </p:sp>
      <p:sp>
        <p:nvSpPr>
          <p:cNvPr id="17" name="Shape 15"/>
          <p:cNvSpPr/>
          <p:nvPr/>
        </p:nvSpPr>
        <p:spPr>
          <a:xfrm>
            <a:off x="594360" y="4160520"/>
            <a:ext cx="3063240" cy="1600200"/>
          </a:xfrm>
          <a:prstGeom prst="rect">
            <a:avLst/>
          </a:prstGeom>
          <a:solidFill>
            <a:srgbClr val="FFFFFF"/>
          </a:solidFill>
          <a:ln w="9525">
            <a:solidFill>
              <a:srgbClr val="D6D1C7"/>
            </a:solidFill>
            <a:prstDash val="dash"/>
          </a:ln>
        </p:spPr>
      </p:sp>
      <p:sp>
        <p:nvSpPr>
          <p:cNvPr id="18" name="Text 16"/>
          <p:cNvSpPr txBox="1"/>
          <p:nvPr/>
        </p:nvSpPr>
        <p:spPr>
          <a:xfrm>
            <a:off x="795528" y="4325112"/>
            <a:ext cx="2660904" cy="310896"/>
          </a:xfrm>
          <a:prstGeom prst="rect">
            <a:avLst/>
          </a:prstGeom>
          <a:noFill/>
          <a:ln/>
        </p:spPr>
        <p:txBody>
          <a:bodyPr wrap="square" lIns="0" tIns="0" rIns="0" bIns="0" rtlCol="0" anchor="t"/>
          <a:lstStyle/>
          <a:p>
            <a:pPr indent="0" marL="0">
              <a:buNone/>
            </a:pPr>
            <a:r>
              <a:rPr lang="en-US" sz="1700" dirty="0">
                <a:solidFill>
                  <a:srgbClr val="16191C"/>
                </a:solidFill>
                <a:latin typeface="Georgia" pitchFamily="34" charset="0"/>
                <a:ea typeface="Georgia" pitchFamily="34" charset="-122"/>
                <a:cs typeface="Georgia" pitchFamily="34" charset="-120"/>
              </a:rPr>
              <a:t>AI providers</a:t>
            </a:r>
            <a:endParaRPr lang="en-US" sz="1700" dirty="0"/>
          </a:p>
        </p:txBody>
      </p:sp>
      <p:sp>
        <p:nvSpPr>
          <p:cNvPr id="19" name="Text 17"/>
          <p:cNvSpPr txBox="1"/>
          <p:nvPr/>
        </p:nvSpPr>
        <p:spPr>
          <a:xfrm>
            <a:off x="795528" y="4709160"/>
            <a:ext cx="2660904" cy="960120"/>
          </a:xfrm>
          <a:prstGeom prst="rect">
            <a:avLst/>
          </a:prstGeom>
          <a:noFill/>
          <a:ln/>
        </p:spPr>
        <p:txBody>
          <a:bodyPr wrap="square" lIns="0" tIns="0" rIns="0" bIns="0" rtlCol="0" anchor="t"/>
          <a:lstStyle/>
          <a:p>
            <a:pPr indent="0" marL="0">
              <a:lnSpc>
                <a:spcPct val="110000"/>
              </a:lnSpc>
              <a:buNone/>
            </a:pPr>
            <a:r>
              <a:rPr lang="en-US" sz="1150" dirty="0">
                <a:solidFill>
                  <a:srgbClr val="3B4045"/>
                </a:solidFill>
                <a:latin typeface="Arial" pitchFamily="34" charset="0"/>
                <a:ea typeface="Arial" pitchFamily="34" charset="-122"/>
                <a:cs typeface="Arial" pitchFamily="34" charset="-120"/>
              </a:rPr>
              <a:t>Optional. Groq, Gemini or Grok, called from the browser with the user's own key. An offline engine runs when there is none.</a:t>
            </a:r>
            <a:endParaRPr lang="en-US" sz="1150" dirty="0"/>
          </a:p>
        </p:txBody>
      </p:sp>
      <p:sp>
        <p:nvSpPr>
          <p:cNvPr id="20" name="Shape 18"/>
          <p:cNvSpPr/>
          <p:nvPr/>
        </p:nvSpPr>
        <p:spPr>
          <a:xfrm>
            <a:off x="2125980" y="3383280"/>
            <a:ext cx="0" cy="777240"/>
          </a:xfrm>
          <a:prstGeom prst="line">
            <a:avLst/>
          </a:prstGeom>
          <a:noFill/>
          <a:ln w="15875">
            <a:solidFill>
              <a:srgbClr val="6F747A"/>
            </a:solidFill>
            <a:prstDash val="dash"/>
            <a:tailEnd type="triangle"/>
          </a:ln>
        </p:spPr>
      </p:sp>
      <p:sp>
        <p:nvSpPr>
          <p:cNvPr id="21" name="Text 19"/>
          <p:cNvSpPr txBox="1"/>
          <p:nvPr/>
        </p:nvSpPr>
        <p:spPr>
          <a:xfrm>
            <a:off x="2240280" y="3675888"/>
            <a:ext cx="1097280" cy="182880"/>
          </a:xfrm>
          <a:prstGeom prst="rect">
            <a:avLst/>
          </a:prstGeom>
          <a:noFill/>
          <a:ln/>
        </p:spPr>
        <p:txBody>
          <a:bodyPr wrap="square" lIns="0" tIns="0" rIns="0" bIns="0" rtlCol="0" anchor="t"/>
          <a:lstStyle/>
          <a:p>
            <a:pPr algn="l" indent="0" marL="0">
              <a:buNone/>
            </a:pPr>
            <a:r>
              <a:rPr lang="en-US" sz="850" b="1" spc="200" kern="0" dirty="0">
                <a:solidFill>
                  <a:srgbClr val="6F747A"/>
                </a:solidFill>
                <a:latin typeface="Arial" pitchFamily="34" charset="0"/>
                <a:ea typeface="Arial" pitchFamily="34" charset="-122"/>
                <a:cs typeface="Arial" pitchFamily="34" charset="-120"/>
              </a:rPr>
              <a:t>OPTIONAL</a:t>
            </a:r>
            <a:endParaRPr lang="en-US" sz="850" dirty="0"/>
          </a:p>
        </p:txBody>
      </p:sp>
      <p:sp>
        <p:nvSpPr>
          <p:cNvPr id="22" name="Shape 20"/>
          <p:cNvSpPr/>
          <p:nvPr/>
        </p:nvSpPr>
        <p:spPr>
          <a:xfrm>
            <a:off x="4434840" y="4160520"/>
            <a:ext cx="7159752" cy="1600200"/>
          </a:xfrm>
          <a:prstGeom prst="rect">
            <a:avLst/>
          </a:prstGeom>
          <a:solidFill>
            <a:srgbClr val="E3EEE9"/>
          </a:solidFill>
          <a:ln w="9525">
            <a:solidFill>
              <a:srgbClr val="1F6F5C"/>
            </a:solidFill>
            <a:prstDash val="solid"/>
          </a:ln>
          <a:effectLst>
            <a:outerShdw sx="100000" sy="100000" kx="0" ky="0" algn="bl" rotWithShape="0" blurRad="127000" dist="25400" dir="5400000">
              <a:srgbClr val="000000">
                <a:alpha val="7000"/>
              </a:srgbClr>
            </a:outerShdw>
          </a:effectLst>
        </p:spPr>
      </p:sp>
      <p:sp>
        <p:nvSpPr>
          <p:cNvPr id="23" name="Text 21"/>
          <p:cNvSpPr txBox="1"/>
          <p:nvPr/>
        </p:nvSpPr>
        <p:spPr>
          <a:xfrm>
            <a:off x="4636008" y="4325112"/>
            <a:ext cx="2743200" cy="310896"/>
          </a:xfrm>
          <a:prstGeom prst="rect">
            <a:avLst/>
          </a:prstGeom>
          <a:noFill/>
          <a:ln/>
        </p:spPr>
        <p:txBody>
          <a:bodyPr wrap="square" lIns="0" tIns="0" rIns="0" bIns="0" rtlCol="0" anchor="t"/>
          <a:lstStyle/>
          <a:p>
            <a:pPr indent="0" marL="0">
              <a:buNone/>
            </a:pPr>
            <a:r>
              <a:rPr lang="en-US" sz="1700" dirty="0">
                <a:solidFill>
                  <a:srgbClr val="16191C"/>
                </a:solidFill>
                <a:latin typeface="Georgia" pitchFamily="34" charset="0"/>
                <a:ea typeface="Georgia" pitchFamily="34" charset="-122"/>
                <a:cs typeface="Georgia" pitchFamily="34" charset="-120"/>
              </a:rPr>
              <a:t>Research core</a:t>
            </a:r>
            <a:endParaRPr lang="en-US" sz="1700" dirty="0"/>
          </a:p>
        </p:txBody>
      </p:sp>
      <p:sp>
        <p:nvSpPr>
          <p:cNvPr id="24" name="Shape 22"/>
          <p:cNvSpPr/>
          <p:nvPr/>
        </p:nvSpPr>
        <p:spPr>
          <a:xfrm>
            <a:off x="4636008" y="4727448"/>
            <a:ext cx="1132027" cy="384048"/>
          </a:xfrm>
          <a:prstGeom prst="roundRect">
            <a:avLst>
              <a:gd name="adj" fmla="val 11905"/>
            </a:avLst>
          </a:prstGeom>
          <a:solidFill>
            <a:srgbClr val="FFFFFF"/>
          </a:solidFill>
          <a:ln w="9525">
            <a:solidFill>
              <a:srgbClr val="1F6F5C"/>
            </a:solidFill>
            <a:prstDash val="solid"/>
          </a:ln>
        </p:spPr>
      </p:sp>
      <p:sp>
        <p:nvSpPr>
          <p:cNvPr id="25" name="Text 23"/>
          <p:cNvSpPr txBox="1"/>
          <p:nvPr/>
        </p:nvSpPr>
        <p:spPr>
          <a:xfrm>
            <a:off x="4636008" y="4727448"/>
            <a:ext cx="1132027" cy="384048"/>
          </a:xfrm>
          <a:prstGeom prst="rect">
            <a:avLst/>
          </a:prstGeom>
          <a:noFill/>
          <a:ln/>
        </p:spPr>
        <p:txBody>
          <a:bodyPr wrap="square" lIns="0" tIns="0" rIns="0" bIns="0" rtlCol="0" anchor="ctr"/>
          <a:lstStyle/>
          <a:p>
            <a:pPr algn="ctr" indent="0" marL="0">
              <a:buNone/>
            </a:pPr>
            <a:r>
              <a:rPr lang="en-US" sz="1050" b="1" dirty="0">
                <a:solidFill>
                  <a:srgbClr val="1F6F5C"/>
                </a:solidFill>
                <a:latin typeface="Arial" pitchFamily="34" charset="0"/>
                <a:ea typeface="Arial" pitchFamily="34" charset="-122"/>
                <a:cs typeface="Arial" pitchFamily="34" charset="-120"/>
              </a:rPr>
              <a:t>Normalizer</a:t>
            </a:r>
            <a:endParaRPr lang="en-US" sz="1050" dirty="0"/>
          </a:p>
        </p:txBody>
      </p:sp>
      <p:sp>
        <p:nvSpPr>
          <p:cNvPr id="26" name="Shape 24"/>
          <p:cNvSpPr/>
          <p:nvPr/>
        </p:nvSpPr>
        <p:spPr>
          <a:xfrm>
            <a:off x="5804611" y="4919472"/>
            <a:ext cx="201168" cy="0"/>
          </a:xfrm>
          <a:prstGeom prst="line">
            <a:avLst/>
          </a:prstGeom>
          <a:noFill/>
          <a:ln w="12700">
            <a:solidFill>
              <a:srgbClr val="1F6F5C"/>
            </a:solidFill>
            <a:prstDash val="solid"/>
            <a:tailEnd type="triangle"/>
          </a:ln>
        </p:spPr>
      </p:sp>
      <p:sp>
        <p:nvSpPr>
          <p:cNvPr id="27" name="Shape 25"/>
          <p:cNvSpPr/>
          <p:nvPr/>
        </p:nvSpPr>
        <p:spPr>
          <a:xfrm>
            <a:off x="6042355" y="4727448"/>
            <a:ext cx="1132027" cy="384048"/>
          </a:xfrm>
          <a:prstGeom prst="roundRect">
            <a:avLst>
              <a:gd name="adj" fmla="val 11905"/>
            </a:avLst>
          </a:prstGeom>
          <a:solidFill>
            <a:srgbClr val="FFFFFF"/>
          </a:solidFill>
          <a:ln w="9525">
            <a:solidFill>
              <a:srgbClr val="1F6F5C"/>
            </a:solidFill>
            <a:prstDash val="solid"/>
          </a:ln>
        </p:spPr>
      </p:sp>
      <p:sp>
        <p:nvSpPr>
          <p:cNvPr id="28" name="Text 26"/>
          <p:cNvSpPr txBox="1"/>
          <p:nvPr/>
        </p:nvSpPr>
        <p:spPr>
          <a:xfrm>
            <a:off x="6042355" y="4727448"/>
            <a:ext cx="1132027" cy="384048"/>
          </a:xfrm>
          <a:prstGeom prst="rect">
            <a:avLst/>
          </a:prstGeom>
          <a:noFill/>
          <a:ln/>
        </p:spPr>
        <p:txBody>
          <a:bodyPr wrap="square" lIns="0" tIns="0" rIns="0" bIns="0" rtlCol="0" anchor="ctr"/>
          <a:lstStyle/>
          <a:p>
            <a:pPr algn="ctr" indent="0" marL="0">
              <a:buNone/>
            </a:pPr>
            <a:r>
              <a:rPr lang="en-US" sz="1050" b="1" dirty="0">
                <a:solidFill>
                  <a:srgbClr val="1F6F5C"/>
                </a:solidFill>
                <a:latin typeface="Arial" pitchFamily="34" charset="0"/>
                <a:ea typeface="Arial" pitchFamily="34" charset="-122"/>
                <a:cs typeface="Arial" pitchFamily="34" charset="-120"/>
              </a:rPr>
              <a:t>Backtester</a:t>
            </a:r>
            <a:endParaRPr lang="en-US" sz="1050" dirty="0"/>
          </a:p>
        </p:txBody>
      </p:sp>
      <p:sp>
        <p:nvSpPr>
          <p:cNvPr id="29" name="Shape 27"/>
          <p:cNvSpPr/>
          <p:nvPr/>
        </p:nvSpPr>
        <p:spPr>
          <a:xfrm>
            <a:off x="7210958" y="4919472"/>
            <a:ext cx="201168" cy="0"/>
          </a:xfrm>
          <a:prstGeom prst="line">
            <a:avLst/>
          </a:prstGeom>
          <a:noFill/>
          <a:ln w="12700">
            <a:solidFill>
              <a:srgbClr val="1F6F5C"/>
            </a:solidFill>
            <a:prstDash val="solid"/>
            <a:tailEnd type="triangle"/>
          </a:ln>
        </p:spPr>
      </p:sp>
      <p:sp>
        <p:nvSpPr>
          <p:cNvPr id="30" name="Shape 28"/>
          <p:cNvSpPr/>
          <p:nvPr/>
        </p:nvSpPr>
        <p:spPr>
          <a:xfrm>
            <a:off x="7448702" y="4727448"/>
            <a:ext cx="1132027" cy="384048"/>
          </a:xfrm>
          <a:prstGeom prst="roundRect">
            <a:avLst>
              <a:gd name="adj" fmla="val 11905"/>
            </a:avLst>
          </a:prstGeom>
          <a:solidFill>
            <a:srgbClr val="FFFFFF"/>
          </a:solidFill>
          <a:ln w="9525">
            <a:solidFill>
              <a:srgbClr val="1F6F5C"/>
            </a:solidFill>
            <a:prstDash val="solid"/>
          </a:ln>
        </p:spPr>
      </p:sp>
      <p:sp>
        <p:nvSpPr>
          <p:cNvPr id="31" name="Text 29"/>
          <p:cNvSpPr txBox="1"/>
          <p:nvPr/>
        </p:nvSpPr>
        <p:spPr>
          <a:xfrm>
            <a:off x="7448702" y="4727448"/>
            <a:ext cx="1132027" cy="384048"/>
          </a:xfrm>
          <a:prstGeom prst="rect">
            <a:avLst/>
          </a:prstGeom>
          <a:noFill/>
          <a:ln/>
        </p:spPr>
        <p:txBody>
          <a:bodyPr wrap="square" lIns="0" tIns="0" rIns="0" bIns="0" rtlCol="0" anchor="ctr"/>
          <a:lstStyle/>
          <a:p>
            <a:pPr algn="ctr" indent="0" marL="0">
              <a:buNone/>
            </a:pPr>
            <a:r>
              <a:rPr lang="en-US" sz="1050" b="1" dirty="0">
                <a:solidFill>
                  <a:srgbClr val="1F6F5C"/>
                </a:solidFill>
                <a:latin typeface="Arial" pitchFamily="34" charset="0"/>
                <a:ea typeface="Arial" pitchFamily="34" charset="-122"/>
                <a:cs typeface="Arial" pitchFamily="34" charset="-120"/>
              </a:rPr>
              <a:t>Forecaster</a:t>
            </a:r>
            <a:endParaRPr lang="en-US" sz="1050" dirty="0"/>
          </a:p>
        </p:txBody>
      </p:sp>
      <p:sp>
        <p:nvSpPr>
          <p:cNvPr id="32" name="Shape 30"/>
          <p:cNvSpPr/>
          <p:nvPr/>
        </p:nvSpPr>
        <p:spPr>
          <a:xfrm>
            <a:off x="8617306" y="4919472"/>
            <a:ext cx="201168" cy="0"/>
          </a:xfrm>
          <a:prstGeom prst="line">
            <a:avLst/>
          </a:prstGeom>
          <a:noFill/>
          <a:ln w="12700">
            <a:solidFill>
              <a:srgbClr val="1F6F5C"/>
            </a:solidFill>
            <a:prstDash val="solid"/>
            <a:tailEnd type="triangle"/>
          </a:ln>
        </p:spPr>
      </p:sp>
      <p:sp>
        <p:nvSpPr>
          <p:cNvPr id="33" name="Shape 31"/>
          <p:cNvSpPr/>
          <p:nvPr/>
        </p:nvSpPr>
        <p:spPr>
          <a:xfrm>
            <a:off x="8855050" y="4727448"/>
            <a:ext cx="1132027" cy="384048"/>
          </a:xfrm>
          <a:prstGeom prst="roundRect">
            <a:avLst>
              <a:gd name="adj" fmla="val 11905"/>
            </a:avLst>
          </a:prstGeom>
          <a:solidFill>
            <a:srgbClr val="FFFFFF"/>
          </a:solidFill>
          <a:ln w="9525">
            <a:solidFill>
              <a:srgbClr val="1F6F5C"/>
            </a:solidFill>
            <a:prstDash val="solid"/>
          </a:ln>
        </p:spPr>
      </p:sp>
      <p:sp>
        <p:nvSpPr>
          <p:cNvPr id="34" name="Text 32"/>
          <p:cNvSpPr txBox="1"/>
          <p:nvPr/>
        </p:nvSpPr>
        <p:spPr>
          <a:xfrm>
            <a:off x="8855050" y="4727448"/>
            <a:ext cx="1132027" cy="384048"/>
          </a:xfrm>
          <a:prstGeom prst="rect">
            <a:avLst/>
          </a:prstGeom>
          <a:noFill/>
          <a:ln/>
        </p:spPr>
        <p:txBody>
          <a:bodyPr wrap="square" lIns="0" tIns="0" rIns="0" bIns="0" rtlCol="0" anchor="ctr"/>
          <a:lstStyle/>
          <a:p>
            <a:pPr algn="ctr" indent="0" marL="0">
              <a:buNone/>
            </a:pPr>
            <a:r>
              <a:rPr lang="en-US" sz="1050" b="1" dirty="0">
                <a:solidFill>
                  <a:srgbClr val="1F6F5C"/>
                </a:solidFill>
                <a:latin typeface="Arial" pitchFamily="34" charset="0"/>
                <a:ea typeface="Arial" pitchFamily="34" charset="-122"/>
                <a:cs typeface="Arial" pitchFamily="34" charset="-120"/>
              </a:rPr>
              <a:t>Validator</a:t>
            </a:r>
            <a:endParaRPr lang="en-US" sz="1050" dirty="0"/>
          </a:p>
        </p:txBody>
      </p:sp>
      <p:sp>
        <p:nvSpPr>
          <p:cNvPr id="35" name="Shape 33"/>
          <p:cNvSpPr/>
          <p:nvPr/>
        </p:nvSpPr>
        <p:spPr>
          <a:xfrm>
            <a:off x="10023653" y="4919472"/>
            <a:ext cx="201168" cy="0"/>
          </a:xfrm>
          <a:prstGeom prst="line">
            <a:avLst/>
          </a:prstGeom>
          <a:noFill/>
          <a:ln w="12700">
            <a:solidFill>
              <a:srgbClr val="1F6F5C"/>
            </a:solidFill>
            <a:prstDash val="solid"/>
            <a:tailEnd type="triangle"/>
          </a:ln>
        </p:spPr>
      </p:sp>
      <p:sp>
        <p:nvSpPr>
          <p:cNvPr id="36" name="Shape 34"/>
          <p:cNvSpPr/>
          <p:nvPr/>
        </p:nvSpPr>
        <p:spPr>
          <a:xfrm>
            <a:off x="10261397" y="4727448"/>
            <a:ext cx="1132027" cy="384048"/>
          </a:xfrm>
          <a:prstGeom prst="roundRect">
            <a:avLst>
              <a:gd name="adj" fmla="val 11905"/>
            </a:avLst>
          </a:prstGeom>
          <a:solidFill>
            <a:srgbClr val="FFFFFF"/>
          </a:solidFill>
          <a:ln w="9525">
            <a:solidFill>
              <a:srgbClr val="1F6F5C"/>
            </a:solidFill>
            <a:prstDash val="solid"/>
          </a:ln>
        </p:spPr>
      </p:sp>
      <p:sp>
        <p:nvSpPr>
          <p:cNvPr id="37" name="Text 35"/>
          <p:cNvSpPr txBox="1"/>
          <p:nvPr/>
        </p:nvSpPr>
        <p:spPr>
          <a:xfrm>
            <a:off x="10261397" y="4727448"/>
            <a:ext cx="1132027" cy="384048"/>
          </a:xfrm>
          <a:prstGeom prst="rect">
            <a:avLst/>
          </a:prstGeom>
          <a:noFill/>
          <a:ln/>
        </p:spPr>
        <p:txBody>
          <a:bodyPr wrap="square" lIns="0" tIns="0" rIns="0" bIns="0" rtlCol="0" anchor="ctr"/>
          <a:lstStyle/>
          <a:p>
            <a:pPr algn="ctr" indent="0" marL="0">
              <a:buNone/>
            </a:pPr>
            <a:r>
              <a:rPr lang="en-US" sz="1050" b="1" dirty="0">
                <a:solidFill>
                  <a:srgbClr val="1F6F5C"/>
                </a:solidFill>
                <a:latin typeface="Arial" pitchFamily="34" charset="0"/>
                <a:ea typeface="Arial" pitchFamily="34" charset="-122"/>
                <a:cs typeface="Arial" pitchFamily="34" charset="-120"/>
              </a:rPr>
              <a:t>Publisher</a:t>
            </a:r>
            <a:endParaRPr lang="en-US" sz="1050" dirty="0"/>
          </a:p>
        </p:txBody>
      </p:sp>
      <p:sp>
        <p:nvSpPr>
          <p:cNvPr id="38" name="Text 36"/>
          <p:cNvSpPr txBox="1"/>
          <p:nvPr/>
        </p:nvSpPr>
        <p:spPr>
          <a:xfrm>
            <a:off x="4636008" y="5257800"/>
            <a:ext cx="6757416" cy="384048"/>
          </a:xfrm>
          <a:prstGeom prst="rect">
            <a:avLst/>
          </a:prstGeom>
          <a:noFill/>
          <a:ln/>
        </p:spPr>
        <p:txBody>
          <a:bodyPr wrap="square" lIns="0" tIns="0" rIns="0" bIns="0" rtlCol="0" anchor="t"/>
          <a:lstStyle/>
          <a:p>
            <a:pPr indent="0" marL="0">
              <a:buNone/>
            </a:pPr>
            <a:r>
              <a:rPr lang="en-US" sz="1150" dirty="0">
                <a:solidFill>
                  <a:srgbClr val="3B4045"/>
                </a:solidFill>
                <a:latin typeface="Arial" pitchFamily="34" charset="0"/>
                <a:ea typeface="Arial" pitchFamily="34" charset="-122"/>
                <a:cs typeface="Arial" pitchFamily="34" charset="-120"/>
              </a:rPr>
              <a:t>Runs offline on a 224-bar synthetic fixture. Publishes fingerprinted, read-only runs to SQLite, which the API serves.</a:t>
            </a:r>
            <a:endParaRPr lang="en-US" sz="1150" dirty="0"/>
          </a:p>
        </p:txBody>
      </p:sp>
      <p:sp>
        <p:nvSpPr>
          <p:cNvPr id="39" name="Shape 37"/>
          <p:cNvSpPr/>
          <p:nvPr/>
        </p:nvSpPr>
        <p:spPr>
          <a:xfrm>
            <a:off x="6057900" y="3383280"/>
            <a:ext cx="0" cy="777240"/>
          </a:xfrm>
          <a:prstGeom prst="line">
            <a:avLst/>
          </a:prstGeom>
          <a:noFill/>
          <a:ln w="15875">
            <a:solidFill>
              <a:srgbClr val="6F747A"/>
            </a:solidFill>
            <a:prstDash val="dash"/>
            <a:headEnd type="triangle"/>
          </a:ln>
        </p:spPr>
      </p:sp>
      <p:sp>
        <p:nvSpPr>
          <p:cNvPr id="40" name="Text 38"/>
          <p:cNvSpPr txBox="1"/>
          <p:nvPr/>
        </p:nvSpPr>
        <p:spPr>
          <a:xfrm>
            <a:off x="6172200" y="3675888"/>
            <a:ext cx="1828800" cy="182880"/>
          </a:xfrm>
          <a:prstGeom prst="rect">
            <a:avLst/>
          </a:prstGeom>
          <a:noFill/>
          <a:ln/>
        </p:spPr>
        <p:txBody>
          <a:bodyPr wrap="square" lIns="0" tIns="0" rIns="0" bIns="0" rtlCol="0" anchor="t"/>
          <a:lstStyle/>
          <a:p>
            <a:pPr algn="l" indent="0" marL="0">
              <a:buNone/>
            </a:pPr>
            <a:r>
              <a:rPr lang="en-US" sz="850" b="1" spc="200" kern="0" dirty="0">
                <a:solidFill>
                  <a:srgbClr val="6F747A"/>
                </a:solidFill>
                <a:latin typeface="Arial" pitchFamily="34" charset="0"/>
                <a:ea typeface="Arial" pitchFamily="34" charset="-122"/>
                <a:cs typeface="Arial" pitchFamily="34" charset="-120"/>
              </a:rPr>
              <a:t>PUBLISHED RUNS</a:t>
            </a:r>
            <a:endParaRPr lang="en-US" sz="850" dirty="0"/>
          </a:p>
        </p:txBody>
      </p:sp>
      <p:sp>
        <p:nvSpPr>
          <p:cNvPr id="41" name="Text 39"/>
          <p:cNvSpPr txBox="1"/>
          <p:nvPr/>
        </p:nvSpPr>
        <p:spPr>
          <a:xfrm>
            <a:off x="594360" y="5943600"/>
            <a:ext cx="11000232" cy="219456"/>
          </a:xfrm>
          <a:prstGeom prst="rect">
            <a:avLst/>
          </a:prstGeom>
          <a:noFill/>
          <a:ln/>
        </p:spPr>
        <p:txBody>
          <a:bodyPr wrap="square" lIns="0" tIns="0" rIns="0" bIns="0" rtlCol="0" anchor="t"/>
          <a:lstStyle/>
          <a:p>
            <a:pPr indent="0" marL="0">
              <a:buNone/>
            </a:pPr>
            <a:r>
              <a:rPr lang="en-US" sz="1000" dirty="0">
                <a:solidFill>
                  <a:srgbClr val="6F747A"/>
                </a:solidFill>
                <a:latin typeface="Arial" pitchFamily="34" charset="0"/>
                <a:ea typeface="Arial" pitchFamily="34" charset="-122"/>
                <a:cs typeface="Arial" pitchFamily="34" charset="-120"/>
              </a:rPr>
              <a:t>Solid: the live request path. Dashed: optional or offline paths. 13,109 listings (2,611 NSE, 10,498 BSE). No order ever reaches a broker.</a:t>
            </a:r>
            <a:endParaRPr lang="en-US" sz="1000" dirty="0"/>
          </a:p>
        </p:txBody>
      </p:sp>
      <p:sp>
        <p:nvSpPr>
          <p:cNvPr id="42" name="Text 40"/>
          <p:cNvSpPr txBox="1"/>
          <p:nvPr/>
        </p:nvSpPr>
        <p:spPr>
          <a:xfrm>
            <a:off x="594360" y="6382512"/>
            <a:ext cx="2743200" cy="201168"/>
          </a:xfrm>
          <a:prstGeom prst="rect">
            <a:avLst/>
          </a:prstGeom>
          <a:noFill/>
          <a:ln/>
        </p:spPr>
        <p:txBody>
          <a:bodyPr wrap="square" lIns="0" tIns="0" rIns="0" bIns="0" rtlCol="0" anchor="t"/>
          <a:lstStyle/>
          <a:p>
            <a:pPr indent="0" marL="0">
              <a:buNone/>
            </a:pPr>
            <a:r>
              <a:rPr lang="en-US" sz="1000" i="1" dirty="0">
                <a:solidFill>
                  <a:srgbClr val="6F747A"/>
                </a:solidFill>
                <a:latin typeface="Georgia" pitchFamily="34" charset="0"/>
                <a:ea typeface="Georgia" pitchFamily="34" charset="-122"/>
                <a:cs typeface="Georgia" pitchFamily="34" charset="-120"/>
              </a:rPr>
              <a:t>MarketLens</a:t>
            </a:r>
            <a:endParaRPr lang="en-US" sz="1000" dirty="0"/>
          </a:p>
        </p:txBody>
      </p:sp>
      <p:sp>
        <p:nvSpPr>
          <p:cNvPr id="43" name="Text 41"/>
          <p:cNvSpPr txBox="1"/>
          <p:nvPr/>
        </p:nvSpPr>
        <p:spPr>
          <a:xfrm>
            <a:off x="9765792" y="6382512"/>
            <a:ext cx="1828800" cy="201168"/>
          </a:xfrm>
          <a:prstGeom prst="rect">
            <a:avLst/>
          </a:prstGeom>
          <a:noFill/>
          <a:ln/>
        </p:spPr>
        <p:txBody>
          <a:bodyPr wrap="square" lIns="0" tIns="0" rIns="0" bIns="0" rtlCol="0" anchor="t"/>
          <a:lstStyle/>
          <a:p>
            <a:pPr algn="r" indent="0" marL="0">
              <a:buNone/>
            </a:pPr>
            <a:r>
              <a:rPr lang="en-US" sz="900" spc="100" kern="0" dirty="0">
                <a:solidFill>
                  <a:srgbClr val="6F747A"/>
                </a:solidFill>
                <a:latin typeface="Arial" pitchFamily="34" charset="0"/>
                <a:ea typeface="Arial" pitchFamily="34" charset="-122"/>
                <a:cs typeface="Arial" pitchFamily="34" charset="-120"/>
              </a:rPr>
              <a:t>06 / 12</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94360" y="457200"/>
            <a:ext cx="6400800" cy="228600"/>
          </a:xfrm>
          <a:prstGeom prst="rect">
            <a:avLst/>
          </a:prstGeom>
          <a:noFill/>
          <a:ln/>
        </p:spPr>
        <p:txBody>
          <a:bodyPr wrap="square" lIns="0" tIns="0" rIns="0" bIns="0" rtlCol="0" anchor="t"/>
          <a:lstStyle/>
          <a:p>
            <a:pPr indent="0" marL="0">
              <a:buNone/>
            </a:pPr>
            <a:r>
              <a:rPr lang="en-US" sz="950" b="1" spc="200" kern="0" dirty="0">
                <a:solidFill>
                  <a:srgbClr val="16191C"/>
                </a:solidFill>
                <a:latin typeface="Arial" pitchFamily="34" charset="0"/>
                <a:ea typeface="Arial" pitchFamily="34" charset="-122"/>
                <a:cs typeface="Arial" pitchFamily="34" charset="-120"/>
              </a:rPr>
              <a:t>No. 07</a:t>
            </a:r>
            <a:pPr indent="0" marL="0">
              <a:buNone/>
            </a:pPr>
            <a:r>
              <a:rPr lang="en-US" sz="950" b="1" spc="200" kern="0" dirty="0">
                <a:solidFill>
                  <a:srgbClr val="1F6F5C"/>
                </a:solidFill>
                <a:latin typeface="Arial" pitchFamily="34" charset="0"/>
                <a:ea typeface="Arial" pitchFamily="34" charset="-122"/>
                <a:cs typeface="Arial" pitchFamily="34" charset="-120"/>
              </a:rPr>
              <a:t>     TECHNOLOGIES USED: SOFTWARE AND HARDWARE</a:t>
            </a:r>
            <a:endParaRPr lang="en-US" sz="950" dirty="0"/>
          </a:p>
        </p:txBody>
      </p:sp>
      <p:sp>
        <p:nvSpPr>
          <p:cNvPr id="3" name="Text 1"/>
          <p:cNvSpPr txBox="1"/>
          <p:nvPr/>
        </p:nvSpPr>
        <p:spPr>
          <a:xfrm>
            <a:off x="594360" y="749808"/>
            <a:ext cx="11000232" cy="731520"/>
          </a:xfrm>
          <a:prstGeom prst="rect">
            <a:avLst/>
          </a:prstGeom>
          <a:noFill/>
          <a:ln/>
        </p:spPr>
        <p:txBody>
          <a:bodyPr wrap="square" lIns="0" tIns="0" rIns="0" bIns="0" rtlCol="0" anchor="t"/>
          <a:lstStyle/>
          <a:p>
            <a:pPr indent="0" marL="0">
              <a:buNone/>
            </a:pPr>
            <a:r>
              <a:rPr lang="en-US" sz="3200" dirty="0">
                <a:solidFill>
                  <a:srgbClr val="16191C"/>
                </a:solidFill>
                <a:latin typeface="Georgia" pitchFamily="34" charset="0"/>
                <a:ea typeface="Georgia" pitchFamily="34" charset="-122"/>
                <a:cs typeface="Georgia" pitchFamily="34" charset="-120"/>
              </a:rPr>
              <a:t>A small stack on free tiers.</a:t>
            </a:r>
            <a:endParaRPr lang="en-US" sz="3200" dirty="0"/>
          </a:p>
        </p:txBody>
      </p:sp>
      <p:sp>
        <p:nvSpPr>
          <p:cNvPr id="4" name="Text 2"/>
          <p:cNvSpPr txBox="1"/>
          <p:nvPr/>
        </p:nvSpPr>
        <p:spPr>
          <a:xfrm>
            <a:off x="594360" y="1691640"/>
            <a:ext cx="2743200" cy="219456"/>
          </a:xfrm>
          <a:prstGeom prst="rect">
            <a:avLst/>
          </a:prstGeom>
          <a:noFill/>
          <a:ln/>
        </p:spPr>
        <p:txBody>
          <a:bodyPr wrap="square" lIns="0" tIns="0" rIns="0" bIns="0" rtlCol="0" anchor="t"/>
          <a:lstStyle/>
          <a:p>
            <a:pPr indent="0" marL="0">
              <a:buNone/>
            </a:pPr>
            <a:r>
              <a:rPr lang="en-US" sz="950" b="1" spc="200" kern="0" dirty="0">
                <a:solidFill>
                  <a:srgbClr val="1F6F5C"/>
                </a:solidFill>
                <a:latin typeface="Arial" pitchFamily="34" charset="0"/>
                <a:ea typeface="Arial" pitchFamily="34" charset="-122"/>
                <a:cs typeface="Arial" pitchFamily="34" charset="-120"/>
              </a:rPr>
              <a:t>SOFTWARE</a:t>
            </a:r>
            <a:endParaRPr lang="en-US" sz="950" dirty="0"/>
          </a:p>
        </p:txBody>
      </p:sp>
      <p:sp>
        <p:nvSpPr>
          <p:cNvPr id="5" name="Text 3"/>
          <p:cNvSpPr txBox="1"/>
          <p:nvPr/>
        </p:nvSpPr>
        <p:spPr>
          <a:xfrm>
            <a:off x="594360" y="1965960"/>
            <a:ext cx="1417320" cy="182880"/>
          </a:xfrm>
          <a:prstGeom prst="rect">
            <a:avLst/>
          </a:prstGeom>
          <a:noFill/>
          <a:ln/>
        </p:spPr>
        <p:txBody>
          <a:bodyPr wrap="square" lIns="0" tIns="0" rIns="0" bIns="0" rtlCol="0" anchor="t"/>
          <a:lstStyle/>
          <a:p>
            <a:pPr indent="0" marL="0">
              <a:buNone/>
            </a:pPr>
            <a:r>
              <a:rPr lang="en-US" sz="850" b="1" spc="200" kern="0" dirty="0">
                <a:solidFill>
                  <a:srgbClr val="6F747A"/>
                </a:solidFill>
                <a:latin typeface="Arial" pitchFamily="34" charset="0"/>
                <a:ea typeface="Arial" pitchFamily="34" charset="-122"/>
                <a:cs typeface="Arial" pitchFamily="34" charset="-120"/>
              </a:rPr>
              <a:t>LAYER</a:t>
            </a:r>
            <a:endParaRPr lang="en-US" sz="850" dirty="0"/>
          </a:p>
        </p:txBody>
      </p:sp>
      <p:sp>
        <p:nvSpPr>
          <p:cNvPr id="6" name="Text 4"/>
          <p:cNvSpPr txBox="1"/>
          <p:nvPr/>
        </p:nvSpPr>
        <p:spPr>
          <a:xfrm>
            <a:off x="2103120" y="1965960"/>
            <a:ext cx="3429000" cy="182880"/>
          </a:xfrm>
          <a:prstGeom prst="rect">
            <a:avLst/>
          </a:prstGeom>
          <a:noFill/>
          <a:ln/>
        </p:spPr>
        <p:txBody>
          <a:bodyPr wrap="square" lIns="0" tIns="0" rIns="0" bIns="0" rtlCol="0" anchor="t"/>
          <a:lstStyle/>
          <a:p>
            <a:pPr indent="0" marL="0">
              <a:buNone/>
            </a:pPr>
            <a:r>
              <a:rPr lang="en-US" sz="850" b="1" spc="200" kern="0" dirty="0">
                <a:solidFill>
                  <a:srgbClr val="6F747A"/>
                </a:solidFill>
                <a:latin typeface="Arial" pitchFamily="34" charset="0"/>
                <a:ea typeface="Arial" pitchFamily="34" charset="-122"/>
                <a:cs typeface="Arial" pitchFamily="34" charset="-120"/>
              </a:rPr>
              <a:t>TECHNOLOGY</a:t>
            </a:r>
            <a:endParaRPr lang="en-US" sz="850" dirty="0"/>
          </a:p>
        </p:txBody>
      </p:sp>
      <p:sp>
        <p:nvSpPr>
          <p:cNvPr id="7" name="Text 5"/>
          <p:cNvSpPr txBox="1"/>
          <p:nvPr/>
        </p:nvSpPr>
        <p:spPr>
          <a:xfrm>
            <a:off x="5669280" y="1965960"/>
            <a:ext cx="2514600" cy="182880"/>
          </a:xfrm>
          <a:prstGeom prst="rect">
            <a:avLst/>
          </a:prstGeom>
          <a:noFill/>
          <a:ln/>
        </p:spPr>
        <p:txBody>
          <a:bodyPr wrap="square" lIns="0" tIns="0" rIns="0" bIns="0" rtlCol="0" anchor="t"/>
          <a:lstStyle/>
          <a:p>
            <a:pPr indent="0" marL="0">
              <a:buNone/>
            </a:pPr>
            <a:r>
              <a:rPr lang="en-US" sz="850" b="1" spc="200" kern="0" dirty="0">
                <a:solidFill>
                  <a:srgbClr val="6F747A"/>
                </a:solidFill>
                <a:latin typeface="Arial" pitchFamily="34" charset="0"/>
                <a:ea typeface="Arial" pitchFamily="34" charset="-122"/>
                <a:cs typeface="Arial" pitchFamily="34" charset="-120"/>
              </a:rPr>
              <a:t>USED FOR</a:t>
            </a:r>
            <a:endParaRPr lang="en-US" sz="850" dirty="0"/>
          </a:p>
        </p:txBody>
      </p:sp>
      <p:sp>
        <p:nvSpPr>
          <p:cNvPr id="8" name="Shape 6"/>
          <p:cNvSpPr/>
          <p:nvPr/>
        </p:nvSpPr>
        <p:spPr>
          <a:xfrm>
            <a:off x="594360" y="2212848"/>
            <a:ext cx="7589520" cy="0"/>
          </a:xfrm>
          <a:prstGeom prst="line">
            <a:avLst/>
          </a:prstGeom>
          <a:noFill/>
          <a:ln w="12700">
            <a:solidFill>
              <a:srgbClr val="16191C"/>
            </a:solidFill>
            <a:prstDash val="solid"/>
          </a:ln>
        </p:spPr>
      </p:sp>
      <p:sp>
        <p:nvSpPr>
          <p:cNvPr id="9" name="Text 7"/>
          <p:cNvSpPr txBox="1"/>
          <p:nvPr/>
        </p:nvSpPr>
        <p:spPr>
          <a:xfrm>
            <a:off x="594360" y="2331720"/>
            <a:ext cx="1417320" cy="411480"/>
          </a:xfrm>
          <a:prstGeom prst="rect">
            <a:avLst/>
          </a:prstGeom>
          <a:noFill/>
          <a:ln/>
        </p:spPr>
        <p:txBody>
          <a:bodyPr wrap="square" lIns="0" tIns="0" rIns="0" bIns="0" rtlCol="0" anchor="t"/>
          <a:lstStyle/>
          <a:p>
            <a:pPr indent="0" marL="0">
              <a:buNone/>
            </a:pPr>
            <a:r>
              <a:rPr lang="en-US" sz="1200" b="1" dirty="0">
                <a:solidFill>
                  <a:srgbClr val="16191C"/>
                </a:solidFill>
                <a:latin typeface="Arial" pitchFamily="34" charset="0"/>
                <a:ea typeface="Arial" pitchFamily="34" charset="-122"/>
                <a:cs typeface="Arial" pitchFamily="34" charset="-120"/>
              </a:rPr>
              <a:t>Frontend</a:t>
            </a:r>
            <a:endParaRPr lang="en-US" sz="1200" dirty="0"/>
          </a:p>
        </p:txBody>
      </p:sp>
      <p:sp>
        <p:nvSpPr>
          <p:cNvPr id="10" name="Text 8"/>
          <p:cNvSpPr txBox="1"/>
          <p:nvPr/>
        </p:nvSpPr>
        <p:spPr>
          <a:xfrm>
            <a:off x="2103120" y="2331720"/>
            <a:ext cx="3429000" cy="411480"/>
          </a:xfrm>
          <a:prstGeom prst="rect">
            <a:avLst/>
          </a:prstGeom>
          <a:noFill/>
          <a:ln/>
        </p:spPr>
        <p:txBody>
          <a:bodyPr wrap="square" lIns="0" tIns="0" rIns="0" bIns="0" rtlCol="0" anchor="t"/>
          <a:lstStyle/>
          <a:p>
            <a:pPr indent="0" marL="0">
              <a:buNone/>
            </a:pPr>
            <a:r>
              <a:rPr lang="en-US" sz="1250" dirty="0">
                <a:solidFill>
                  <a:srgbClr val="16191C"/>
                </a:solidFill>
                <a:latin typeface="Arial" pitchFamily="34" charset="0"/>
                <a:ea typeface="Arial" pitchFamily="34" charset="-122"/>
                <a:cs typeface="Arial" pitchFamily="34" charset="-120"/>
              </a:rPr>
              <a:t>React 19.3 · TypeScript 7.0 · Vite 8.3 · CSS3</a:t>
            </a:r>
            <a:endParaRPr lang="en-US" sz="1250" dirty="0"/>
          </a:p>
        </p:txBody>
      </p:sp>
      <p:sp>
        <p:nvSpPr>
          <p:cNvPr id="11" name="Text 9"/>
          <p:cNvSpPr txBox="1"/>
          <p:nvPr/>
        </p:nvSpPr>
        <p:spPr>
          <a:xfrm>
            <a:off x="5669280" y="2331720"/>
            <a:ext cx="2514600" cy="411480"/>
          </a:xfrm>
          <a:prstGeom prst="rect">
            <a:avLst/>
          </a:prstGeom>
          <a:noFill/>
          <a:ln/>
        </p:spPr>
        <p:txBody>
          <a:bodyPr wrap="square" lIns="0" tIns="0" rIns="0" bIns="0" rtlCol="0" anchor="t"/>
          <a:lstStyle/>
          <a:p>
            <a:pPr indent="0" marL="0">
              <a:buNone/>
            </a:pPr>
            <a:r>
              <a:rPr lang="en-US" sz="1150" dirty="0">
                <a:solidFill>
                  <a:srgbClr val="3B4045"/>
                </a:solidFill>
                <a:latin typeface="Arial" pitchFamily="34" charset="0"/>
                <a:ea typeface="Arial" pitchFamily="34" charset="-122"/>
                <a:cs typeface="Arial" pitchFamily="34" charset="-120"/>
              </a:rPr>
              <a:t>Nine-page interface, SVG charts, no UI library</a:t>
            </a:r>
            <a:endParaRPr lang="en-US" sz="1150" dirty="0"/>
          </a:p>
        </p:txBody>
      </p:sp>
      <p:sp>
        <p:nvSpPr>
          <p:cNvPr id="12" name="Shape 10"/>
          <p:cNvSpPr/>
          <p:nvPr/>
        </p:nvSpPr>
        <p:spPr>
          <a:xfrm>
            <a:off x="594360" y="2834640"/>
            <a:ext cx="7589520" cy="0"/>
          </a:xfrm>
          <a:prstGeom prst="line">
            <a:avLst/>
          </a:prstGeom>
          <a:noFill/>
          <a:ln w="9525">
            <a:solidFill>
              <a:srgbClr val="D6D1C7"/>
            </a:solidFill>
            <a:prstDash val="solid"/>
          </a:ln>
        </p:spPr>
      </p:sp>
      <p:sp>
        <p:nvSpPr>
          <p:cNvPr id="13" name="Text 11"/>
          <p:cNvSpPr txBox="1"/>
          <p:nvPr/>
        </p:nvSpPr>
        <p:spPr>
          <a:xfrm>
            <a:off x="594360" y="2935224"/>
            <a:ext cx="1417320" cy="411480"/>
          </a:xfrm>
          <a:prstGeom prst="rect">
            <a:avLst/>
          </a:prstGeom>
          <a:noFill/>
          <a:ln/>
        </p:spPr>
        <p:txBody>
          <a:bodyPr wrap="square" lIns="0" tIns="0" rIns="0" bIns="0" rtlCol="0" anchor="t"/>
          <a:lstStyle/>
          <a:p>
            <a:pPr indent="0" marL="0">
              <a:buNone/>
            </a:pPr>
            <a:r>
              <a:rPr lang="en-US" sz="1200" b="1" dirty="0">
                <a:solidFill>
                  <a:srgbClr val="16191C"/>
                </a:solidFill>
                <a:latin typeface="Arial" pitchFamily="34" charset="0"/>
                <a:ea typeface="Arial" pitchFamily="34" charset="-122"/>
                <a:cs typeface="Arial" pitchFamily="34" charset="-120"/>
              </a:rPr>
              <a:t>Backend</a:t>
            </a:r>
            <a:endParaRPr lang="en-US" sz="1200" dirty="0"/>
          </a:p>
        </p:txBody>
      </p:sp>
      <p:sp>
        <p:nvSpPr>
          <p:cNvPr id="14" name="Text 12"/>
          <p:cNvSpPr txBox="1"/>
          <p:nvPr/>
        </p:nvSpPr>
        <p:spPr>
          <a:xfrm>
            <a:off x="2103120" y="2935224"/>
            <a:ext cx="3429000" cy="411480"/>
          </a:xfrm>
          <a:prstGeom prst="rect">
            <a:avLst/>
          </a:prstGeom>
          <a:noFill/>
          <a:ln/>
        </p:spPr>
        <p:txBody>
          <a:bodyPr wrap="square" lIns="0" tIns="0" rIns="0" bIns="0" rtlCol="0" anchor="t"/>
          <a:lstStyle/>
          <a:p>
            <a:pPr indent="0" marL="0">
              <a:buNone/>
            </a:pPr>
            <a:r>
              <a:rPr lang="en-US" sz="1250" dirty="0">
                <a:solidFill>
                  <a:srgbClr val="16191C"/>
                </a:solidFill>
                <a:latin typeface="Arial" pitchFamily="34" charset="0"/>
                <a:ea typeface="Arial" pitchFamily="34" charset="-122"/>
                <a:cs typeface="Arial" pitchFamily="34" charset="-120"/>
              </a:rPr>
              <a:t>Python 3.12 · FastAPI 0.156 · Uvicorn 0.54 · HTTPX 0.28</a:t>
            </a:r>
            <a:endParaRPr lang="en-US" sz="1250" dirty="0"/>
          </a:p>
        </p:txBody>
      </p:sp>
      <p:sp>
        <p:nvSpPr>
          <p:cNvPr id="15" name="Text 13"/>
          <p:cNvSpPr txBox="1"/>
          <p:nvPr/>
        </p:nvSpPr>
        <p:spPr>
          <a:xfrm>
            <a:off x="5669280" y="2935224"/>
            <a:ext cx="2514600" cy="411480"/>
          </a:xfrm>
          <a:prstGeom prst="rect">
            <a:avLst/>
          </a:prstGeom>
          <a:noFill/>
          <a:ln/>
        </p:spPr>
        <p:txBody>
          <a:bodyPr wrap="square" lIns="0" tIns="0" rIns="0" bIns="0" rtlCol="0" anchor="t"/>
          <a:lstStyle/>
          <a:p>
            <a:pPr indent="0" marL="0">
              <a:buNone/>
            </a:pPr>
            <a:r>
              <a:rPr lang="en-US" sz="1150" dirty="0">
                <a:solidFill>
                  <a:srgbClr val="3B4045"/>
                </a:solidFill>
                <a:latin typeface="Arial" pitchFamily="34" charset="0"/>
                <a:ea typeface="Arial" pitchFamily="34" charset="-122"/>
                <a:cs typeface="Arial" pitchFamily="34" charset="-120"/>
              </a:rPr>
              <a:t>17 read-only routes, async data fetching</a:t>
            </a:r>
            <a:endParaRPr lang="en-US" sz="1150" dirty="0"/>
          </a:p>
        </p:txBody>
      </p:sp>
      <p:sp>
        <p:nvSpPr>
          <p:cNvPr id="16" name="Shape 14"/>
          <p:cNvSpPr/>
          <p:nvPr/>
        </p:nvSpPr>
        <p:spPr>
          <a:xfrm>
            <a:off x="594360" y="3438144"/>
            <a:ext cx="7589520" cy="0"/>
          </a:xfrm>
          <a:prstGeom prst="line">
            <a:avLst/>
          </a:prstGeom>
          <a:noFill/>
          <a:ln w="9525">
            <a:solidFill>
              <a:srgbClr val="D6D1C7"/>
            </a:solidFill>
            <a:prstDash val="solid"/>
          </a:ln>
        </p:spPr>
      </p:sp>
      <p:sp>
        <p:nvSpPr>
          <p:cNvPr id="17" name="Text 15"/>
          <p:cNvSpPr txBox="1"/>
          <p:nvPr/>
        </p:nvSpPr>
        <p:spPr>
          <a:xfrm>
            <a:off x="594360" y="3538728"/>
            <a:ext cx="1417320" cy="411480"/>
          </a:xfrm>
          <a:prstGeom prst="rect">
            <a:avLst/>
          </a:prstGeom>
          <a:noFill/>
          <a:ln/>
        </p:spPr>
        <p:txBody>
          <a:bodyPr wrap="square" lIns="0" tIns="0" rIns="0" bIns="0" rtlCol="0" anchor="t"/>
          <a:lstStyle/>
          <a:p>
            <a:pPr indent="0" marL="0">
              <a:buNone/>
            </a:pPr>
            <a:r>
              <a:rPr lang="en-US" sz="1200" b="1" dirty="0">
                <a:solidFill>
                  <a:srgbClr val="16191C"/>
                </a:solidFill>
                <a:latin typeface="Arial" pitchFamily="34" charset="0"/>
                <a:ea typeface="Arial" pitchFamily="34" charset="-122"/>
                <a:cs typeface="Arial" pitchFamily="34" charset="-120"/>
              </a:rPr>
              <a:t>Research</a:t>
            </a:r>
            <a:endParaRPr lang="en-US" sz="1200" dirty="0"/>
          </a:p>
        </p:txBody>
      </p:sp>
      <p:sp>
        <p:nvSpPr>
          <p:cNvPr id="18" name="Text 16"/>
          <p:cNvSpPr txBox="1"/>
          <p:nvPr/>
        </p:nvSpPr>
        <p:spPr>
          <a:xfrm>
            <a:off x="2103120" y="3538728"/>
            <a:ext cx="3429000" cy="411480"/>
          </a:xfrm>
          <a:prstGeom prst="rect">
            <a:avLst/>
          </a:prstGeom>
          <a:noFill/>
          <a:ln/>
        </p:spPr>
        <p:txBody>
          <a:bodyPr wrap="square" lIns="0" tIns="0" rIns="0" bIns="0" rtlCol="0" anchor="t"/>
          <a:lstStyle/>
          <a:p>
            <a:pPr indent="0" marL="0">
              <a:buNone/>
            </a:pPr>
            <a:r>
              <a:rPr lang="en-US" sz="1250" dirty="0">
                <a:solidFill>
                  <a:srgbClr val="16191C"/>
                </a:solidFill>
                <a:latin typeface="Arial" pitchFamily="34" charset="0"/>
                <a:ea typeface="Arial" pitchFamily="34" charset="-122"/>
                <a:cs typeface="Arial" pitchFamily="34" charset="-120"/>
              </a:rPr>
              <a:t>Python Decimal · SQLite · SHA-256</a:t>
            </a:r>
            <a:endParaRPr lang="en-US" sz="1250" dirty="0"/>
          </a:p>
        </p:txBody>
      </p:sp>
      <p:sp>
        <p:nvSpPr>
          <p:cNvPr id="19" name="Text 17"/>
          <p:cNvSpPr txBox="1"/>
          <p:nvPr/>
        </p:nvSpPr>
        <p:spPr>
          <a:xfrm>
            <a:off x="5669280" y="3538728"/>
            <a:ext cx="2514600" cy="411480"/>
          </a:xfrm>
          <a:prstGeom prst="rect">
            <a:avLst/>
          </a:prstGeom>
          <a:noFill/>
          <a:ln/>
        </p:spPr>
        <p:txBody>
          <a:bodyPr wrap="square" lIns="0" tIns="0" rIns="0" bIns="0" rtlCol="0" anchor="t"/>
          <a:lstStyle/>
          <a:p>
            <a:pPr indent="0" marL="0">
              <a:buNone/>
            </a:pPr>
            <a:r>
              <a:rPr lang="en-US" sz="1150" dirty="0">
                <a:solidFill>
                  <a:srgbClr val="3B4045"/>
                </a:solidFill>
                <a:latin typeface="Arial" pitchFamily="34" charset="0"/>
                <a:ea typeface="Arial" pitchFamily="34" charset="-122"/>
                <a:cs typeface="Arial" pitchFamily="34" charset="-120"/>
              </a:rPr>
              <a:t>Backtest, forecast, tamper-proof runs</a:t>
            </a:r>
            <a:endParaRPr lang="en-US" sz="1150" dirty="0"/>
          </a:p>
        </p:txBody>
      </p:sp>
      <p:sp>
        <p:nvSpPr>
          <p:cNvPr id="20" name="Shape 18"/>
          <p:cNvSpPr/>
          <p:nvPr/>
        </p:nvSpPr>
        <p:spPr>
          <a:xfrm>
            <a:off x="594360" y="4041648"/>
            <a:ext cx="7589520" cy="0"/>
          </a:xfrm>
          <a:prstGeom prst="line">
            <a:avLst/>
          </a:prstGeom>
          <a:noFill/>
          <a:ln w="9525">
            <a:solidFill>
              <a:srgbClr val="D6D1C7"/>
            </a:solidFill>
            <a:prstDash val="solid"/>
          </a:ln>
        </p:spPr>
      </p:sp>
      <p:sp>
        <p:nvSpPr>
          <p:cNvPr id="21" name="Text 19"/>
          <p:cNvSpPr txBox="1"/>
          <p:nvPr/>
        </p:nvSpPr>
        <p:spPr>
          <a:xfrm>
            <a:off x="594360" y="4142232"/>
            <a:ext cx="1417320" cy="411480"/>
          </a:xfrm>
          <a:prstGeom prst="rect">
            <a:avLst/>
          </a:prstGeom>
          <a:noFill/>
          <a:ln/>
        </p:spPr>
        <p:txBody>
          <a:bodyPr wrap="square" lIns="0" tIns="0" rIns="0" bIns="0" rtlCol="0" anchor="t"/>
          <a:lstStyle/>
          <a:p>
            <a:pPr indent="0" marL="0">
              <a:buNone/>
            </a:pPr>
            <a:r>
              <a:rPr lang="en-US" sz="1200" b="1" dirty="0">
                <a:solidFill>
                  <a:srgbClr val="16191C"/>
                </a:solidFill>
                <a:latin typeface="Arial" pitchFamily="34" charset="0"/>
                <a:ea typeface="Arial" pitchFamily="34" charset="-122"/>
                <a:cs typeface="Arial" pitchFamily="34" charset="-120"/>
              </a:rPr>
              <a:t>Data</a:t>
            </a:r>
            <a:endParaRPr lang="en-US" sz="1200" dirty="0"/>
          </a:p>
        </p:txBody>
      </p:sp>
      <p:sp>
        <p:nvSpPr>
          <p:cNvPr id="22" name="Text 20"/>
          <p:cNvSpPr txBox="1"/>
          <p:nvPr/>
        </p:nvSpPr>
        <p:spPr>
          <a:xfrm>
            <a:off x="2103120" y="4142232"/>
            <a:ext cx="3429000" cy="411480"/>
          </a:xfrm>
          <a:prstGeom prst="rect">
            <a:avLst/>
          </a:prstGeom>
          <a:noFill/>
          <a:ln/>
        </p:spPr>
        <p:txBody>
          <a:bodyPr wrap="square" lIns="0" tIns="0" rIns="0" bIns="0" rtlCol="0" anchor="t"/>
          <a:lstStyle/>
          <a:p>
            <a:pPr indent="0" marL="0">
              <a:buNone/>
            </a:pPr>
            <a:r>
              <a:rPr lang="en-US" sz="1250" dirty="0">
                <a:solidFill>
                  <a:srgbClr val="16191C"/>
                </a:solidFill>
                <a:latin typeface="Arial" pitchFamily="34" charset="0"/>
                <a:ea typeface="Arial" pitchFamily="34" charset="-122"/>
                <a:cs typeface="Arial" pitchFamily="34" charset="-120"/>
              </a:rPr>
              <a:t>Yahoo chart API · NSE website · Google News RSS · mfapi.in</a:t>
            </a:r>
            <a:endParaRPr lang="en-US" sz="1250" dirty="0"/>
          </a:p>
        </p:txBody>
      </p:sp>
      <p:sp>
        <p:nvSpPr>
          <p:cNvPr id="23" name="Text 21"/>
          <p:cNvSpPr txBox="1"/>
          <p:nvPr/>
        </p:nvSpPr>
        <p:spPr>
          <a:xfrm>
            <a:off x="5669280" y="4142232"/>
            <a:ext cx="2514600" cy="411480"/>
          </a:xfrm>
          <a:prstGeom prst="rect">
            <a:avLst/>
          </a:prstGeom>
          <a:noFill/>
          <a:ln/>
        </p:spPr>
        <p:txBody>
          <a:bodyPr wrap="square" lIns="0" tIns="0" rIns="0" bIns="0" rtlCol="0" anchor="t"/>
          <a:lstStyle/>
          <a:p>
            <a:pPr indent="0" marL="0">
              <a:buNone/>
            </a:pPr>
            <a:r>
              <a:rPr lang="en-US" sz="1150" dirty="0">
                <a:solidFill>
                  <a:srgbClr val="3B4045"/>
                </a:solidFill>
                <a:latin typeface="Arial" pitchFamily="34" charset="0"/>
                <a:ea typeface="Arial" pitchFamily="34" charset="-122"/>
                <a:cs typeface="Arial" pitchFamily="34" charset="-120"/>
              </a:rPr>
              <a:t>Quotes, candles, IPOs, news, fund NAVs</a:t>
            </a:r>
            <a:endParaRPr lang="en-US" sz="1150" dirty="0"/>
          </a:p>
        </p:txBody>
      </p:sp>
      <p:sp>
        <p:nvSpPr>
          <p:cNvPr id="24" name="Shape 22"/>
          <p:cNvSpPr/>
          <p:nvPr/>
        </p:nvSpPr>
        <p:spPr>
          <a:xfrm>
            <a:off x="594360" y="4645152"/>
            <a:ext cx="7589520" cy="0"/>
          </a:xfrm>
          <a:prstGeom prst="line">
            <a:avLst/>
          </a:prstGeom>
          <a:noFill/>
          <a:ln w="9525">
            <a:solidFill>
              <a:srgbClr val="D6D1C7"/>
            </a:solidFill>
            <a:prstDash val="solid"/>
          </a:ln>
        </p:spPr>
      </p:sp>
      <p:sp>
        <p:nvSpPr>
          <p:cNvPr id="25" name="Text 23"/>
          <p:cNvSpPr txBox="1"/>
          <p:nvPr/>
        </p:nvSpPr>
        <p:spPr>
          <a:xfrm>
            <a:off x="594360" y="4745736"/>
            <a:ext cx="1417320" cy="411480"/>
          </a:xfrm>
          <a:prstGeom prst="rect">
            <a:avLst/>
          </a:prstGeom>
          <a:noFill/>
          <a:ln/>
        </p:spPr>
        <p:txBody>
          <a:bodyPr wrap="square" lIns="0" tIns="0" rIns="0" bIns="0" rtlCol="0" anchor="t"/>
          <a:lstStyle/>
          <a:p>
            <a:pPr indent="0" marL="0">
              <a:buNone/>
            </a:pPr>
            <a:r>
              <a:rPr lang="en-US" sz="1200" b="1" dirty="0">
                <a:solidFill>
                  <a:srgbClr val="16191C"/>
                </a:solidFill>
                <a:latin typeface="Arial" pitchFamily="34" charset="0"/>
                <a:ea typeface="Arial" pitchFamily="34" charset="-122"/>
                <a:cs typeface="Arial" pitchFamily="34" charset="-120"/>
              </a:rPr>
              <a:t>AI, optional</a:t>
            </a:r>
            <a:endParaRPr lang="en-US" sz="1200" dirty="0"/>
          </a:p>
        </p:txBody>
      </p:sp>
      <p:sp>
        <p:nvSpPr>
          <p:cNvPr id="26" name="Text 24"/>
          <p:cNvSpPr txBox="1"/>
          <p:nvPr/>
        </p:nvSpPr>
        <p:spPr>
          <a:xfrm>
            <a:off x="2103120" y="4745736"/>
            <a:ext cx="3429000" cy="411480"/>
          </a:xfrm>
          <a:prstGeom prst="rect">
            <a:avLst/>
          </a:prstGeom>
          <a:noFill/>
          <a:ln/>
        </p:spPr>
        <p:txBody>
          <a:bodyPr wrap="square" lIns="0" tIns="0" rIns="0" bIns="0" rtlCol="0" anchor="t"/>
          <a:lstStyle/>
          <a:p>
            <a:pPr indent="0" marL="0">
              <a:buNone/>
            </a:pPr>
            <a:r>
              <a:rPr lang="en-US" sz="1250" dirty="0">
                <a:solidFill>
                  <a:srgbClr val="16191C"/>
                </a:solidFill>
                <a:latin typeface="Arial" pitchFamily="34" charset="0"/>
                <a:ea typeface="Arial" pitchFamily="34" charset="-122"/>
                <a:cs typeface="Arial" pitchFamily="34" charset="-120"/>
              </a:rPr>
              <a:t>Groq · Gemini · Grok · offline engine</a:t>
            </a:r>
            <a:endParaRPr lang="en-US" sz="1250" dirty="0"/>
          </a:p>
        </p:txBody>
      </p:sp>
      <p:sp>
        <p:nvSpPr>
          <p:cNvPr id="27" name="Text 25"/>
          <p:cNvSpPr txBox="1"/>
          <p:nvPr/>
        </p:nvSpPr>
        <p:spPr>
          <a:xfrm>
            <a:off x="5669280" y="4745736"/>
            <a:ext cx="2514600" cy="411480"/>
          </a:xfrm>
          <a:prstGeom prst="rect">
            <a:avLst/>
          </a:prstGeom>
          <a:noFill/>
          <a:ln/>
        </p:spPr>
        <p:txBody>
          <a:bodyPr wrap="square" lIns="0" tIns="0" rIns="0" bIns="0" rtlCol="0" anchor="t"/>
          <a:lstStyle/>
          <a:p>
            <a:pPr indent="0" marL="0">
              <a:buNone/>
            </a:pPr>
            <a:r>
              <a:rPr lang="en-US" sz="1150" dirty="0">
                <a:solidFill>
                  <a:srgbClr val="3B4045"/>
                </a:solidFill>
                <a:latin typeface="Arial" pitchFamily="34" charset="0"/>
                <a:ea typeface="Arial" pitchFamily="34" charset="-122"/>
                <a:cs typeface="Arial" pitchFamily="34" charset="-120"/>
              </a:rPr>
              <a:t>Scenario text with the user's own key</a:t>
            </a:r>
            <a:endParaRPr lang="en-US" sz="1150" dirty="0"/>
          </a:p>
        </p:txBody>
      </p:sp>
      <p:sp>
        <p:nvSpPr>
          <p:cNvPr id="28" name="Shape 26"/>
          <p:cNvSpPr/>
          <p:nvPr/>
        </p:nvSpPr>
        <p:spPr>
          <a:xfrm>
            <a:off x="594360" y="5248656"/>
            <a:ext cx="7589520" cy="0"/>
          </a:xfrm>
          <a:prstGeom prst="line">
            <a:avLst/>
          </a:prstGeom>
          <a:noFill/>
          <a:ln w="9525">
            <a:solidFill>
              <a:srgbClr val="D6D1C7"/>
            </a:solidFill>
            <a:prstDash val="solid"/>
          </a:ln>
        </p:spPr>
      </p:sp>
      <p:sp>
        <p:nvSpPr>
          <p:cNvPr id="29" name="Text 27"/>
          <p:cNvSpPr txBox="1"/>
          <p:nvPr/>
        </p:nvSpPr>
        <p:spPr>
          <a:xfrm>
            <a:off x="594360" y="5349240"/>
            <a:ext cx="1417320" cy="411480"/>
          </a:xfrm>
          <a:prstGeom prst="rect">
            <a:avLst/>
          </a:prstGeom>
          <a:noFill/>
          <a:ln/>
        </p:spPr>
        <p:txBody>
          <a:bodyPr wrap="square" lIns="0" tIns="0" rIns="0" bIns="0" rtlCol="0" anchor="t"/>
          <a:lstStyle/>
          <a:p>
            <a:pPr indent="0" marL="0">
              <a:buNone/>
            </a:pPr>
            <a:r>
              <a:rPr lang="en-US" sz="1200" b="1" dirty="0">
                <a:solidFill>
                  <a:srgbClr val="16191C"/>
                </a:solidFill>
                <a:latin typeface="Arial" pitchFamily="34" charset="0"/>
                <a:ea typeface="Arial" pitchFamily="34" charset="-122"/>
                <a:cs typeface="Arial" pitchFamily="34" charset="-120"/>
              </a:rPr>
              <a:t>Testing</a:t>
            </a:r>
            <a:endParaRPr lang="en-US" sz="1200" dirty="0"/>
          </a:p>
        </p:txBody>
      </p:sp>
      <p:sp>
        <p:nvSpPr>
          <p:cNvPr id="30" name="Text 28"/>
          <p:cNvSpPr txBox="1"/>
          <p:nvPr/>
        </p:nvSpPr>
        <p:spPr>
          <a:xfrm>
            <a:off x="2103120" y="5349240"/>
            <a:ext cx="3429000" cy="411480"/>
          </a:xfrm>
          <a:prstGeom prst="rect">
            <a:avLst/>
          </a:prstGeom>
          <a:noFill/>
          <a:ln/>
        </p:spPr>
        <p:txBody>
          <a:bodyPr wrap="square" lIns="0" tIns="0" rIns="0" bIns="0" rtlCol="0" anchor="t"/>
          <a:lstStyle/>
          <a:p>
            <a:pPr indent="0" marL="0">
              <a:buNone/>
            </a:pPr>
            <a:r>
              <a:rPr lang="en-US" sz="1250" dirty="0">
                <a:solidFill>
                  <a:srgbClr val="16191C"/>
                </a:solidFill>
                <a:latin typeface="Arial" pitchFamily="34" charset="0"/>
                <a:ea typeface="Arial" pitchFamily="34" charset="-122"/>
                <a:cs typeface="Arial" pitchFamily="34" charset="-120"/>
              </a:rPr>
              <a:t>Vitest · Playwright · axe-core · unittest</a:t>
            </a:r>
            <a:endParaRPr lang="en-US" sz="1250" dirty="0"/>
          </a:p>
        </p:txBody>
      </p:sp>
      <p:sp>
        <p:nvSpPr>
          <p:cNvPr id="31" name="Text 29"/>
          <p:cNvSpPr txBox="1"/>
          <p:nvPr/>
        </p:nvSpPr>
        <p:spPr>
          <a:xfrm>
            <a:off x="5669280" y="5349240"/>
            <a:ext cx="2514600" cy="411480"/>
          </a:xfrm>
          <a:prstGeom prst="rect">
            <a:avLst/>
          </a:prstGeom>
          <a:noFill/>
          <a:ln/>
        </p:spPr>
        <p:txBody>
          <a:bodyPr wrap="square" lIns="0" tIns="0" rIns="0" bIns="0" rtlCol="0" anchor="t"/>
          <a:lstStyle/>
          <a:p>
            <a:pPr indent="0" marL="0">
              <a:buNone/>
            </a:pPr>
            <a:r>
              <a:rPr lang="en-US" sz="1150" dirty="0">
                <a:solidFill>
                  <a:srgbClr val="3B4045"/>
                </a:solidFill>
                <a:latin typeface="Arial" pitchFamily="34" charset="0"/>
                <a:ea typeface="Arial" pitchFamily="34" charset="-122"/>
                <a:cs typeface="Arial" pitchFamily="34" charset="-120"/>
              </a:rPr>
              <a:t>Front-end, browser, accessibility and backend tests</a:t>
            </a:r>
            <a:endParaRPr lang="en-US" sz="1150" dirty="0"/>
          </a:p>
        </p:txBody>
      </p:sp>
      <p:sp>
        <p:nvSpPr>
          <p:cNvPr id="32" name="Shape 30"/>
          <p:cNvSpPr/>
          <p:nvPr/>
        </p:nvSpPr>
        <p:spPr>
          <a:xfrm>
            <a:off x="594360" y="5852160"/>
            <a:ext cx="7589520" cy="0"/>
          </a:xfrm>
          <a:prstGeom prst="line">
            <a:avLst/>
          </a:prstGeom>
          <a:noFill/>
          <a:ln w="9525">
            <a:solidFill>
              <a:srgbClr val="D6D1C7"/>
            </a:solidFill>
            <a:prstDash val="solid"/>
          </a:ln>
        </p:spPr>
      </p:sp>
      <p:sp>
        <p:nvSpPr>
          <p:cNvPr id="33" name="Shape 31"/>
          <p:cNvSpPr/>
          <p:nvPr/>
        </p:nvSpPr>
        <p:spPr>
          <a:xfrm>
            <a:off x="8641080" y="1691640"/>
            <a:ext cx="2953512" cy="4343400"/>
          </a:xfrm>
          <a:prstGeom prst="rect">
            <a:avLst/>
          </a:prstGeom>
          <a:solidFill>
            <a:srgbClr val="FFFFFF"/>
          </a:solidFill>
          <a:ln w="9525">
            <a:solidFill>
              <a:srgbClr val="D6D1C7"/>
            </a:solidFill>
            <a:prstDash val="solid"/>
          </a:ln>
          <a:effectLst>
            <a:outerShdw sx="100000" sy="100000" kx="0" ky="0" algn="bl" rotWithShape="0" blurRad="127000" dist="25400" dir="5400000">
              <a:srgbClr val="000000">
                <a:alpha val="7000"/>
              </a:srgbClr>
            </a:outerShdw>
          </a:effectLst>
        </p:spPr>
      </p:sp>
      <p:sp>
        <p:nvSpPr>
          <p:cNvPr id="34" name="Text 32"/>
          <p:cNvSpPr txBox="1"/>
          <p:nvPr/>
        </p:nvSpPr>
        <p:spPr>
          <a:xfrm>
            <a:off x="8897112" y="1920240"/>
            <a:ext cx="2441448" cy="219456"/>
          </a:xfrm>
          <a:prstGeom prst="rect">
            <a:avLst/>
          </a:prstGeom>
          <a:noFill/>
          <a:ln/>
        </p:spPr>
        <p:txBody>
          <a:bodyPr wrap="square" lIns="0" tIns="0" rIns="0" bIns="0" rtlCol="0" anchor="t"/>
          <a:lstStyle/>
          <a:p>
            <a:pPr indent="0" marL="0">
              <a:buNone/>
            </a:pPr>
            <a:r>
              <a:rPr lang="en-US" sz="950" b="1" spc="200" kern="0" dirty="0">
                <a:solidFill>
                  <a:srgbClr val="1F6F5C"/>
                </a:solidFill>
                <a:latin typeface="Arial" pitchFamily="34" charset="0"/>
                <a:ea typeface="Arial" pitchFamily="34" charset="-122"/>
                <a:cs typeface="Arial" pitchFamily="34" charset="-120"/>
              </a:rPr>
              <a:t>HARDWARE</a:t>
            </a:r>
            <a:endParaRPr lang="en-US" sz="950" dirty="0"/>
          </a:p>
        </p:txBody>
      </p:sp>
      <p:sp>
        <p:nvSpPr>
          <p:cNvPr id="35" name="Text 33"/>
          <p:cNvSpPr txBox="1"/>
          <p:nvPr/>
        </p:nvSpPr>
        <p:spPr>
          <a:xfrm>
            <a:off x="8897112" y="2286000"/>
            <a:ext cx="2441448" cy="274320"/>
          </a:xfrm>
          <a:prstGeom prst="rect">
            <a:avLst/>
          </a:prstGeom>
          <a:noFill/>
          <a:ln/>
        </p:spPr>
        <p:txBody>
          <a:bodyPr wrap="square" lIns="0" tIns="0" rIns="0" bIns="0" rtlCol="0" anchor="t"/>
          <a:lstStyle/>
          <a:p>
            <a:pPr indent="0" marL="0">
              <a:buNone/>
            </a:pPr>
            <a:r>
              <a:rPr lang="en-US" sz="1350" b="1" dirty="0">
                <a:solidFill>
                  <a:srgbClr val="16191C"/>
                </a:solidFill>
                <a:latin typeface="Arial" pitchFamily="34" charset="0"/>
                <a:ea typeface="Arial" pitchFamily="34" charset="-122"/>
                <a:cs typeface="Arial" pitchFamily="34" charset="-120"/>
              </a:rPr>
              <a:t>Development</a:t>
            </a:r>
            <a:endParaRPr lang="en-US" sz="1350" dirty="0"/>
          </a:p>
        </p:txBody>
      </p:sp>
      <p:sp>
        <p:nvSpPr>
          <p:cNvPr id="36" name="Text 34"/>
          <p:cNvSpPr txBox="1"/>
          <p:nvPr/>
        </p:nvSpPr>
        <p:spPr>
          <a:xfrm>
            <a:off x="8897112" y="2596896"/>
            <a:ext cx="2441448" cy="685800"/>
          </a:xfrm>
          <a:prstGeom prst="rect">
            <a:avLst/>
          </a:prstGeom>
          <a:noFill/>
          <a:ln/>
        </p:spPr>
        <p:txBody>
          <a:bodyPr wrap="square" lIns="0" tIns="0" rIns="0" bIns="0" rtlCol="0" anchor="t"/>
          <a:lstStyle/>
          <a:p>
            <a:pPr indent="0" marL="0">
              <a:lnSpc>
                <a:spcPct val="110000"/>
              </a:lnSpc>
              <a:buNone/>
            </a:pPr>
            <a:r>
              <a:rPr lang="en-US" sz="1150" dirty="0">
                <a:solidFill>
                  <a:srgbClr val="3B4045"/>
                </a:solidFill>
                <a:latin typeface="Arial" pitchFamily="34" charset="0"/>
                <a:ea typeface="Arial" pitchFamily="34" charset="-122"/>
                <a:cs typeface="Arial" pitchFamily="34" charset="-120"/>
              </a:rPr>
              <a:t>Ordinary laptops running Node.js 22 and Python 3.12. No special hardware.</a:t>
            </a:r>
            <a:endParaRPr lang="en-US" sz="1150" dirty="0"/>
          </a:p>
        </p:txBody>
      </p:sp>
      <p:sp>
        <p:nvSpPr>
          <p:cNvPr id="37" name="Shape 35"/>
          <p:cNvSpPr/>
          <p:nvPr/>
        </p:nvSpPr>
        <p:spPr>
          <a:xfrm>
            <a:off x="8897112" y="3346704"/>
            <a:ext cx="2441448" cy="0"/>
          </a:xfrm>
          <a:prstGeom prst="line">
            <a:avLst/>
          </a:prstGeom>
          <a:noFill/>
          <a:ln w="9525">
            <a:solidFill>
              <a:srgbClr val="D6D1C7"/>
            </a:solidFill>
            <a:prstDash val="solid"/>
          </a:ln>
        </p:spPr>
      </p:sp>
      <p:sp>
        <p:nvSpPr>
          <p:cNvPr id="38" name="Text 36"/>
          <p:cNvSpPr txBox="1"/>
          <p:nvPr/>
        </p:nvSpPr>
        <p:spPr>
          <a:xfrm>
            <a:off x="8897112" y="3502152"/>
            <a:ext cx="2441448" cy="274320"/>
          </a:xfrm>
          <a:prstGeom prst="rect">
            <a:avLst/>
          </a:prstGeom>
          <a:noFill/>
          <a:ln/>
        </p:spPr>
        <p:txBody>
          <a:bodyPr wrap="square" lIns="0" tIns="0" rIns="0" bIns="0" rtlCol="0" anchor="t"/>
          <a:lstStyle/>
          <a:p>
            <a:pPr indent="0" marL="0">
              <a:buNone/>
            </a:pPr>
            <a:r>
              <a:rPr lang="en-US" sz="1350" b="1" dirty="0">
                <a:solidFill>
                  <a:srgbClr val="16191C"/>
                </a:solidFill>
                <a:latin typeface="Arial" pitchFamily="34" charset="0"/>
                <a:ea typeface="Arial" pitchFamily="34" charset="-122"/>
                <a:cs typeface="Arial" pitchFamily="34" charset="-120"/>
              </a:rPr>
              <a:t>Hosting</a:t>
            </a:r>
            <a:endParaRPr lang="en-US" sz="1350" dirty="0"/>
          </a:p>
        </p:txBody>
      </p:sp>
      <p:sp>
        <p:nvSpPr>
          <p:cNvPr id="39" name="Text 37"/>
          <p:cNvSpPr txBox="1"/>
          <p:nvPr/>
        </p:nvSpPr>
        <p:spPr>
          <a:xfrm>
            <a:off x="8897112" y="3813048"/>
            <a:ext cx="2441448" cy="685800"/>
          </a:xfrm>
          <a:prstGeom prst="rect">
            <a:avLst/>
          </a:prstGeom>
          <a:noFill/>
          <a:ln/>
        </p:spPr>
        <p:txBody>
          <a:bodyPr wrap="square" lIns="0" tIns="0" rIns="0" bIns="0" rtlCol="0" anchor="t"/>
          <a:lstStyle/>
          <a:p>
            <a:pPr indent="0" marL="0">
              <a:lnSpc>
                <a:spcPct val="110000"/>
              </a:lnSpc>
              <a:buNone/>
            </a:pPr>
            <a:r>
              <a:rPr lang="en-US" sz="1150" dirty="0">
                <a:solidFill>
                  <a:srgbClr val="3B4045"/>
                </a:solidFill>
                <a:latin typeface="Arial" pitchFamily="34" charset="0"/>
                <a:ea typeface="Arial" pitchFamily="34" charset="-122"/>
                <a:cs typeface="Arial" pitchFamily="34" charset="-120"/>
              </a:rPr>
              <a:t>Vercel edge network for the web app. Render free instance for the API: 512 MB RAM, 0.1 CPU.</a:t>
            </a:r>
            <a:endParaRPr lang="en-US" sz="1150" dirty="0"/>
          </a:p>
        </p:txBody>
      </p:sp>
      <p:sp>
        <p:nvSpPr>
          <p:cNvPr id="40" name="Shape 38"/>
          <p:cNvSpPr/>
          <p:nvPr/>
        </p:nvSpPr>
        <p:spPr>
          <a:xfrm>
            <a:off x="8897112" y="4562856"/>
            <a:ext cx="2441448" cy="0"/>
          </a:xfrm>
          <a:prstGeom prst="line">
            <a:avLst/>
          </a:prstGeom>
          <a:noFill/>
          <a:ln w="9525">
            <a:solidFill>
              <a:srgbClr val="D6D1C7"/>
            </a:solidFill>
            <a:prstDash val="solid"/>
          </a:ln>
        </p:spPr>
      </p:sp>
      <p:sp>
        <p:nvSpPr>
          <p:cNvPr id="41" name="Text 39"/>
          <p:cNvSpPr txBox="1"/>
          <p:nvPr/>
        </p:nvSpPr>
        <p:spPr>
          <a:xfrm>
            <a:off x="8897112" y="4718304"/>
            <a:ext cx="2441448" cy="274320"/>
          </a:xfrm>
          <a:prstGeom prst="rect">
            <a:avLst/>
          </a:prstGeom>
          <a:noFill/>
          <a:ln/>
        </p:spPr>
        <p:txBody>
          <a:bodyPr wrap="square" lIns="0" tIns="0" rIns="0" bIns="0" rtlCol="0" anchor="t"/>
          <a:lstStyle/>
          <a:p>
            <a:pPr indent="0" marL="0">
              <a:buNone/>
            </a:pPr>
            <a:r>
              <a:rPr lang="en-US" sz="1350" b="1" dirty="0">
                <a:solidFill>
                  <a:srgbClr val="16191C"/>
                </a:solidFill>
                <a:latin typeface="Arial" pitchFamily="34" charset="0"/>
                <a:ea typeface="Arial" pitchFamily="34" charset="-122"/>
                <a:cs typeface="Arial" pitchFamily="34" charset="-120"/>
              </a:rPr>
              <a:t>Client</a:t>
            </a:r>
            <a:endParaRPr lang="en-US" sz="1350" dirty="0"/>
          </a:p>
        </p:txBody>
      </p:sp>
      <p:sp>
        <p:nvSpPr>
          <p:cNvPr id="42" name="Text 40"/>
          <p:cNvSpPr txBox="1"/>
          <p:nvPr/>
        </p:nvSpPr>
        <p:spPr>
          <a:xfrm>
            <a:off x="8897112" y="5029200"/>
            <a:ext cx="2441448" cy="685800"/>
          </a:xfrm>
          <a:prstGeom prst="rect">
            <a:avLst/>
          </a:prstGeom>
          <a:noFill/>
          <a:ln/>
        </p:spPr>
        <p:txBody>
          <a:bodyPr wrap="square" lIns="0" tIns="0" rIns="0" bIns="0" rtlCol="0" anchor="t"/>
          <a:lstStyle/>
          <a:p>
            <a:pPr indent="0" marL="0">
              <a:lnSpc>
                <a:spcPct val="110000"/>
              </a:lnSpc>
              <a:buNone/>
            </a:pPr>
            <a:r>
              <a:rPr lang="en-US" sz="1150" dirty="0">
                <a:solidFill>
                  <a:srgbClr val="3B4045"/>
                </a:solidFill>
                <a:latin typeface="Arial" pitchFamily="34" charset="0"/>
                <a:ea typeface="Arial" pitchFamily="34" charset="-122"/>
                <a:cs typeface="Arial" pitchFamily="34" charset="-120"/>
              </a:rPr>
              <a:t>Any modern browser. Tested at phone, tablet and desktop widths, in light and dark themes.</a:t>
            </a:r>
            <a:endParaRPr lang="en-US" sz="1150" dirty="0"/>
          </a:p>
        </p:txBody>
      </p:sp>
      <p:sp>
        <p:nvSpPr>
          <p:cNvPr id="43" name="Text 41"/>
          <p:cNvSpPr txBox="1"/>
          <p:nvPr/>
        </p:nvSpPr>
        <p:spPr>
          <a:xfrm>
            <a:off x="594360" y="6382512"/>
            <a:ext cx="2743200" cy="201168"/>
          </a:xfrm>
          <a:prstGeom prst="rect">
            <a:avLst/>
          </a:prstGeom>
          <a:noFill/>
          <a:ln/>
        </p:spPr>
        <p:txBody>
          <a:bodyPr wrap="square" lIns="0" tIns="0" rIns="0" bIns="0" rtlCol="0" anchor="t"/>
          <a:lstStyle/>
          <a:p>
            <a:pPr indent="0" marL="0">
              <a:buNone/>
            </a:pPr>
            <a:r>
              <a:rPr lang="en-US" sz="1000" i="1" dirty="0">
                <a:solidFill>
                  <a:srgbClr val="6F747A"/>
                </a:solidFill>
                <a:latin typeface="Georgia" pitchFamily="34" charset="0"/>
                <a:ea typeface="Georgia" pitchFamily="34" charset="-122"/>
                <a:cs typeface="Georgia" pitchFamily="34" charset="-120"/>
              </a:rPr>
              <a:t>MarketLens</a:t>
            </a:r>
            <a:endParaRPr lang="en-US" sz="1000" dirty="0"/>
          </a:p>
        </p:txBody>
      </p:sp>
      <p:sp>
        <p:nvSpPr>
          <p:cNvPr id="44" name="Text 42"/>
          <p:cNvSpPr txBox="1"/>
          <p:nvPr/>
        </p:nvSpPr>
        <p:spPr>
          <a:xfrm>
            <a:off x="9765792" y="6382512"/>
            <a:ext cx="1828800" cy="201168"/>
          </a:xfrm>
          <a:prstGeom prst="rect">
            <a:avLst/>
          </a:prstGeom>
          <a:noFill/>
          <a:ln/>
        </p:spPr>
        <p:txBody>
          <a:bodyPr wrap="square" lIns="0" tIns="0" rIns="0" bIns="0" rtlCol="0" anchor="t"/>
          <a:lstStyle/>
          <a:p>
            <a:pPr algn="r" indent="0" marL="0">
              <a:buNone/>
            </a:pPr>
            <a:r>
              <a:rPr lang="en-US" sz="900" spc="100" kern="0" dirty="0">
                <a:solidFill>
                  <a:srgbClr val="6F747A"/>
                </a:solidFill>
                <a:latin typeface="Arial" pitchFamily="34" charset="0"/>
                <a:ea typeface="Arial" pitchFamily="34" charset="-122"/>
                <a:cs typeface="Arial" pitchFamily="34" charset="-120"/>
              </a:rPr>
              <a:t>07 / 12</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94360" y="457200"/>
            <a:ext cx="6400800" cy="228600"/>
          </a:xfrm>
          <a:prstGeom prst="rect">
            <a:avLst/>
          </a:prstGeom>
          <a:noFill/>
          <a:ln/>
        </p:spPr>
        <p:txBody>
          <a:bodyPr wrap="square" lIns="0" tIns="0" rIns="0" bIns="0" rtlCol="0" anchor="t"/>
          <a:lstStyle/>
          <a:p>
            <a:pPr indent="0" marL="0">
              <a:buNone/>
            </a:pPr>
            <a:r>
              <a:rPr lang="en-US" sz="950" b="1" spc="200" kern="0" dirty="0">
                <a:solidFill>
                  <a:srgbClr val="16191C"/>
                </a:solidFill>
                <a:latin typeface="Arial" pitchFamily="34" charset="0"/>
                <a:ea typeface="Arial" pitchFamily="34" charset="-122"/>
                <a:cs typeface="Arial" pitchFamily="34" charset="-120"/>
              </a:rPr>
              <a:t>No. 08</a:t>
            </a:r>
            <a:pPr indent="0" marL="0">
              <a:buNone/>
            </a:pPr>
            <a:r>
              <a:rPr lang="en-US" sz="950" b="1" spc="200" kern="0" dirty="0">
                <a:solidFill>
                  <a:srgbClr val="1F6F5C"/>
                </a:solidFill>
                <a:latin typeface="Arial" pitchFamily="34" charset="0"/>
                <a:ea typeface="Arial" pitchFamily="34" charset="-122"/>
                <a:cs typeface="Arial" pitchFamily="34" charset="-120"/>
              </a:rPr>
              <a:t>     METHODOLOGY / WORKING PROCESS</a:t>
            </a:r>
            <a:endParaRPr lang="en-US" sz="950" dirty="0"/>
          </a:p>
        </p:txBody>
      </p:sp>
      <p:sp>
        <p:nvSpPr>
          <p:cNvPr id="3" name="Text 1"/>
          <p:cNvSpPr txBox="1"/>
          <p:nvPr/>
        </p:nvSpPr>
        <p:spPr>
          <a:xfrm>
            <a:off x="594360" y="749808"/>
            <a:ext cx="11000232" cy="731520"/>
          </a:xfrm>
          <a:prstGeom prst="rect">
            <a:avLst/>
          </a:prstGeom>
          <a:noFill/>
          <a:ln/>
        </p:spPr>
        <p:txBody>
          <a:bodyPr wrap="square" lIns="0" tIns="0" rIns="0" bIns="0" rtlCol="0" anchor="t"/>
          <a:lstStyle/>
          <a:p>
            <a:pPr indent="0" marL="0">
              <a:buNone/>
            </a:pPr>
            <a:r>
              <a:rPr lang="en-US" sz="3200" dirty="0">
                <a:solidFill>
                  <a:srgbClr val="16191C"/>
                </a:solidFill>
                <a:latin typeface="Georgia" pitchFamily="34" charset="0"/>
                <a:ea typeface="Georgia" pitchFamily="34" charset="-122"/>
                <a:cs typeface="Georgia" pitchFamily="34" charset="-120"/>
              </a:rPr>
              <a:t>From a quote to an audited result, in five steps.</a:t>
            </a:r>
            <a:endParaRPr lang="en-US" sz="3200" dirty="0"/>
          </a:p>
        </p:txBody>
      </p:sp>
      <p:sp>
        <p:nvSpPr>
          <p:cNvPr id="4" name="Shape 2"/>
          <p:cNvSpPr/>
          <p:nvPr/>
        </p:nvSpPr>
        <p:spPr>
          <a:xfrm>
            <a:off x="832104" y="2157984"/>
            <a:ext cx="9005011" cy="0"/>
          </a:xfrm>
          <a:prstGeom prst="line">
            <a:avLst/>
          </a:prstGeom>
          <a:noFill/>
          <a:ln w="15875">
            <a:solidFill>
              <a:srgbClr val="1F6F5C"/>
            </a:solidFill>
            <a:prstDash val="solid"/>
          </a:ln>
        </p:spPr>
      </p:sp>
      <p:sp>
        <p:nvSpPr>
          <p:cNvPr id="5" name="Shape 3"/>
          <p:cNvSpPr/>
          <p:nvPr/>
        </p:nvSpPr>
        <p:spPr>
          <a:xfrm>
            <a:off x="594360" y="1920240"/>
            <a:ext cx="475488" cy="475488"/>
          </a:xfrm>
          <a:prstGeom prst="ellipse">
            <a:avLst/>
          </a:prstGeom>
          <a:solidFill>
            <a:srgbClr val="1F6F5C"/>
          </a:solidFill>
          <a:ln w="25400">
            <a:solidFill>
              <a:srgbClr val="FFFFFF"/>
            </a:solidFill>
            <a:prstDash val="solid"/>
          </a:ln>
        </p:spPr>
      </p:sp>
      <p:sp>
        <p:nvSpPr>
          <p:cNvPr id="6" name="Text 4"/>
          <p:cNvSpPr txBox="1"/>
          <p:nvPr/>
        </p:nvSpPr>
        <p:spPr>
          <a:xfrm>
            <a:off x="594360" y="1920240"/>
            <a:ext cx="475488" cy="47548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7" name="Text 5"/>
          <p:cNvSpPr txBox="1"/>
          <p:nvPr/>
        </p:nvSpPr>
        <p:spPr>
          <a:xfrm>
            <a:off x="594360" y="2606040"/>
            <a:ext cx="1995221" cy="274320"/>
          </a:xfrm>
          <a:prstGeom prst="rect">
            <a:avLst/>
          </a:prstGeom>
          <a:noFill/>
          <a:ln/>
        </p:spPr>
        <p:txBody>
          <a:bodyPr wrap="square" lIns="0" tIns="0" rIns="0" bIns="0" rtlCol="0" anchor="t"/>
          <a:lstStyle/>
          <a:p>
            <a:pPr indent="0" marL="0">
              <a:buNone/>
            </a:pPr>
            <a:r>
              <a:rPr lang="en-US" sz="1400" b="1" dirty="0">
                <a:solidFill>
                  <a:srgbClr val="16191C"/>
                </a:solidFill>
                <a:latin typeface="Arial" pitchFamily="34" charset="0"/>
                <a:ea typeface="Arial" pitchFamily="34" charset="-122"/>
                <a:cs typeface="Arial" pitchFamily="34" charset="-120"/>
              </a:rPr>
              <a:t>Ingest</a:t>
            </a:r>
            <a:endParaRPr lang="en-US" sz="1400" dirty="0"/>
          </a:p>
        </p:txBody>
      </p:sp>
      <p:sp>
        <p:nvSpPr>
          <p:cNvPr id="8" name="Text 6"/>
          <p:cNvSpPr txBox="1"/>
          <p:nvPr/>
        </p:nvSpPr>
        <p:spPr>
          <a:xfrm>
            <a:off x="594360" y="2944368"/>
            <a:ext cx="1995221" cy="1188720"/>
          </a:xfrm>
          <a:prstGeom prst="rect">
            <a:avLst/>
          </a:prstGeom>
          <a:noFill/>
          <a:ln/>
        </p:spPr>
        <p:txBody>
          <a:bodyPr wrap="square" lIns="0" tIns="0" rIns="0" bIns="0" rtlCol="0" anchor="t"/>
          <a:lstStyle/>
          <a:p>
            <a:pPr indent="0" marL="0">
              <a:lnSpc>
                <a:spcPct val="110000"/>
              </a:lnSpc>
              <a:buNone/>
            </a:pPr>
            <a:r>
              <a:rPr lang="en-US" sz="1200" dirty="0">
                <a:solidFill>
                  <a:srgbClr val="3B4045"/>
                </a:solidFill>
                <a:latin typeface="Arial" pitchFamily="34" charset="0"/>
                <a:ea typeface="Arial" pitchFamily="34" charset="-122"/>
                <a:cs typeface="Arial" pitchFamily="34" charset="-120"/>
              </a:rPr>
              <a:t>Quotes, candles, IPOs, NAVs and news from public sources, cached 10 s. Gaps flagged, never filled.</a:t>
            </a:r>
            <a:endParaRPr lang="en-US" sz="1200" dirty="0"/>
          </a:p>
        </p:txBody>
      </p:sp>
      <p:sp>
        <p:nvSpPr>
          <p:cNvPr id="9" name="Shape 7"/>
          <p:cNvSpPr/>
          <p:nvPr/>
        </p:nvSpPr>
        <p:spPr>
          <a:xfrm>
            <a:off x="2845613" y="1920240"/>
            <a:ext cx="475488" cy="475488"/>
          </a:xfrm>
          <a:prstGeom prst="ellipse">
            <a:avLst/>
          </a:prstGeom>
          <a:solidFill>
            <a:srgbClr val="1F6F5C"/>
          </a:solidFill>
          <a:ln w="25400">
            <a:solidFill>
              <a:srgbClr val="FFFFFF"/>
            </a:solidFill>
            <a:prstDash val="solid"/>
          </a:ln>
        </p:spPr>
      </p:sp>
      <p:sp>
        <p:nvSpPr>
          <p:cNvPr id="10" name="Text 8"/>
          <p:cNvSpPr txBox="1"/>
          <p:nvPr/>
        </p:nvSpPr>
        <p:spPr>
          <a:xfrm>
            <a:off x="2845613" y="1920240"/>
            <a:ext cx="475488" cy="47548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1" name="Text 9"/>
          <p:cNvSpPr txBox="1"/>
          <p:nvPr/>
        </p:nvSpPr>
        <p:spPr>
          <a:xfrm>
            <a:off x="2845613" y="2606040"/>
            <a:ext cx="1995221" cy="274320"/>
          </a:xfrm>
          <a:prstGeom prst="rect">
            <a:avLst/>
          </a:prstGeom>
          <a:noFill/>
          <a:ln/>
        </p:spPr>
        <p:txBody>
          <a:bodyPr wrap="square" lIns="0" tIns="0" rIns="0" bIns="0" rtlCol="0" anchor="t"/>
          <a:lstStyle/>
          <a:p>
            <a:pPr indent="0" marL="0">
              <a:buNone/>
            </a:pPr>
            <a:r>
              <a:rPr lang="en-US" sz="1400" b="1" dirty="0">
                <a:solidFill>
                  <a:srgbClr val="16191C"/>
                </a:solidFill>
                <a:latin typeface="Arial" pitchFamily="34" charset="0"/>
                <a:ea typeface="Arial" pitchFamily="34" charset="-122"/>
                <a:cs typeface="Arial" pitchFamily="34" charset="-120"/>
              </a:rPr>
              <a:t>Analyse</a:t>
            </a:r>
            <a:endParaRPr lang="en-US" sz="1400" dirty="0"/>
          </a:p>
        </p:txBody>
      </p:sp>
      <p:sp>
        <p:nvSpPr>
          <p:cNvPr id="12" name="Text 10"/>
          <p:cNvSpPr txBox="1"/>
          <p:nvPr/>
        </p:nvSpPr>
        <p:spPr>
          <a:xfrm>
            <a:off x="2845613" y="2944368"/>
            <a:ext cx="1995221" cy="1188720"/>
          </a:xfrm>
          <a:prstGeom prst="rect">
            <a:avLst/>
          </a:prstGeom>
          <a:noFill/>
          <a:ln/>
        </p:spPr>
        <p:txBody>
          <a:bodyPr wrap="square" lIns="0" tIns="0" rIns="0" bIns="0" rtlCol="0" anchor="t"/>
          <a:lstStyle/>
          <a:p>
            <a:pPr indent="0" marL="0">
              <a:lnSpc>
                <a:spcPct val="110000"/>
              </a:lnSpc>
              <a:buNone/>
            </a:pPr>
            <a:r>
              <a:rPr lang="en-US" sz="1200" dirty="0">
                <a:solidFill>
                  <a:srgbClr val="3B4045"/>
                </a:solidFill>
                <a:latin typeface="Arial" pitchFamily="34" charset="0"/>
                <a:ea typeface="Arial" pitchFamily="34" charset="-122"/>
                <a:cs typeface="Arial" pitchFamily="34" charset="-120"/>
              </a:rPr>
              <a:t>SMA 20 and 50, RSI 14, VWAP and volatility, computed from the stock's real daily bars.</a:t>
            </a:r>
            <a:endParaRPr lang="en-US" sz="1200" dirty="0"/>
          </a:p>
        </p:txBody>
      </p:sp>
      <p:sp>
        <p:nvSpPr>
          <p:cNvPr id="13" name="Shape 11"/>
          <p:cNvSpPr/>
          <p:nvPr/>
        </p:nvSpPr>
        <p:spPr>
          <a:xfrm>
            <a:off x="5096866" y="1920240"/>
            <a:ext cx="475488" cy="475488"/>
          </a:xfrm>
          <a:prstGeom prst="ellipse">
            <a:avLst/>
          </a:prstGeom>
          <a:solidFill>
            <a:srgbClr val="1F6F5C"/>
          </a:solidFill>
          <a:ln w="25400">
            <a:solidFill>
              <a:srgbClr val="FFFFFF"/>
            </a:solidFill>
            <a:prstDash val="solid"/>
          </a:ln>
        </p:spPr>
      </p:sp>
      <p:sp>
        <p:nvSpPr>
          <p:cNvPr id="14" name="Text 12"/>
          <p:cNvSpPr txBox="1"/>
          <p:nvPr/>
        </p:nvSpPr>
        <p:spPr>
          <a:xfrm>
            <a:off x="5096866" y="1920240"/>
            <a:ext cx="475488" cy="47548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15" name="Text 13"/>
          <p:cNvSpPr txBox="1"/>
          <p:nvPr/>
        </p:nvSpPr>
        <p:spPr>
          <a:xfrm>
            <a:off x="5096866" y="2606040"/>
            <a:ext cx="1995221" cy="274320"/>
          </a:xfrm>
          <a:prstGeom prst="rect">
            <a:avLst/>
          </a:prstGeom>
          <a:noFill/>
          <a:ln/>
        </p:spPr>
        <p:txBody>
          <a:bodyPr wrap="square" lIns="0" tIns="0" rIns="0" bIns="0" rtlCol="0" anchor="t"/>
          <a:lstStyle/>
          <a:p>
            <a:pPr indent="0" marL="0">
              <a:buNone/>
            </a:pPr>
            <a:r>
              <a:rPr lang="en-US" sz="1400" b="1" dirty="0">
                <a:solidFill>
                  <a:srgbClr val="16191C"/>
                </a:solidFill>
                <a:latin typeface="Arial" pitchFamily="34" charset="0"/>
                <a:ea typeface="Arial" pitchFamily="34" charset="-122"/>
                <a:cs typeface="Arial" pitchFamily="34" charset="-120"/>
              </a:rPr>
              <a:t>Model</a:t>
            </a:r>
            <a:endParaRPr lang="en-US" sz="1400" dirty="0"/>
          </a:p>
        </p:txBody>
      </p:sp>
      <p:sp>
        <p:nvSpPr>
          <p:cNvPr id="16" name="Text 14"/>
          <p:cNvSpPr txBox="1"/>
          <p:nvPr/>
        </p:nvSpPr>
        <p:spPr>
          <a:xfrm>
            <a:off x="5096866" y="2944368"/>
            <a:ext cx="1995221" cy="1188720"/>
          </a:xfrm>
          <a:prstGeom prst="rect">
            <a:avLst/>
          </a:prstGeom>
          <a:noFill/>
          <a:ln/>
        </p:spPr>
        <p:txBody>
          <a:bodyPr wrap="square" lIns="0" tIns="0" rIns="0" bIns="0" rtlCol="0" anchor="t"/>
          <a:lstStyle/>
          <a:p>
            <a:pPr indent="0" marL="0">
              <a:lnSpc>
                <a:spcPct val="110000"/>
              </a:lnSpc>
              <a:buNone/>
            </a:pPr>
            <a:r>
              <a:rPr lang="en-US" sz="1200" dirty="0">
                <a:solidFill>
                  <a:srgbClr val="3B4045"/>
                </a:solidFill>
                <a:latin typeface="Arial" pitchFamily="34" charset="0"/>
                <a:ea typeface="Arial" pitchFamily="34" charset="-122"/>
                <a:cs typeface="Arial" pitchFamily="34" charset="-120"/>
              </a:rPr>
              <a:t>Bull, base, bear and black-swan scenarios, plus 500 Monte Carlo paths over 30 days.</a:t>
            </a:r>
            <a:endParaRPr lang="en-US" sz="1200" dirty="0"/>
          </a:p>
        </p:txBody>
      </p:sp>
      <p:sp>
        <p:nvSpPr>
          <p:cNvPr id="17" name="Shape 15"/>
          <p:cNvSpPr/>
          <p:nvPr/>
        </p:nvSpPr>
        <p:spPr>
          <a:xfrm>
            <a:off x="7348118" y="1920240"/>
            <a:ext cx="475488" cy="475488"/>
          </a:xfrm>
          <a:prstGeom prst="ellipse">
            <a:avLst/>
          </a:prstGeom>
          <a:solidFill>
            <a:srgbClr val="1F6F5C"/>
          </a:solidFill>
          <a:ln w="25400">
            <a:solidFill>
              <a:srgbClr val="FFFFFF"/>
            </a:solidFill>
            <a:prstDash val="solid"/>
          </a:ln>
        </p:spPr>
      </p:sp>
      <p:sp>
        <p:nvSpPr>
          <p:cNvPr id="18" name="Text 16"/>
          <p:cNvSpPr txBox="1"/>
          <p:nvPr/>
        </p:nvSpPr>
        <p:spPr>
          <a:xfrm>
            <a:off x="7348118" y="1920240"/>
            <a:ext cx="475488" cy="47548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19" name="Text 17"/>
          <p:cNvSpPr txBox="1"/>
          <p:nvPr/>
        </p:nvSpPr>
        <p:spPr>
          <a:xfrm>
            <a:off x="7348118" y="2606040"/>
            <a:ext cx="1995221" cy="274320"/>
          </a:xfrm>
          <a:prstGeom prst="rect">
            <a:avLst/>
          </a:prstGeom>
          <a:noFill/>
          <a:ln/>
        </p:spPr>
        <p:txBody>
          <a:bodyPr wrap="square" lIns="0" tIns="0" rIns="0" bIns="0" rtlCol="0" anchor="t"/>
          <a:lstStyle/>
          <a:p>
            <a:pPr indent="0" marL="0">
              <a:buNone/>
            </a:pPr>
            <a:r>
              <a:rPr lang="en-US" sz="1400" b="1" dirty="0">
                <a:solidFill>
                  <a:srgbClr val="16191C"/>
                </a:solidFill>
                <a:latin typeface="Arial" pitchFamily="34" charset="0"/>
                <a:ea typeface="Arial" pitchFamily="34" charset="-122"/>
                <a:cs typeface="Arial" pitchFamily="34" charset="-120"/>
              </a:rPr>
              <a:t>Simulate</a:t>
            </a:r>
            <a:endParaRPr lang="en-US" sz="1400" dirty="0"/>
          </a:p>
        </p:txBody>
      </p:sp>
      <p:sp>
        <p:nvSpPr>
          <p:cNvPr id="20" name="Text 18"/>
          <p:cNvSpPr txBox="1"/>
          <p:nvPr/>
        </p:nvSpPr>
        <p:spPr>
          <a:xfrm>
            <a:off x="7348118" y="2944368"/>
            <a:ext cx="1995221" cy="1188720"/>
          </a:xfrm>
          <a:prstGeom prst="rect">
            <a:avLst/>
          </a:prstGeom>
          <a:noFill/>
          <a:ln/>
        </p:spPr>
        <p:txBody>
          <a:bodyPr wrap="square" lIns="0" tIns="0" rIns="0" bIns="0" rtlCol="0" anchor="t"/>
          <a:lstStyle/>
          <a:p>
            <a:pPr indent="0" marL="0">
              <a:lnSpc>
                <a:spcPct val="110000"/>
              </a:lnSpc>
              <a:buNone/>
            </a:pPr>
            <a:r>
              <a:rPr lang="en-US" sz="1200" dirty="0">
                <a:solidFill>
                  <a:srgbClr val="3B4045"/>
                </a:solidFill>
                <a:latin typeface="Arial" pitchFamily="34" charset="0"/>
                <a:ea typeface="Arial" pitchFamily="34" charset="-122"/>
                <a:cs typeface="Arial" pitchFamily="34" charset="-120"/>
              </a:rPr>
              <a:t>A paper order needs a live price and an open session. Intraday positions close at 3:15 PM.</a:t>
            </a:r>
            <a:endParaRPr lang="en-US" sz="1200" dirty="0"/>
          </a:p>
        </p:txBody>
      </p:sp>
      <p:sp>
        <p:nvSpPr>
          <p:cNvPr id="21" name="Shape 19"/>
          <p:cNvSpPr/>
          <p:nvPr/>
        </p:nvSpPr>
        <p:spPr>
          <a:xfrm>
            <a:off x="9599371" y="1920240"/>
            <a:ext cx="475488" cy="475488"/>
          </a:xfrm>
          <a:prstGeom prst="ellipse">
            <a:avLst/>
          </a:prstGeom>
          <a:solidFill>
            <a:srgbClr val="16191C"/>
          </a:solidFill>
          <a:ln w="25400">
            <a:solidFill>
              <a:srgbClr val="FFFFFF"/>
            </a:solidFill>
            <a:prstDash val="solid"/>
          </a:ln>
        </p:spPr>
      </p:sp>
      <p:sp>
        <p:nvSpPr>
          <p:cNvPr id="22" name="Text 20"/>
          <p:cNvSpPr txBox="1"/>
          <p:nvPr/>
        </p:nvSpPr>
        <p:spPr>
          <a:xfrm>
            <a:off x="9599371" y="1920240"/>
            <a:ext cx="475488" cy="47548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5</a:t>
            </a:r>
            <a:endParaRPr lang="en-US" sz="1400" dirty="0"/>
          </a:p>
        </p:txBody>
      </p:sp>
      <p:sp>
        <p:nvSpPr>
          <p:cNvPr id="23" name="Text 21"/>
          <p:cNvSpPr txBox="1"/>
          <p:nvPr/>
        </p:nvSpPr>
        <p:spPr>
          <a:xfrm>
            <a:off x="9599371" y="2606040"/>
            <a:ext cx="1995221" cy="274320"/>
          </a:xfrm>
          <a:prstGeom prst="rect">
            <a:avLst/>
          </a:prstGeom>
          <a:noFill/>
          <a:ln/>
        </p:spPr>
        <p:txBody>
          <a:bodyPr wrap="square" lIns="0" tIns="0" rIns="0" bIns="0" rtlCol="0" anchor="t"/>
          <a:lstStyle/>
          <a:p>
            <a:pPr indent="0" marL="0">
              <a:buNone/>
            </a:pPr>
            <a:r>
              <a:rPr lang="en-US" sz="1400" b="1" dirty="0">
                <a:solidFill>
                  <a:srgbClr val="16191C"/>
                </a:solidFill>
                <a:latin typeface="Arial" pitchFamily="34" charset="0"/>
                <a:ea typeface="Arial" pitchFamily="34" charset="-122"/>
                <a:cs typeface="Arial" pitchFamily="34" charset="-120"/>
              </a:rPr>
              <a:t>Account and audit</a:t>
            </a:r>
            <a:endParaRPr lang="en-US" sz="1400" dirty="0"/>
          </a:p>
        </p:txBody>
      </p:sp>
      <p:sp>
        <p:nvSpPr>
          <p:cNvPr id="24" name="Text 22"/>
          <p:cNvSpPr txBox="1"/>
          <p:nvPr/>
        </p:nvSpPr>
        <p:spPr>
          <a:xfrm>
            <a:off x="9599371" y="2944368"/>
            <a:ext cx="1995221" cy="1188720"/>
          </a:xfrm>
          <a:prstGeom prst="rect">
            <a:avLst/>
          </a:prstGeom>
          <a:noFill/>
          <a:ln/>
        </p:spPr>
        <p:txBody>
          <a:bodyPr wrap="square" lIns="0" tIns="0" rIns="0" bIns="0" rtlCol="0" anchor="t"/>
          <a:lstStyle/>
          <a:p>
            <a:pPr indent="0" marL="0">
              <a:lnSpc>
                <a:spcPct val="110000"/>
              </a:lnSpc>
              <a:buNone/>
            </a:pPr>
            <a:r>
              <a:rPr lang="en-US" sz="1200" dirty="0">
                <a:solidFill>
                  <a:srgbClr val="3B4045"/>
                </a:solidFill>
                <a:latin typeface="Arial" pitchFamily="34" charset="0"/>
                <a:ea typeface="Arial" pitchFamily="34" charset="-122"/>
                <a:cs typeface="Arial" pitchFamily="34" charset="-120"/>
              </a:rPr>
              <a:t>Seven charges itemised per order. Research runs fingerprinted with SHA-256 and stored read-only.</a:t>
            </a:r>
            <a:endParaRPr lang="en-US" sz="1200" dirty="0"/>
          </a:p>
        </p:txBody>
      </p:sp>
      <p:sp>
        <p:nvSpPr>
          <p:cNvPr id="25" name="Shape 23"/>
          <p:cNvSpPr/>
          <p:nvPr/>
        </p:nvSpPr>
        <p:spPr>
          <a:xfrm>
            <a:off x="594360" y="4297680"/>
            <a:ext cx="11000232" cy="1737360"/>
          </a:xfrm>
          <a:prstGeom prst="rect">
            <a:avLst/>
          </a:prstGeom>
          <a:solidFill>
            <a:srgbClr val="FFFFFF"/>
          </a:solidFill>
          <a:ln w="9525">
            <a:solidFill>
              <a:srgbClr val="D6D1C7"/>
            </a:solidFill>
            <a:prstDash val="solid"/>
          </a:ln>
          <a:effectLst>
            <a:outerShdw sx="100000" sy="100000" kx="0" ky="0" algn="bl" rotWithShape="0" blurRad="127000" dist="25400" dir="5400000">
              <a:srgbClr val="000000">
                <a:alpha val="7000"/>
              </a:srgbClr>
            </a:outerShdw>
          </a:effectLst>
        </p:spPr>
      </p:sp>
      <p:sp>
        <p:nvSpPr>
          <p:cNvPr id="26" name="Text 24"/>
          <p:cNvSpPr txBox="1"/>
          <p:nvPr/>
        </p:nvSpPr>
        <p:spPr>
          <a:xfrm>
            <a:off x="914400" y="4553712"/>
            <a:ext cx="6400800" cy="566928"/>
          </a:xfrm>
          <a:prstGeom prst="rect">
            <a:avLst/>
          </a:prstGeom>
          <a:noFill/>
          <a:ln/>
        </p:spPr>
        <p:txBody>
          <a:bodyPr wrap="square" lIns="0" tIns="0" rIns="0" bIns="0" rtlCol="0" anchor="t"/>
          <a:lstStyle/>
          <a:p>
            <a:pPr indent="0" marL="0">
              <a:buNone/>
            </a:pPr>
            <a:r>
              <a:rPr lang="en-US" sz="3000" dirty="0">
                <a:solidFill>
                  <a:srgbClr val="16191C"/>
                </a:solidFill>
                <a:latin typeface="Georgia" pitchFamily="34" charset="0"/>
                <a:ea typeface="Georgia" pitchFamily="34" charset="-122"/>
                <a:cs typeface="Georgia" pitchFamily="34" charset="-120"/>
              </a:rPr>
              <a:t>gross − charges − slippage = net</a:t>
            </a:r>
            <a:endParaRPr lang="en-US" sz="3000" dirty="0"/>
          </a:p>
        </p:txBody>
      </p:sp>
      <p:sp>
        <p:nvSpPr>
          <p:cNvPr id="27" name="Text 25"/>
          <p:cNvSpPr txBox="1"/>
          <p:nvPr/>
        </p:nvSpPr>
        <p:spPr>
          <a:xfrm>
            <a:off x="914400" y="5257800"/>
            <a:ext cx="6035040" cy="457200"/>
          </a:xfrm>
          <a:prstGeom prst="rect">
            <a:avLst/>
          </a:prstGeom>
          <a:noFill/>
          <a:ln/>
        </p:spPr>
        <p:txBody>
          <a:bodyPr wrap="square" lIns="0" tIns="0" rIns="0" bIns="0" rtlCol="0" anchor="t"/>
          <a:lstStyle/>
          <a:p>
            <a:pPr indent="0" marL="0">
              <a:buNone/>
            </a:pPr>
            <a:r>
              <a:rPr lang="en-US" sz="1250" dirty="0">
                <a:solidFill>
                  <a:srgbClr val="6F747A"/>
                </a:solidFill>
                <a:latin typeface="Arial" pitchFamily="34" charset="0"/>
                <a:ea typeface="Arial" pitchFamily="34" charset="-122"/>
                <a:cs typeface="Arial" pitchFamily="34" charset="-120"/>
              </a:rPr>
              <a:t>Checked for every trade, for the whole run, and again by an independent validator.</a:t>
            </a:r>
            <a:endParaRPr lang="en-US" sz="1250" dirty="0"/>
          </a:p>
        </p:txBody>
      </p:sp>
      <p:sp>
        <p:nvSpPr>
          <p:cNvPr id="28" name="Shape 26"/>
          <p:cNvSpPr/>
          <p:nvPr/>
        </p:nvSpPr>
        <p:spPr>
          <a:xfrm>
            <a:off x="7269480" y="4526280"/>
            <a:ext cx="0" cy="1280160"/>
          </a:xfrm>
          <a:prstGeom prst="line">
            <a:avLst/>
          </a:prstGeom>
          <a:noFill/>
          <a:ln w="9525">
            <a:solidFill>
              <a:srgbClr val="D6D1C7"/>
            </a:solidFill>
            <a:prstDash val="solid"/>
          </a:ln>
        </p:spPr>
      </p:sp>
      <p:sp>
        <p:nvSpPr>
          <p:cNvPr id="29" name="Text 27"/>
          <p:cNvSpPr txBox="1"/>
          <p:nvPr/>
        </p:nvSpPr>
        <p:spPr>
          <a:xfrm>
            <a:off x="7543800" y="4553712"/>
            <a:ext cx="3822192" cy="1325880"/>
          </a:xfrm>
          <a:prstGeom prst="rect">
            <a:avLst/>
          </a:prstGeom>
          <a:noFill/>
          <a:ln/>
        </p:spPr>
        <p:txBody>
          <a:bodyPr wrap="square" lIns="0" tIns="0" rIns="0" bIns="0" rtlCol="0" anchor="t"/>
          <a:lstStyle/>
          <a:p>
            <a:pPr marL="177800" indent="-177800">
              <a:spcAft>
                <a:spcPts val="500"/>
              </a:spcAft>
              <a:buSzPct val="100000"/>
              <a:buChar char="•"/>
            </a:pPr>
            <a:r>
              <a:rPr lang="en-US" sz="1200" dirty="0">
                <a:solidFill>
                  <a:srgbClr val="16191C"/>
                </a:solidFill>
                <a:latin typeface="Arial" pitchFamily="34" charset="0"/>
                <a:ea typeface="Arial" pitchFamily="34" charset="-122"/>
                <a:cs typeface="Arial" pitchFamily="34" charset="-120"/>
              </a:rPr>
              <a:t>Fills at the next bar's open: no look-ahead</a:t>
            </a:r>
            <a:endParaRPr lang="en-US" sz="1200" dirty="0"/>
          </a:p>
          <a:p>
            <a:pPr marL="177800" indent="-177800">
              <a:spcAft>
                <a:spcPts val="500"/>
              </a:spcAft>
              <a:buSzPct val="100000"/>
              <a:buChar char="•"/>
            </a:pPr>
            <a:r>
              <a:rPr lang="en-US" sz="1200" dirty="0">
                <a:solidFill>
                  <a:srgbClr val="16191C"/>
                </a:solidFill>
                <a:latin typeface="Arial" pitchFamily="34" charset="0"/>
                <a:ea typeface="Arial" pitchFamily="34" charset="-122"/>
                <a:cs typeface="Arial" pitchFamily="34" charset="-120"/>
              </a:rPr>
              <a:t>Money in Decimal, rounded to the paisa</a:t>
            </a:r>
            <a:endParaRPr lang="en-US" sz="1200" dirty="0"/>
          </a:p>
          <a:p>
            <a:pPr marL="177800" indent="-177800">
              <a:spcAft>
                <a:spcPts val="500"/>
              </a:spcAft>
              <a:buSzPct val="100000"/>
              <a:buChar char="•"/>
            </a:pPr>
            <a:r>
              <a:rPr lang="en-US" sz="1200" dirty="0">
                <a:solidFill>
                  <a:srgbClr val="16191C"/>
                </a:solidFill>
                <a:latin typeface="Arial" pitchFamily="34" charset="0"/>
                <a:ea typeface="Arial" pitchFamily="34" charset="-122"/>
                <a:cs typeface="Arial" pitchFamily="34" charset="-120"/>
              </a:rPr>
              <a:t>Data split 60 / 20 / 20 in time order</a:t>
            </a:r>
            <a:endParaRPr lang="en-US" sz="1200" dirty="0"/>
          </a:p>
          <a:p>
            <a:pPr marL="177800" indent="-177800">
              <a:spcAft>
                <a:spcPts val="500"/>
              </a:spcAft>
              <a:buSzPct val="100000"/>
              <a:buChar char="•"/>
            </a:pPr>
            <a:r>
              <a:rPr lang="en-US" sz="1200" dirty="0">
                <a:solidFill>
                  <a:srgbClr val="16191C"/>
                </a:solidFill>
                <a:latin typeface="Arial" pitchFamily="34" charset="0"/>
                <a:ea typeface="Arial" pitchFamily="34" charset="-122"/>
                <a:cs typeface="Arial" pitchFamily="34" charset="-120"/>
              </a:rPr>
              <a:t>SQLite triggers refuse edits and deletes</a:t>
            </a:r>
            <a:endParaRPr lang="en-US" sz="1200" dirty="0"/>
          </a:p>
        </p:txBody>
      </p:sp>
      <p:sp>
        <p:nvSpPr>
          <p:cNvPr id="30" name="Text 28"/>
          <p:cNvSpPr txBox="1"/>
          <p:nvPr/>
        </p:nvSpPr>
        <p:spPr>
          <a:xfrm>
            <a:off x="594360" y="6382512"/>
            <a:ext cx="2743200" cy="201168"/>
          </a:xfrm>
          <a:prstGeom prst="rect">
            <a:avLst/>
          </a:prstGeom>
          <a:noFill/>
          <a:ln/>
        </p:spPr>
        <p:txBody>
          <a:bodyPr wrap="square" lIns="0" tIns="0" rIns="0" bIns="0" rtlCol="0" anchor="t"/>
          <a:lstStyle/>
          <a:p>
            <a:pPr indent="0" marL="0">
              <a:buNone/>
            </a:pPr>
            <a:r>
              <a:rPr lang="en-US" sz="1000" i="1" dirty="0">
                <a:solidFill>
                  <a:srgbClr val="6F747A"/>
                </a:solidFill>
                <a:latin typeface="Georgia" pitchFamily="34" charset="0"/>
                <a:ea typeface="Georgia" pitchFamily="34" charset="-122"/>
                <a:cs typeface="Georgia" pitchFamily="34" charset="-120"/>
              </a:rPr>
              <a:t>MarketLens</a:t>
            </a:r>
            <a:endParaRPr lang="en-US" sz="1000" dirty="0"/>
          </a:p>
        </p:txBody>
      </p:sp>
      <p:sp>
        <p:nvSpPr>
          <p:cNvPr id="31" name="Text 29"/>
          <p:cNvSpPr txBox="1"/>
          <p:nvPr/>
        </p:nvSpPr>
        <p:spPr>
          <a:xfrm>
            <a:off x="9765792" y="6382512"/>
            <a:ext cx="1828800" cy="201168"/>
          </a:xfrm>
          <a:prstGeom prst="rect">
            <a:avLst/>
          </a:prstGeom>
          <a:noFill/>
          <a:ln/>
        </p:spPr>
        <p:txBody>
          <a:bodyPr wrap="square" lIns="0" tIns="0" rIns="0" bIns="0" rtlCol="0" anchor="t"/>
          <a:lstStyle/>
          <a:p>
            <a:pPr algn="r" indent="0" marL="0">
              <a:buNone/>
            </a:pPr>
            <a:r>
              <a:rPr lang="en-US" sz="900" spc="100" kern="0" dirty="0">
                <a:solidFill>
                  <a:srgbClr val="6F747A"/>
                </a:solidFill>
                <a:latin typeface="Arial" pitchFamily="34" charset="0"/>
                <a:ea typeface="Arial" pitchFamily="34" charset="-122"/>
                <a:cs typeface="Arial" pitchFamily="34" charset="-120"/>
              </a:rPr>
              <a:t>08 / 12</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94360" y="457200"/>
            <a:ext cx="6400800" cy="228600"/>
          </a:xfrm>
          <a:prstGeom prst="rect">
            <a:avLst/>
          </a:prstGeom>
          <a:noFill/>
          <a:ln/>
        </p:spPr>
        <p:txBody>
          <a:bodyPr wrap="square" lIns="0" tIns="0" rIns="0" bIns="0" rtlCol="0" anchor="t"/>
          <a:lstStyle/>
          <a:p>
            <a:pPr indent="0" marL="0">
              <a:buNone/>
            </a:pPr>
            <a:r>
              <a:rPr lang="en-US" sz="950" b="1" spc="200" kern="0" dirty="0">
                <a:solidFill>
                  <a:srgbClr val="16191C"/>
                </a:solidFill>
                <a:latin typeface="Arial" pitchFamily="34" charset="0"/>
                <a:ea typeface="Arial" pitchFamily="34" charset="-122"/>
                <a:cs typeface="Arial" pitchFamily="34" charset="-120"/>
              </a:rPr>
              <a:t>No. 09</a:t>
            </a:r>
            <a:pPr indent="0" marL="0">
              <a:buNone/>
            </a:pPr>
            <a:r>
              <a:rPr lang="en-US" sz="950" b="1" spc="200" kern="0" dirty="0">
                <a:solidFill>
                  <a:srgbClr val="1F6F5C"/>
                </a:solidFill>
                <a:latin typeface="Arial" pitchFamily="34" charset="0"/>
                <a:ea typeface="Arial" pitchFamily="34" charset="-122"/>
                <a:cs typeface="Arial" pitchFamily="34" charset="-120"/>
              </a:rPr>
              <a:t>     IMPLEMENTATION / SCREENSHOTS</a:t>
            </a:r>
            <a:endParaRPr lang="en-US" sz="950" dirty="0"/>
          </a:p>
        </p:txBody>
      </p:sp>
      <p:sp>
        <p:nvSpPr>
          <p:cNvPr id="3" name="Text 1"/>
          <p:cNvSpPr txBox="1"/>
          <p:nvPr/>
        </p:nvSpPr>
        <p:spPr>
          <a:xfrm>
            <a:off x="594360" y="749808"/>
            <a:ext cx="11000232" cy="731520"/>
          </a:xfrm>
          <a:prstGeom prst="rect">
            <a:avLst/>
          </a:prstGeom>
          <a:noFill/>
          <a:ln/>
        </p:spPr>
        <p:txBody>
          <a:bodyPr wrap="square" lIns="0" tIns="0" rIns="0" bIns="0" rtlCol="0" anchor="t"/>
          <a:lstStyle/>
          <a:p>
            <a:pPr indent="0" marL="0">
              <a:buNone/>
            </a:pPr>
            <a:r>
              <a:rPr lang="en-US" sz="3200" dirty="0">
                <a:solidFill>
                  <a:srgbClr val="16191C"/>
                </a:solidFill>
                <a:latin typeface="Georgia" pitchFamily="34" charset="0"/>
                <a:ea typeface="Georgia" pitchFamily="34" charset="-122"/>
                <a:cs typeface="Georgia" pitchFamily="34" charset="-120"/>
              </a:rPr>
              <a:t>Built, deployed, and running on live data.</a:t>
            </a:r>
            <a:endParaRPr lang="en-US" sz="3200" dirty="0"/>
          </a:p>
        </p:txBody>
      </p:sp>
      <p:sp>
        <p:nvSpPr>
          <p:cNvPr id="4" name="Shape 2"/>
          <p:cNvSpPr/>
          <p:nvPr/>
        </p:nvSpPr>
        <p:spPr>
          <a:xfrm>
            <a:off x="621792" y="1810512"/>
            <a:ext cx="4837176" cy="3504202"/>
          </a:xfrm>
          <a:prstGeom prst="roundRect">
            <a:avLst>
              <a:gd name="adj" fmla="val 1566"/>
            </a:avLst>
          </a:prstGeom>
          <a:solidFill>
            <a:srgbClr val="FFFFFF"/>
          </a:solidFill>
          <a:ln w="12700">
            <a:solidFill>
              <a:srgbClr val="FFFFFF"/>
            </a:solidFill>
            <a:prstDash val="solid"/>
          </a:ln>
          <a:effectLst>
            <a:outerShdw sx="100000" sy="100000" kx="0" ky="0" algn="bl" rotWithShape="0" blurRad="203200" dist="63500" dir="5400000">
              <a:srgbClr val="000000">
                <a:alpha val="18000"/>
              </a:srgbClr>
            </a:outerShdw>
          </a:effectLst>
        </p:spPr>
      </p:sp>
      <p:pic>
        <p:nvPicPr>
          <p:cNvPr id="5" name="Image 0" descr="Screenshot of the paper-trading terminal after one round trip: order ticket with itemised charges, and a trade history row with gross P and L of zero, charges of 181.89 rupees and a net loss of the same amount">    </p:cNvPr>
          <p:cNvPicPr>
            <a:picLocks noChangeAspect="1"/>
          </p:cNvPicPr>
          <p:nvPr/>
        </p:nvPicPr>
        <p:blipFill>
          <a:blip r:embed="rId2"/>
          <a:stretch>
            <a:fillRect/>
          </a:stretch>
        </p:blipFill>
        <p:spPr>
          <a:xfrm>
            <a:off x="594360" y="1783080"/>
            <a:ext cx="4892040" cy="3559066"/>
          </a:xfrm>
          <a:prstGeom prst="rect">
            <a:avLst/>
          </a:prstGeom>
        </p:spPr>
      </p:pic>
      <p:sp>
        <p:nvSpPr>
          <p:cNvPr id="6" name="Text 3"/>
          <p:cNvSpPr txBox="1"/>
          <p:nvPr/>
        </p:nvSpPr>
        <p:spPr>
          <a:xfrm>
            <a:off x="594360" y="5451874"/>
            <a:ext cx="4892040" cy="384048"/>
          </a:xfrm>
          <a:prstGeom prst="rect">
            <a:avLst/>
          </a:prstGeom>
          <a:noFill/>
          <a:ln/>
        </p:spPr>
        <p:txBody>
          <a:bodyPr wrap="square" lIns="0" tIns="0" rIns="0" bIns="0" rtlCol="0" anchor="t"/>
          <a:lstStyle/>
          <a:p>
            <a:pPr indent="0" marL="0">
              <a:buNone/>
            </a:pPr>
            <a:r>
              <a:rPr lang="en-US" sz="1000" dirty="0">
                <a:solidFill>
                  <a:srgbClr val="6F747A"/>
                </a:solidFill>
                <a:latin typeface="Arial" pitchFamily="34" charset="0"/>
                <a:ea typeface="Arial" pitchFamily="34" charset="-122"/>
                <a:cs typeface="Arial" pitchFamily="34" charset="-120"/>
              </a:rPr>
              <a:t>Fig. 2   Paper trading: 86 RELIANCE shares bought and sold at ₹1,158.00. Gross ₹0.00, net −₹181.89 after charges.</a:t>
            </a:r>
            <a:endParaRPr lang="en-US" sz="1000" dirty="0"/>
          </a:p>
        </p:txBody>
      </p:sp>
      <p:sp>
        <p:nvSpPr>
          <p:cNvPr id="7" name="Shape 4"/>
          <p:cNvSpPr/>
          <p:nvPr/>
        </p:nvSpPr>
        <p:spPr>
          <a:xfrm>
            <a:off x="5833872" y="1810512"/>
            <a:ext cx="2702052" cy="2012823"/>
          </a:xfrm>
          <a:prstGeom prst="roundRect">
            <a:avLst>
              <a:gd name="adj" fmla="val 2726"/>
            </a:avLst>
          </a:prstGeom>
          <a:solidFill>
            <a:srgbClr val="FFFFFF"/>
          </a:solidFill>
          <a:ln w="12700">
            <a:solidFill>
              <a:srgbClr val="FFFFFF"/>
            </a:solidFill>
            <a:prstDash val="solid"/>
          </a:ln>
          <a:effectLst>
            <a:outerShdw sx="100000" sy="100000" kx="0" ky="0" algn="bl" rotWithShape="0" blurRad="203200" dist="63500" dir="5400000">
              <a:srgbClr val="000000">
                <a:alpha val="18000"/>
              </a:srgbClr>
            </a:outerShdw>
          </a:effectLst>
        </p:spPr>
      </p:sp>
      <p:pic>
        <p:nvPicPr>
          <p:cNvPr id="8" name="Image 1" descr="Screenshot of the AI Strategy Lab: a branching tree of bull, base, bear and black swan scenarios with probabilities, and scenario cards with target, stop and invalidation condition">    </p:cNvPr>
          <p:cNvPicPr>
            <a:picLocks noChangeAspect="1"/>
          </p:cNvPicPr>
          <p:nvPr/>
        </p:nvPicPr>
        <p:blipFill>
          <a:blip r:embed="rId3"/>
          <a:stretch>
            <a:fillRect/>
          </a:stretch>
        </p:blipFill>
        <p:spPr>
          <a:xfrm>
            <a:off x="5806440" y="1783080"/>
            <a:ext cx="2756916" cy="2067687"/>
          </a:xfrm>
          <a:prstGeom prst="rect">
            <a:avLst/>
          </a:prstGeom>
        </p:spPr>
      </p:pic>
      <p:sp>
        <p:nvSpPr>
          <p:cNvPr id="9" name="Shape 5"/>
          <p:cNvSpPr/>
          <p:nvPr/>
        </p:nvSpPr>
        <p:spPr>
          <a:xfrm>
            <a:off x="8865108" y="1810512"/>
            <a:ext cx="2702052" cy="2101049"/>
          </a:xfrm>
          <a:prstGeom prst="roundRect">
            <a:avLst>
              <a:gd name="adj" fmla="val 2611"/>
            </a:avLst>
          </a:prstGeom>
          <a:solidFill>
            <a:srgbClr val="FFFFFF"/>
          </a:solidFill>
          <a:ln w="12700">
            <a:solidFill>
              <a:srgbClr val="FFFFFF"/>
            </a:solidFill>
            <a:prstDash val="solid"/>
          </a:ln>
          <a:effectLst>
            <a:outerShdw sx="100000" sy="100000" kx="0" ky="0" algn="bl" rotWithShape="0" blurRad="203200" dist="63500" dir="5400000">
              <a:srgbClr val="000000">
                <a:alpha val="18000"/>
              </a:srgbClr>
            </a:outerShdw>
          </a:effectLst>
        </p:spPr>
      </p:sp>
      <p:pic>
        <p:nvPicPr>
          <p:cNvPr id="10" name="Image 2" descr="Screenshot of the Monte Carlo fan chart: 500 simulated 30-day paths with median, 80 percent band, target and stop, and value-at-risk figures">    </p:cNvPr>
          <p:cNvPicPr>
            <a:picLocks noChangeAspect="1"/>
          </p:cNvPicPr>
          <p:nvPr/>
        </p:nvPicPr>
        <p:blipFill>
          <a:blip r:embed="rId4"/>
          <a:stretch>
            <a:fillRect/>
          </a:stretch>
        </p:blipFill>
        <p:spPr>
          <a:xfrm>
            <a:off x="8837676" y="1783080"/>
            <a:ext cx="2756916" cy="2155913"/>
          </a:xfrm>
          <a:prstGeom prst="rect">
            <a:avLst/>
          </a:prstGeom>
        </p:spPr>
      </p:pic>
      <p:sp>
        <p:nvSpPr>
          <p:cNvPr id="11" name="Text 6"/>
          <p:cNvSpPr txBox="1"/>
          <p:nvPr/>
        </p:nvSpPr>
        <p:spPr>
          <a:xfrm>
            <a:off x="5806440" y="3960495"/>
            <a:ext cx="2756916" cy="384048"/>
          </a:xfrm>
          <a:prstGeom prst="rect">
            <a:avLst/>
          </a:prstGeom>
          <a:noFill/>
          <a:ln/>
        </p:spPr>
        <p:txBody>
          <a:bodyPr wrap="square" lIns="0" tIns="0" rIns="0" bIns="0" rtlCol="0" anchor="t"/>
          <a:lstStyle/>
          <a:p>
            <a:pPr indent="0" marL="0">
              <a:buNone/>
            </a:pPr>
            <a:r>
              <a:rPr lang="en-US" sz="1000" dirty="0">
                <a:solidFill>
                  <a:srgbClr val="6F747A"/>
                </a:solidFill>
                <a:latin typeface="Arial" pitchFamily="34" charset="0"/>
                <a:ea typeface="Arial" pitchFamily="34" charset="-122"/>
                <a:cs typeface="Arial" pitchFamily="34" charset="-120"/>
              </a:rPr>
              <a:t>Fig. 3   AI Strategy Lab: four scenarios, each with a target, a stop and an invalidation condition.</a:t>
            </a:r>
            <a:endParaRPr lang="en-US" sz="1000" dirty="0"/>
          </a:p>
        </p:txBody>
      </p:sp>
      <p:sp>
        <p:nvSpPr>
          <p:cNvPr id="12" name="Text 7"/>
          <p:cNvSpPr txBox="1"/>
          <p:nvPr/>
        </p:nvSpPr>
        <p:spPr>
          <a:xfrm>
            <a:off x="8837676" y="4048721"/>
            <a:ext cx="2756916" cy="384048"/>
          </a:xfrm>
          <a:prstGeom prst="rect">
            <a:avLst/>
          </a:prstGeom>
          <a:noFill/>
          <a:ln/>
        </p:spPr>
        <p:txBody>
          <a:bodyPr wrap="square" lIns="0" tIns="0" rIns="0" bIns="0" rtlCol="0" anchor="t"/>
          <a:lstStyle/>
          <a:p>
            <a:pPr indent="0" marL="0">
              <a:buNone/>
            </a:pPr>
            <a:r>
              <a:rPr lang="en-US" sz="1000" dirty="0">
                <a:solidFill>
                  <a:srgbClr val="6F747A"/>
                </a:solidFill>
                <a:latin typeface="Arial" pitchFamily="34" charset="0"/>
                <a:ea typeface="Arial" pitchFamily="34" charset="-122"/>
                <a:cs typeface="Arial" pitchFamily="34" charset="-120"/>
              </a:rPr>
              <a:t>Fig. 4   Monte Carlo fan: 500 paths over 30 days, value at risk at 95 and 99%.</a:t>
            </a:r>
            <a:endParaRPr lang="en-US" sz="1000" dirty="0"/>
          </a:p>
        </p:txBody>
      </p:sp>
      <p:sp>
        <p:nvSpPr>
          <p:cNvPr id="13" name="Text 8"/>
          <p:cNvSpPr txBox="1"/>
          <p:nvPr/>
        </p:nvSpPr>
        <p:spPr>
          <a:xfrm>
            <a:off x="5806440" y="4617720"/>
            <a:ext cx="2743200" cy="219456"/>
          </a:xfrm>
          <a:prstGeom prst="rect">
            <a:avLst/>
          </a:prstGeom>
          <a:noFill/>
          <a:ln/>
        </p:spPr>
        <p:txBody>
          <a:bodyPr wrap="square" lIns="0" tIns="0" rIns="0" bIns="0" rtlCol="0" anchor="t"/>
          <a:lstStyle/>
          <a:p>
            <a:pPr indent="0" marL="0">
              <a:buNone/>
            </a:pPr>
            <a:r>
              <a:rPr lang="en-US" sz="950" b="1" spc="200" kern="0" dirty="0">
                <a:solidFill>
                  <a:srgbClr val="1F6F5C"/>
                </a:solidFill>
                <a:latin typeface="Arial" pitchFamily="34" charset="0"/>
                <a:ea typeface="Arial" pitchFamily="34" charset="-122"/>
                <a:cs typeface="Arial" pitchFamily="34" charset="-120"/>
              </a:rPr>
              <a:t>THE CODE</a:t>
            </a:r>
            <a:endParaRPr lang="en-US" sz="950" dirty="0"/>
          </a:p>
        </p:txBody>
      </p:sp>
      <p:sp>
        <p:nvSpPr>
          <p:cNvPr id="14" name="Text 9"/>
          <p:cNvSpPr txBox="1"/>
          <p:nvPr/>
        </p:nvSpPr>
        <p:spPr>
          <a:xfrm>
            <a:off x="5806440" y="4910328"/>
            <a:ext cx="960120" cy="219456"/>
          </a:xfrm>
          <a:prstGeom prst="rect">
            <a:avLst/>
          </a:prstGeom>
          <a:noFill/>
          <a:ln/>
        </p:spPr>
        <p:txBody>
          <a:bodyPr wrap="square" lIns="0" tIns="0" rIns="0" bIns="0" rtlCol="0" anchor="t"/>
          <a:lstStyle/>
          <a:p>
            <a:pPr indent="0" marL="0">
              <a:buNone/>
            </a:pPr>
            <a:r>
              <a:rPr lang="en-US" sz="1100" b="1" dirty="0">
                <a:solidFill>
                  <a:srgbClr val="1F6F5C"/>
                </a:solidFill>
                <a:latin typeface="Courier New" pitchFamily="34" charset="0"/>
                <a:ea typeface="Courier New" pitchFamily="34" charset="-122"/>
                <a:cs typeface="Courier New" pitchFamily="34" charset="-120"/>
              </a:rPr>
              <a:t>web/</a:t>
            </a:r>
            <a:endParaRPr lang="en-US" sz="1100" dirty="0"/>
          </a:p>
        </p:txBody>
      </p:sp>
      <p:sp>
        <p:nvSpPr>
          <p:cNvPr id="15" name="Text 10"/>
          <p:cNvSpPr txBox="1"/>
          <p:nvPr/>
        </p:nvSpPr>
        <p:spPr>
          <a:xfrm>
            <a:off x="6812280" y="4910328"/>
            <a:ext cx="4782312" cy="219456"/>
          </a:xfrm>
          <a:prstGeom prst="rect">
            <a:avLst/>
          </a:prstGeom>
          <a:noFill/>
          <a:ln/>
        </p:spPr>
        <p:txBody>
          <a:bodyPr wrap="square" lIns="0" tIns="0" rIns="0" bIns="0" rtlCol="0" anchor="t"/>
          <a:lstStyle/>
          <a:p>
            <a:pPr indent="0" marL="0">
              <a:buNone/>
            </a:pPr>
            <a:r>
              <a:rPr lang="en-US" sz="1150" dirty="0">
                <a:solidFill>
                  <a:srgbClr val="16191C"/>
                </a:solidFill>
                <a:latin typeface="Arial" pitchFamily="34" charset="0"/>
                <a:ea typeface="Arial" pitchFamily="34" charset="-122"/>
                <a:cs typeface="Arial" pitchFamily="34" charset="-120"/>
              </a:rPr>
              <a:t>React front end: nine pages, 112 tests</a:t>
            </a:r>
            <a:endParaRPr lang="en-US" sz="1150" dirty="0"/>
          </a:p>
        </p:txBody>
      </p:sp>
      <p:sp>
        <p:nvSpPr>
          <p:cNvPr id="16" name="Text 11"/>
          <p:cNvSpPr txBox="1"/>
          <p:nvPr/>
        </p:nvSpPr>
        <p:spPr>
          <a:xfrm>
            <a:off x="5806440" y="5202936"/>
            <a:ext cx="960120" cy="219456"/>
          </a:xfrm>
          <a:prstGeom prst="rect">
            <a:avLst/>
          </a:prstGeom>
          <a:noFill/>
          <a:ln/>
        </p:spPr>
        <p:txBody>
          <a:bodyPr wrap="square" lIns="0" tIns="0" rIns="0" bIns="0" rtlCol="0" anchor="t"/>
          <a:lstStyle/>
          <a:p>
            <a:pPr indent="0" marL="0">
              <a:buNone/>
            </a:pPr>
            <a:r>
              <a:rPr lang="en-US" sz="1100" b="1" dirty="0">
                <a:solidFill>
                  <a:srgbClr val="1F6F5C"/>
                </a:solidFill>
                <a:latin typeface="Courier New" pitchFamily="34" charset="0"/>
                <a:ea typeface="Courier New" pitchFamily="34" charset="-122"/>
                <a:cs typeface="Courier New" pitchFamily="34" charset="-120"/>
              </a:rPr>
              <a:t>backend/</a:t>
            </a:r>
            <a:endParaRPr lang="en-US" sz="1100" dirty="0"/>
          </a:p>
        </p:txBody>
      </p:sp>
      <p:sp>
        <p:nvSpPr>
          <p:cNvPr id="17" name="Text 12"/>
          <p:cNvSpPr txBox="1"/>
          <p:nvPr/>
        </p:nvSpPr>
        <p:spPr>
          <a:xfrm>
            <a:off x="6812280" y="5202936"/>
            <a:ext cx="4782312" cy="219456"/>
          </a:xfrm>
          <a:prstGeom prst="rect">
            <a:avLst/>
          </a:prstGeom>
          <a:noFill/>
          <a:ln/>
        </p:spPr>
        <p:txBody>
          <a:bodyPr wrap="square" lIns="0" tIns="0" rIns="0" bIns="0" rtlCol="0" anchor="t"/>
          <a:lstStyle/>
          <a:p>
            <a:pPr indent="0" marL="0">
              <a:buNone/>
            </a:pPr>
            <a:r>
              <a:rPr lang="en-US" sz="1150" dirty="0">
                <a:solidFill>
                  <a:srgbClr val="16191C"/>
                </a:solidFill>
                <a:latin typeface="Arial" pitchFamily="34" charset="0"/>
                <a:ea typeface="Arial" pitchFamily="34" charset="-122"/>
                <a:cs typeface="Arial" pitchFamily="34" charset="-120"/>
              </a:rPr>
              <a:t>FastAPI service and the research core, 107 tests</a:t>
            </a:r>
            <a:endParaRPr lang="en-US" sz="1150" dirty="0"/>
          </a:p>
        </p:txBody>
      </p:sp>
      <p:sp>
        <p:nvSpPr>
          <p:cNvPr id="18" name="Text 13"/>
          <p:cNvSpPr txBox="1"/>
          <p:nvPr/>
        </p:nvSpPr>
        <p:spPr>
          <a:xfrm>
            <a:off x="5806440" y="5495544"/>
            <a:ext cx="960120" cy="219456"/>
          </a:xfrm>
          <a:prstGeom prst="rect">
            <a:avLst/>
          </a:prstGeom>
          <a:noFill/>
          <a:ln/>
        </p:spPr>
        <p:txBody>
          <a:bodyPr wrap="square" lIns="0" tIns="0" rIns="0" bIns="0" rtlCol="0" anchor="t"/>
          <a:lstStyle/>
          <a:p>
            <a:pPr indent="0" marL="0">
              <a:buNone/>
            </a:pPr>
            <a:r>
              <a:rPr lang="en-US" sz="1100" b="1" dirty="0">
                <a:solidFill>
                  <a:srgbClr val="1F6F5C"/>
                </a:solidFill>
                <a:latin typeface="Courier New" pitchFamily="34" charset="0"/>
                <a:ea typeface="Courier New" pitchFamily="34" charset="-122"/>
                <a:cs typeface="Courier New" pitchFamily="34" charset="-120"/>
              </a:rPr>
              <a:t>e2e/</a:t>
            </a:r>
            <a:endParaRPr lang="en-US" sz="1100" dirty="0"/>
          </a:p>
        </p:txBody>
      </p:sp>
      <p:sp>
        <p:nvSpPr>
          <p:cNvPr id="19" name="Text 14"/>
          <p:cNvSpPr txBox="1"/>
          <p:nvPr/>
        </p:nvSpPr>
        <p:spPr>
          <a:xfrm>
            <a:off x="6812280" y="5495544"/>
            <a:ext cx="4782312" cy="219456"/>
          </a:xfrm>
          <a:prstGeom prst="rect">
            <a:avLst/>
          </a:prstGeom>
          <a:noFill/>
          <a:ln/>
        </p:spPr>
        <p:txBody>
          <a:bodyPr wrap="square" lIns="0" tIns="0" rIns="0" bIns="0" rtlCol="0" anchor="t"/>
          <a:lstStyle/>
          <a:p>
            <a:pPr indent="0" marL="0">
              <a:buNone/>
            </a:pPr>
            <a:r>
              <a:rPr lang="en-US" sz="1150" dirty="0">
                <a:solidFill>
                  <a:srgbClr val="16191C"/>
                </a:solidFill>
                <a:latin typeface="Arial" pitchFamily="34" charset="0"/>
                <a:ea typeface="Arial" pitchFamily="34" charset="-122"/>
                <a:cs typeface="Arial" pitchFamily="34" charset="-120"/>
              </a:rPr>
              <a:t>Playwright tests against a fake upstream, 15 tests</a:t>
            </a:r>
            <a:endParaRPr lang="en-US" sz="1150" dirty="0"/>
          </a:p>
        </p:txBody>
      </p:sp>
      <p:sp>
        <p:nvSpPr>
          <p:cNvPr id="20" name="Text 15"/>
          <p:cNvSpPr txBox="1"/>
          <p:nvPr/>
        </p:nvSpPr>
        <p:spPr>
          <a:xfrm>
            <a:off x="5806440" y="5788152"/>
            <a:ext cx="960120" cy="219456"/>
          </a:xfrm>
          <a:prstGeom prst="rect">
            <a:avLst/>
          </a:prstGeom>
          <a:noFill/>
          <a:ln/>
        </p:spPr>
        <p:txBody>
          <a:bodyPr wrap="square" lIns="0" tIns="0" rIns="0" bIns="0" rtlCol="0" anchor="t"/>
          <a:lstStyle/>
          <a:p>
            <a:pPr indent="0" marL="0">
              <a:buNone/>
            </a:pPr>
            <a:r>
              <a:rPr lang="en-US" sz="1100" b="1" dirty="0">
                <a:solidFill>
                  <a:srgbClr val="1F6F5C"/>
                </a:solidFill>
                <a:latin typeface="Courier New" pitchFamily="34" charset="0"/>
                <a:ea typeface="Courier New" pitchFamily="34" charset="-122"/>
                <a:cs typeface="Courier New" pitchFamily="34" charset="-120"/>
              </a:rPr>
              <a:t>deploy</a:t>
            </a:r>
            <a:endParaRPr lang="en-US" sz="1100" dirty="0"/>
          </a:p>
        </p:txBody>
      </p:sp>
      <p:sp>
        <p:nvSpPr>
          <p:cNvPr id="21" name="Text 16"/>
          <p:cNvSpPr txBox="1"/>
          <p:nvPr/>
        </p:nvSpPr>
        <p:spPr>
          <a:xfrm>
            <a:off x="6812280" y="5788152"/>
            <a:ext cx="4782312" cy="219456"/>
          </a:xfrm>
          <a:prstGeom prst="rect">
            <a:avLst/>
          </a:prstGeom>
          <a:noFill/>
          <a:ln/>
        </p:spPr>
        <p:txBody>
          <a:bodyPr wrap="square" lIns="0" tIns="0" rIns="0" bIns="0" rtlCol="0" anchor="t"/>
          <a:lstStyle/>
          <a:p>
            <a:pPr indent="0" marL="0">
              <a:buNone/>
            </a:pPr>
            <a:r>
              <a:rPr lang="en-US" sz="1150" dirty="0">
                <a:solidFill>
                  <a:srgbClr val="16191C"/>
                </a:solidFill>
                <a:latin typeface="Arial" pitchFamily="34" charset="0"/>
                <a:ea typeface="Arial" pitchFamily="34" charset="-122"/>
                <a:cs typeface="Arial" pitchFamily="34" charset="-120"/>
              </a:rPr>
              <a:t>Vercel (web) and Render (API) from one GitHub repo</a:t>
            </a:r>
            <a:endParaRPr lang="en-US" sz="1150" dirty="0"/>
          </a:p>
        </p:txBody>
      </p:sp>
      <p:sp>
        <p:nvSpPr>
          <p:cNvPr id="22" name="Text 17"/>
          <p:cNvSpPr txBox="1"/>
          <p:nvPr/>
        </p:nvSpPr>
        <p:spPr>
          <a:xfrm>
            <a:off x="594360" y="6382512"/>
            <a:ext cx="2743200" cy="201168"/>
          </a:xfrm>
          <a:prstGeom prst="rect">
            <a:avLst/>
          </a:prstGeom>
          <a:noFill/>
          <a:ln/>
        </p:spPr>
        <p:txBody>
          <a:bodyPr wrap="square" lIns="0" tIns="0" rIns="0" bIns="0" rtlCol="0" anchor="t"/>
          <a:lstStyle/>
          <a:p>
            <a:pPr indent="0" marL="0">
              <a:buNone/>
            </a:pPr>
            <a:r>
              <a:rPr lang="en-US" sz="1000" i="1" dirty="0">
                <a:solidFill>
                  <a:srgbClr val="6F747A"/>
                </a:solidFill>
                <a:latin typeface="Georgia" pitchFamily="34" charset="0"/>
                <a:ea typeface="Georgia" pitchFamily="34" charset="-122"/>
                <a:cs typeface="Georgia" pitchFamily="34" charset="-120"/>
              </a:rPr>
              <a:t>MarketLens</a:t>
            </a:r>
            <a:endParaRPr lang="en-US" sz="1000" dirty="0"/>
          </a:p>
        </p:txBody>
      </p:sp>
      <p:sp>
        <p:nvSpPr>
          <p:cNvPr id="23" name="Text 18"/>
          <p:cNvSpPr txBox="1"/>
          <p:nvPr/>
        </p:nvSpPr>
        <p:spPr>
          <a:xfrm>
            <a:off x="9765792" y="6382512"/>
            <a:ext cx="1828800" cy="201168"/>
          </a:xfrm>
          <a:prstGeom prst="rect">
            <a:avLst/>
          </a:prstGeom>
          <a:noFill/>
          <a:ln/>
        </p:spPr>
        <p:txBody>
          <a:bodyPr wrap="square" lIns="0" tIns="0" rIns="0" bIns="0" rtlCol="0" anchor="t"/>
          <a:lstStyle/>
          <a:p>
            <a:pPr algn="r" indent="0" marL="0">
              <a:buNone/>
            </a:pPr>
            <a:r>
              <a:rPr lang="en-US" sz="900" spc="100" kern="0" dirty="0">
                <a:solidFill>
                  <a:srgbClr val="6F747A"/>
                </a:solidFill>
                <a:latin typeface="Arial" pitchFamily="34" charset="0"/>
                <a:ea typeface="Arial" pitchFamily="34" charset="-122"/>
                <a:cs typeface="Arial" pitchFamily="34" charset="-120"/>
              </a:rPr>
              <a:t>09 / 12</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94360" y="457200"/>
            <a:ext cx="6400800" cy="228600"/>
          </a:xfrm>
          <a:prstGeom prst="rect">
            <a:avLst/>
          </a:prstGeom>
          <a:noFill/>
          <a:ln/>
        </p:spPr>
        <p:txBody>
          <a:bodyPr wrap="square" lIns="0" tIns="0" rIns="0" bIns="0" rtlCol="0" anchor="t"/>
          <a:lstStyle/>
          <a:p>
            <a:pPr indent="0" marL="0">
              <a:buNone/>
            </a:pPr>
            <a:r>
              <a:rPr lang="en-US" sz="950" b="1" spc="200" kern="0" dirty="0">
                <a:solidFill>
                  <a:srgbClr val="16191C"/>
                </a:solidFill>
                <a:latin typeface="Arial" pitchFamily="34" charset="0"/>
                <a:ea typeface="Arial" pitchFamily="34" charset="-122"/>
                <a:cs typeface="Arial" pitchFamily="34" charset="-120"/>
              </a:rPr>
              <a:t>No. 10</a:t>
            </a:r>
            <a:pPr indent="0" marL="0">
              <a:buNone/>
            </a:pPr>
            <a:r>
              <a:rPr lang="en-US" sz="950" b="1" spc="200" kern="0" dirty="0">
                <a:solidFill>
                  <a:srgbClr val="1F6F5C"/>
                </a:solidFill>
                <a:latin typeface="Arial" pitchFamily="34" charset="0"/>
                <a:ea typeface="Arial" pitchFamily="34" charset="-122"/>
                <a:cs typeface="Arial" pitchFamily="34" charset="-120"/>
              </a:rPr>
              <a:t>     RESULTS AND DISCUSSION</a:t>
            </a:r>
            <a:endParaRPr lang="en-US" sz="950" dirty="0"/>
          </a:p>
        </p:txBody>
      </p:sp>
      <p:sp>
        <p:nvSpPr>
          <p:cNvPr id="3" name="Text 1"/>
          <p:cNvSpPr txBox="1"/>
          <p:nvPr/>
        </p:nvSpPr>
        <p:spPr>
          <a:xfrm>
            <a:off x="594360" y="749808"/>
            <a:ext cx="11000232" cy="731520"/>
          </a:xfrm>
          <a:prstGeom prst="rect">
            <a:avLst/>
          </a:prstGeom>
          <a:noFill/>
          <a:ln/>
        </p:spPr>
        <p:txBody>
          <a:bodyPr wrap="square" lIns="0" tIns="0" rIns="0" bIns="0" rtlCol="0" anchor="t"/>
          <a:lstStyle/>
          <a:p>
            <a:pPr indent="0" marL="0">
              <a:buNone/>
            </a:pPr>
            <a:r>
              <a:rPr lang="en-US" sz="3200" dirty="0">
                <a:solidFill>
                  <a:srgbClr val="16191C"/>
                </a:solidFill>
                <a:latin typeface="Georgia" pitchFamily="34" charset="0"/>
                <a:ea typeface="Georgia" pitchFamily="34" charset="-122"/>
                <a:cs typeface="Georgia" pitchFamily="34" charset="-120"/>
              </a:rPr>
              <a:t>Honest numbers, including the unflattering ones.</a:t>
            </a:r>
            <a:endParaRPr lang="en-US" sz="3200" dirty="0"/>
          </a:p>
        </p:txBody>
      </p:sp>
      <p:sp>
        <p:nvSpPr>
          <p:cNvPr id="4" name="Text 2"/>
          <p:cNvSpPr txBox="1"/>
          <p:nvPr/>
        </p:nvSpPr>
        <p:spPr>
          <a:xfrm>
            <a:off x="594360" y="1783080"/>
            <a:ext cx="3422904" cy="219456"/>
          </a:xfrm>
          <a:prstGeom prst="rect">
            <a:avLst/>
          </a:prstGeom>
          <a:noFill/>
          <a:ln/>
        </p:spPr>
        <p:txBody>
          <a:bodyPr wrap="square" lIns="0" tIns="0" rIns="0" bIns="0" rtlCol="0" anchor="t"/>
          <a:lstStyle/>
          <a:p>
            <a:pPr indent="0" marL="0">
              <a:buNone/>
            </a:pPr>
            <a:r>
              <a:rPr lang="en-US" sz="950" b="1" spc="200" kern="0" dirty="0">
                <a:solidFill>
                  <a:srgbClr val="1F6F5C"/>
                </a:solidFill>
                <a:latin typeface="Arial" pitchFamily="34" charset="0"/>
                <a:ea typeface="Arial" pitchFamily="34" charset="-122"/>
                <a:cs typeface="Arial" pitchFamily="34" charset="-120"/>
              </a:rPr>
              <a:t>COST OF A ₹1,00,000 ROUND TRIP</a:t>
            </a:r>
            <a:endParaRPr lang="en-US" sz="950" dirty="0"/>
          </a:p>
        </p:txBody>
      </p:sp>
      <p:sp>
        <p:nvSpPr>
          <p:cNvPr id="5" name="Text 3"/>
          <p:cNvSpPr txBox="1"/>
          <p:nvPr/>
        </p:nvSpPr>
        <p:spPr>
          <a:xfrm>
            <a:off x="594360" y="2029968"/>
            <a:ext cx="3422904" cy="658368"/>
          </a:xfrm>
          <a:prstGeom prst="rect">
            <a:avLst/>
          </a:prstGeom>
          <a:noFill/>
          <a:ln/>
        </p:spPr>
        <p:txBody>
          <a:bodyPr wrap="square" lIns="0" tIns="0" rIns="0" bIns="0" rtlCol="0" anchor="t"/>
          <a:lstStyle/>
          <a:p>
            <a:pPr indent="0" marL="0">
              <a:buNone/>
            </a:pPr>
            <a:r>
              <a:rPr lang="en-US" sz="4000" dirty="0">
                <a:solidFill>
                  <a:srgbClr val="16191C"/>
                </a:solidFill>
                <a:latin typeface="Cambria" pitchFamily="34" charset="0"/>
                <a:ea typeface="Cambria" pitchFamily="34" charset="-122"/>
                <a:cs typeface="Cambria" pitchFamily="34" charset="-120"/>
              </a:rPr>
              <a:t>₹182.44</a:t>
            </a:r>
            <a:endParaRPr lang="en-US" sz="4000" dirty="0"/>
          </a:p>
        </p:txBody>
      </p:sp>
      <p:sp>
        <p:nvSpPr>
          <p:cNvPr id="6" name="Text 4"/>
          <p:cNvSpPr txBox="1"/>
          <p:nvPr/>
        </p:nvSpPr>
        <p:spPr>
          <a:xfrm>
            <a:off x="594360" y="2724912"/>
            <a:ext cx="3422904" cy="411480"/>
          </a:xfrm>
          <a:prstGeom prst="rect">
            <a:avLst/>
          </a:prstGeom>
          <a:noFill/>
          <a:ln/>
        </p:spPr>
        <p:txBody>
          <a:bodyPr wrap="square" lIns="0" tIns="0" rIns="0" bIns="0" rtlCol="0" anchor="t"/>
          <a:lstStyle/>
          <a:p>
            <a:pPr indent="0" marL="0">
              <a:buNone/>
            </a:pPr>
            <a:r>
              <a:rPr lang="en-US" sz="1100" dirty="0">
                <a:solidFill>
                  <a:srgbClr val="6F747A"/>
                </a:solidFill>
                <a:latin typeface="Arial" pitchFamily="34" charset="0"/>
                <a:ea typeface="Arial" pitchFamily="34" charset="-122"/>
                <a:cs typeface="Arial" pitchFamily="34" charset="-120"/>
              </a:rPr>
              <a:t>0.18% of the trade, gone before any profit.</a:t>
            </a:r>
            <a:endParaRPr lang="en-US" sz="1100" dirty="0"/>
          </a:p>
        </p:txBody>
      </p:sp>
      <p:graphicFrame>
        <p:nvGraphicFramePr>
          <p:cNvPr id="7" name="Chart 0" descr=""/>
          <p:cNvGraphicFramePr/>
          <p:nvPr/>
        </p:nvGraphicFramePr>
        <p:xfrm>
          <a:off x="521208" y="3200400"/>
          <a:ext cx="3496056" cy="2103120"/>
        </p:xfrm>
        <a:graphic xmlns:a="http://schemas.openxmlformats.org/drawingml/2006/main">
          <a:graphicData uri="http://schemas.openxmlformats.org/drawingml/2006/chart">
            <c:chart xmlns:c="http://schemas.openxmlformats.org/drawingml/2006/chart" r:id="rId2"/>
          </a:graphicData>
        </a:graphic>
      </p:graphicFrame>
      <p:sp>
        <p:nvSpPr>
          <p:cNvPr id="8" name="Text 5"/>
          <p:cNvSpPr txBox="1"/>
          <p:nvPr/>
        </p:nvSpPr>
        <p:spPr>
          <a:xfrm>
            <a:off x="594360" y="5321808"/>
            <a:ext cx="3422904" cy="219456"/>
          </a:xfrm>
          <a:prstGeom prst="rect">
            <a:avLst/>
          </a:prstGeom>
          <a:noFill/>
          <a:ln/>
        </p:spPr>
        <p:txBody>
          <a:bodyPr wrap="square" lIns="0" tIns="0" rIns="0" bIns="0" rtlCol="0" anchor="t"/>
          <a:lstStyle/>
          <a:p>
            <a:pPr indent="0" marL="0">
              <a:buNone/>
            </a:pPr>
            <a:r>
              <a:rPr lang="en-US" sz="1050" dirty="0">
                <a:solidFill>
                  <a:srgbClr val="6F747A"/>
                </a:solidFill>
                <a:latin typeface="Arial" pitchFamily="34" charset="0"/>
                <a:ea typeface="Arial" pitchFamily="34" charset="-122"/>
                <a:cs typeface="Arial" pitchFamily="34" charset="-120"/>
              </a:rPr>
              <a:t>App check: an 86 RELIANCE round trip lost ₹181.89.</a:t>
            </a:r>
            <a:endParaRPr lang="en-US" sz="1050" dirty="0"/>
          </a:p>
        </p:txBody>
      </p:sp>
      <p:sp>
        <p:nvSpPr>
          <p:cNvPr id="9" name="Text 6"/>
          <p:cNvSpPr txBox="1"/>
          <p:nvPr/>
        </p:nvSpPr>
        <p:spPr>
          <a:xfrm>
            <a:off x="4383024" y="1783080"/>
            <a:ext cx="3422904" cy="219456"/>
          </a:xfrm>
          <a:prstGeom prst="rect">
            <a:avLst/>
          </a:prstGeom>
          <a:noFill/>
          <a:ln/>
        </p:spPr>
        <p:txBody>
          <a:bodyPr wrap="square" lIns="0" tIns="0" rIns="0" bIns="0" rtlCol="0" anchor="t"/>
          <a:lstStyle/>
          <a:p>
            <a:pPr indent="0" marL="0">
              <a:buNone/>
            </a:pPr>
            <a:r>
              <a:rPr lang="en-US" sz="950" b="1" spc="200" kern="0" dirty="0">
                <a:solidFill>
                  <a:srgbClr val="1F6F5C"/>
                </a:solidFill>
                <a:latin typeface="Arial" pitchFamily="34" charset="0"/>
                <a:ea typeface="Arial" pitchFamily="34" charset="-122"/>
                <a:cs typeface="Arial" pitchFamily="34" charset="-120"/>
              </a:rPr>
              <a:t>RESEARCH RUN, 224-BAR FIXTURE</a:t>
            </a:r>
            <a:endParaRPr lang="en-US" sz="950" dirty="0"/>
          </a:p>
        </p:txBody>
      </p:sp>
      <p:sp>
        <p:nvSpPr>
          <p:cNvPr id="10" name="Text 7"/>
          <p:cNvSpPr txBox="1"/>
          <p:nvPr/>
        </p:nvSpPr>
        <p:spPr>
          <a:xfrm>
            <a:off x="4383024" y="2029968"/>
            <a:ext cx="3422904" cy="658368"/>
          </a:xfrm>
          <a:prstGeom prst="rect">
            <a:avLst/>
          </a:prstGeom>
          <a:noFill/>
          <a:ln/>
        </p:spPr>
        <p:txBody>
          <a:bodyPr wrap="square" lIns="0" tIns="0" rIns="0" bIns="0" rtlCol="0" anchor="t"/>
          <a:lstStyle/>
          <a:p>
            <a:pPr indent="0" marL="0">
              <a:buNone/>
            </a:pPr>
            <a:r>
              <a:rPr lang="en-US" sz="4000" dirty="0">
                <a:solidFill>
                  <a:srgbClr val="16191C"/>
                </a:solidFill>
                <a:latin typeface="Cambria" pitchFamily="34" charset="0"/>
                <a:ea typeface="Cambria" pitchFamily="34" charset="-122"/>
                <a:cs typeface="Cambria" pitchFamily="34" charset="-120"/>
              </a:rPr>
              <a:t>0.537</a:t>
            </a:r>
            <a:endParaRPr lang="en-US" sz="4000" dirty="0"/>
          </a:p>
        </p:txBody>
      </p:sp>
      <p:sp>
        <p:nvSpPr>
          <p:cNvPr id="11" name="Text 8"/>
          <p:cNvSpPr txBox="1"/>
          <p:nvPr/>
        </p:nvSpPr>
        <p:spPr>
          <a:xfrm>
            <a:off x="4383024" y="2724912"/>
            <a:ext cx="3422904" cy="411480"/>
          </a:xfrm>
          <a:prstGeom prst="rect">
            <a:avLst/>
          </a:prstGeom>
          <a:noFill/>
          <a:ln/>
        </p:spPr>
        <p:txBody>
          <a:bodyPr wrap="square" lIns="0" tIns="0" rIns="0" bIns="0" rtlCol="0" anchor="t"/>
          <a:lstStyle/>
          <a:p>
            <a:pPr indent="0" marL="0">
              <a:buNone/>
            </a:pPr>
            <a:r>
              <a:rPr lang="en-US" sz="1100" dirty="0">
                <a:solidFill>
                  <a:srgbClr val="6F747A"/>
                </a:solidFill>
                <a:latin typeface="Arial" pitchFamily="34" charset="0"/>
                <a:ea typeface="Arial" pitchFamily="34" charset="-122"/>
                <a:cs typeface="Arial" pitchFamily="34" charset="-120"/>
              </a:rPr>
              <a:t>Brier score, against 0.334 for repeating the base rate. Lower is better.</a:t>
            </a:r>
            <a:endParaRPr lang="en-US" sz="1100" dirty="0"/>
          </a:p>
        </p:txBody>
      </p:sp>
      <p:sp>
        <p:nvSpPr>
          <p:cNvPr id="12" name="Shape 9"/>
          <p:cNvSpPr/>
          <p:nvPr/>
        </p:nvSpPr>
        <p:spPr>
          <a:xfrm>
            <a:off x="4383024" y="3310128"/>
            <a:ext cx="3422904" cy="0"/>
          </a:xfrm>
          <a:prstGeom prst="line">
            <a:avLst/>
          </a:prstGeom>
          <a:noFill/>
          <a:ln w="9525">
            <a:solidFill>
              <a:srgbClr val="D6D1C7"/>
            </a:solidFill>
            <a:prstDash val="solid"/>
          </a:ln>
        </p:spPr>
      </p:sp>
      <p:sp>
        <p:nvSpPr>
          <p:cNvPr id="13" name="Text 10"/>
          <p:cNvSpPr txBox="1"/>
          <p:nvPr/>
        </p:nvSpPr>
        <p:spPr>
          <a:xfrm>
            <a:off x="4383024" y="3383280"/>
            <a:ext cx="2325624" cy="219456"/>
          </a:xfrm>
          <a:prstGeom prst="rect">
            <a:avLst/>
          </a:prstGeom>
          <a:noFill/>
          <a:ln/>
        </p:spPr>
        <p:txBody>
          <a:bodyPr wrap="square" lIns="0" tIns="0" rIns="0" bIns="0" rtlCol="0" anchor="t"/>
          <a:lstStyle/>
          <a:p>
            <a:pPr indent="0" marL="0">
              <a:buNone/>
            </a:pPr>
            <a:r>
              <a:rPr lang="en-US" sz="1200" dirty="0">
                <a:solidFill>
                  <a:srgbClr val="3B4045"/>
                </a:solidFill>
                <a:latin typeface="Arial" pitchFamily="34" charset="0"/>
                <a:ea typeface="Arial" pitchFamily="34" charset="-122"/>
                <a:cs typeface="Arial" pitchFamily="34" charset="-120"/>
              </a:rPr>
              <a:t>Trades</a:t>
            </a:r>
            <a:endParaRPr lang="en-US" sz="1200" dirty="0"/>
          </a:p>
        </p:txBody>
      </p:sp>
      <p:sp>
        <p:nvSpPr>
          <p:cNvPr id="14" name="Text 11"/>
          <p:cNvSpPr txBox="1"/>
          <p:nvPr/>
        </p:nvSpPr>
        <p:spPr>
          <a:xfrm>
            <a:off x="6708648" y="3383280"/>
            <a:ext cx="1097280" cy="219456"/>
          </a:xfrm>
          <a:prstGeom prst="rect">
            <a:avLst/>
          </a:prstGeom>
          <a:noFill/>
          <a:ln/>
        </p:spPr>
        <p:txBody>
          <a:bodyPr wrap="square" lIns="0" tIns="0" rIns="0" bIns="0" rtlCol="0" anchor="t"/>
          <a:lstStyle/>
          <a:p>
            <a:pPr algn="r" indent="0" marL="0">
              <a:buNone/>
            </a:pPr>
            <a:r>
              <a:rPr lang="en-US" sz="1200" b="1" dirty="0">
                <a:solidFill>
                  <a:srgbClr val="16191C"/>
                </a:solidFill>
                <a:latin typeface="Arial" pitchFamily="34" charset="0"/>
                <a:ea typeface="Arial" pitchFamily="34" charset="-122"/>
                <a:cs typeface="Arial" pitchFamily="34" charset="-120"/>
              </a:rPr>
              <a:t>0</a:t>
            </a:r>
            <a:endParaRPr lang="en-US" sz="1200" dirty="0"/>
          </a:p>
        </p:txBody>
      </p:sp>
      <p:sp>
        <p:nvSpPr>
          <p:cNvPr id="15" name="Shape 12"/>
          <p:cNvSpPr/>
          <p:nvPr/>
        </p:nvSpPr>
        <p:spPr>
          <a:xfrm>
            <a:off x="4383024" y="3648456"/>
            <a:ext cx="3422904" cy="0"/>
          </a:xfrm>
          <a:prstGeom prst="line">
            <a:avLst/>
          </a:prstGeom>
          <a:noFill/>
          <a:ln w="9525">
            <a:solidFill>
              <a:srgbClr val="D6D1C7"/>
            </a:solidFill>
            <a:prstDash val="solid"/>
          </a:ln>
        </p:spPr>
      </p:sp>
      <p:sp>
        <p:nvSpPr>
          <p:cNvPr id="16" name="Text 13"/>
          <p:cNvSpPr txBox="1"/>
          <p:nvPr/>
        </p:nvSpPr>
        <p:spPr>
          <a:xfrm>
            <a:off x="4383024" y="3721608"/>
            <a:ext cx="2325624" cy="219456"/>
          </a:xfrm>
          <a:prstGeom prst="rect">
            <a:avLst/>
          </a:prstGeom>
          <a:noFill/>
          <a:ln/>
        </p:spPr>
        <p:txBody>
          <a:bodyPr wrap="square" lIns="0" tIns="0" rIns="0" bIns="0" rtlCol="0" anchor="t"/>
          <a:lstStyle/>
          <a:p>
            <a:pPr indent="0" marL="0">
              <a:buNone/>
            </a:pPr>
            <a:r>
              <a:rPr lang="en-US" sz="1200" dirty="0">
                <a:solidFill>
                  <a:srgbClr val="3B4045"/>
                </a:solidFill>
                <a:latin typeface="Arial" pitchFamily="34" charset="0"/>
                <a:ea typeface="Arial" pitchFamily="34" charset="-122"/>
                <a:cs typeface="Arial" pitchFamily="34" charset="-120"/>
              </a:rPr>
              <a:t>Net profit</a:t>
            </a:r>
            <a:endParaRPr lang="en-US" sz="1200" dirty="0"/>
          </a:p>
        </p:txBody>
      </p:sp>
      <p:sp>
        <p:nvSpPr>
          <p:cNvPr id="17" name="Text 14"/>
          <p:cNvSpPr txBox="1"/>
          <p:nvPr/>
        </p:nvSpPr>
        <p:spPr>
          <a:xfrm>
            <a:off x="6708648" y="3721608"/>
            <a:ext cx="1097280" cy="219456"/>
          </a:xfrm>
          <a:prstGeom prst="rect">
            <a:avLst/>
          </a:prstGeom>
          <a:noFill/>
          <a:ln/>
        </p:spPr>
        <p:txBody>
          <a:bodyPr wrap="square" lIns="0" tIns="0" rIns="0" bIns="0" rtlCol="0" anchor="t"/>
          <a:lstStyle/>
          <a:p>
            <a:pPr algn="r" indent="0" marL="0">
              <a:buNone/>
            </a:pPr>
            <a:r>
              <a:rPr lang="en-US" sz="1200" b="1" dirty="0">
                <a:solidFill>
                  <a:srgbClr val="16191C"/>
                </a:solidFill>
                <a:latin typeface="Arial" pitchFamily="34" charset="0"/>
                <a:ea typeface="Arial" pitchFamily="34" charset="-122"/>
                <a:cs typeface="Arial" pitchFamily="34" charset="-120"/>
              </a:rPr>
              <a:t>₹0.00</a:t>
            </a:r>
            <a:endParaRPr lang="en-US" sz="1200" dirty="0"/>
          </a:p>
        </p:txBody>
      </p:sp>
      <p:sp>
        <p:nvSpPr>
          <p:cNvPr id="18" name="Shape 15"/>
          <p:cNvSpPr/>
          <p:nvPr/>
        </p:nvSpPr>
        <p:spPr>
          <a:xfrm>
            <a:off x="4383024" y="3986784"/>
            <a:ext cx="3422904" cy="0"/>
          </a:xfrm>
          <a:prstGeom prst="line">
            <a:avLst/>
          </a:prstGeom>
          <a:noFill/>
          <a:ln w="9525">
            <a:solidFill>
              <a:srgbClr val="D6D1C7"/>
            </a:solidFill>
            <a:prstDash val="solid"/>
          </a:ln>
        </p:spPr>
      </p:sp>
      <p:sp>
        <p:nvSpPr>
          <p:cNvPr id="19" name="Text 16"/>
          <p:cNvSpPr txBox="1"/>
          <p:nvPr/>
        </p:nvSpPr>
        <p:spPr>
          <a:xfrm>
            <a:off x="4383024" y="4059936"/>
            <a:ext cx="2325624" cy="219456"/>
          </a:xfrm>
          <a:prstGeom prst="rect">
            <a:avLst/>
          </a:prstGeom>
          <a:noFill/>
          <a:ln/>
        </p:spPr>
        <p:txBody>
          <a:bodyPr wrap="square" lIns="0" tIns="0" rIns="0" bIns="0" rtlCol="0" anchor="t"/>
          <a:lstStyle/>
          <a:p>
            <a:pPr indent="0" marL="0">
              <a:buNone/>
            </a:pPr>
            <a:r>
              <a:rPr lang="en-US" sz="1200" dirty="0">
                <a:solidFill>
                  <a:srgbClr val="3B4045"/>
                </a:solidFill>
                <a:latin typeface="Arial" pitchFamily="34" charset="0"/>
                <a:ea typeface="Arial" pitchFamily="34" charset="-122"/>
                <a:cs typeface="Arial" pitchFamily="34" charset="-120"/>
              </a:rPr>
              <a:t>Buy and hold</a:t>
            </a:r>
            <a:endParaRPr lang="en-US" sz="1200" dirty="0"/>
          </a:p>
        </p:txBody>
      </p:sp>
      <p:sp>
        <p:nvSpPr>
          <p:cNvPr id="20" name="Text 17"/>
          <p:cNvSpPr txBox="1"/>
          <p:nvPr/>
        </p:nvSpPr>
        <p:spPr>
          <a:xfrm>
            <a:off x="6708648" y="4059936"/>
            <a:ext cx="1097280" cy="219456"/>
          </a:xfrm>
          <a:prstGeom prst="rect">
            <a:avLst/>
          </a:prstGeom>
          <a:noFill/>
          <a:ln/>
        </p:spPr>
        <p:txBody>
          <a:bodyPr wrap="square" lIns="0" tIns="0" rIns="0" bIns="0" rtlCol="0" anchor="t"/>
          <a:lstStyle/>
          <a:p>
            <a:pPr algn="r" indent="0" marL="0">
              <a:buNone/>
            </a:pPr>
            <a:r>
              <a:rPr lang="en-US" sz="1200" b="1" dirty="0">
                <a:solidFill>
                  <a:srgbClr val="A3433B"/>
                </a:solidFill>
                <a:latin typeface="Arial" pitchFamily="34" charset="0"/>
                <a:ea typeface="Arial" pitchFamily="34" charset="-122"/>
                <a:cs typeface="Arial" pitchFamily="34" charset="-120"/>
              </a:rPr>
              <a:t>−₹589.29</a:t>
            </a:r>
            <a:endParaRPr lang="en-US" sz="1200" dirty="0"/>
          </a:p>
        </p:txBody>
      </p:sp>
      <p:sp>
        <p:nvSpPr>
          <p:cNvPr id="21" name="Shape 18"/>
          <p:cNvSpPr/>
          <p:nvPr/>
        </p:nvSpPr>
        <p:spPr>
          <a:xfrm>
            <a:off x="4383024" y="4325112"/>
            <a:ext cx="3422904" cy="0"/>
          </a:xfrm>
          <a:prstGeom prst="line">
            <a:avLst/>
          </a:prstGeom>
          <a:noFill/>
          <a:ln w="9525">
            <a:solidFill>
              <a:srgbClr val="D6D1C7"/>
            </a:solidFill>
            <a:prstDash val="solid"/>
          </a:ln>
        </p:spPr>
      </p:sp>
      <p:sp>
        <p:nvSpPr>
          <p:cNvPr id="22" name="Text 19"/>
          <p:cNvSpPr txBox="1"/>
          <p:nvPr/>
        </p:nvSpPr>
        <p:spPr>
          <a:xfrm>
            <a:off x="4383024" y="4398264"/>
            <a:ext cx="2325624" cy="219456"/>
          </a:xfrm>
          <a:prstGeom prst="rect">
            <a:avLst/>
          </a:prstGeom>
          <a:noFill/>
          <a:ln/>
        </p:spPr>
        <p:txBody>
          <a:bodyPr wrap="square" lIns="0" tIns="0" rIns="0" bIns="0" rtlCol="0" anchor="t"/>
          <a:lstStyle/>
          <a:p>
            <a:pPr indent="0" marL="0">
              <a:buNone/>
            </a:pPr>
            <a:r>
              <a:rPr lang="en-US" sz="1200" dirty="0">
                <a:solidFill>
                  <a:srgbClr val="3B4045"/>
                </a:solidFill>
                <a:latin typeface="Arial" pitchFamily="34" charset="0"/>
                <a:ea typeface="Arial" pitchFamily="34" charset="-122"/>
                <a:cs typeface="Arial" pitchFamily="34" charset="-120"/>
              </a:rPr>
              <a:t>Forecasts scored</a:t>
            </a:r>
            <a:endParaRPr lang="en-US" sz="1200" dirty="0"/>
          </a:p>
        </p:txBody>
      </p:sp>
      <p:sp>
        <p:nvSpPr>
          <p:cNvPr id="23" name="Text 20"/>
          <p:cNvSpPr txBox="1"/>
          <p:nvPr/>
        </p:nvSpPr>
        <p:spPr>
          <a:xfrm>
            <a:off x="6708648" y="4398264"/>
            <a:ext cx="1097280" cy="219456"/>
          </a:xfrm>
          <a:prstGeom prst="rect">
            <a:avLst/>
          </a:prstGeom>
          <a:noFill/>
          <a:ln/>
        </p:spPr>
        <p:txBody>
          <a:bodyPr wrap="square" lIns="0" tIns="0" rIns="0" bIns="0" rtlCol="0" anchor="t"/>
          <a:lstStyle/>
          <a:p>
            <a:pPr algn="r" indent="0" marL="0">
              <a:buNone/>
            </a:pPr>
            <a:r>
              <a:rPr lang="en-US" sz="1200" b="1" dirty="0">
                <a:solidFill>
                  <a:srgbClr val="16191C"/>
                </a:solidFill>
                <a:latin typeface="Arial" pitchFamily="34" charset="0"/>
                <a:ea typeface="Arial" pitchFamily="34" charset="-122"/>
                <a:cs typeface="Arial" pitchFamily="34" charset="-120"/>
              </a:rPr>
              <a:t>69</a:t>
            </a:r>
            <a:endParaRPr lang="en-US" sz="1200" dirty="0"/>
          </a:p>
        </p:txBody>
      </p:sp>
      <p:sp>
        <p:nvSpPr>
          <p:cNvPr id="24" name="Text 21"/>
          <p:cNvSpPr txBox="1"/>
          <p:nvPr/>
        </p:nvSpPr>
        <p:spPr>
          <a:xfrm>
            <a:off x="4383024" y="4800600"/>
            <a:ext cx="3422904" cy="365760"/>
          </a:xfrm>
          <a:prstGeom prst="rect">
            <a:avLst/>
          </a:prstGeom>
          <a:noFill/>
          <a:ln/>
        </p:spPr>
        <p:txBody>
          <a:bodyPr wrap="square" lIns="0" tIns="0" rIns="0" bIns="0" rtlCol="0" anchor="t"/>
          <a:lstStyle/>
          <a:p>
            <a:pPr indent="0" marL="0">
              <a:buNone/>
            </a:pPr>
            <a:r>
              <a:rPr lang="en-US" sz="1500" i="1" dirty="0">
                <a:solidFill>
                  <a:srgbClr val="16191C"/>
                </a:solidFill>
                <a:latin typeface="Georgia" pitchFamily="34" charset="0"/>
                <a:ea typeface="Georgia" pitchFamily="34" charset="-122"/>
                <a:cs typeface="Georgia" pitchFamily="34" charset="-120"/>
              </a:rPr>
              <a:t>No edge found, and the system says so.</a:t>
            </a:r>
            <a:endParaRPr lang="en-US" sz="1500" dirty="0"/>
          </a:p>
        </p:txBody>
      </p:sp>
      <p:sp>
        <p:nvSpPr>
          <p:cNvPr id="25" name="Text 22"/>
          <p:cNvSpPr txBox="1"/>
          <p:nvPr/>
        </p:nvSpPr>
        <p:spPr>
          <a:xfrm>
            <a:off x="8171688" y="1783080"/>
            <a:ext cx="3422904" cy="219456"/>
          </a:xfrm>
          <a:prstGeom prst="rect">
            <a:avLst/>
          </a:prstGeom>
          <a:noFill/>
          <a:ln/>
        </p:spPr>
        <p:txBody>
          <a:bodyPr wrap="square" lIns="0" tIns="0" rIns="0" bIns="0" rtlCol="0" anchor="t"/>
          <a:lstStyle/>
          <a:p>
            <a:pPr indent="0" marL="0">
              <a:buNone/>
            </a:pPr>
            <a:r>
              <a:rPr lang="en-US" sz="950" b="1" spc="200" kern="0" dirty="0">
                <a:solidFill>
                  <a:srgbClr val="1F6F5C"/>
                </a:solidFill>
                <a:latin typeface="Arial" pitchFamily="34" charset="0"/>
                <a:ea typeface="Arial" pitchFamily="34" charset="-122"/>
                <a:cs typeface="Arial" pitchFamily="34" charset="-120"/>
              </a:rPr>
              <a:t>TESTED LIKE A USER</a:t>
            </a:r>
            <a:endParaRPr lang="en-US" sz="950" dirty="0"/>
          </a:p>
        </p:txBody>
      </p:sp>
      <p:sp>
        <p:nvSpPr>
          <p:cNvPr id="26" name="Text 23"/>
          <p:cNvSpPr txBox="1"/>
          <p:nvPr/>
        </p:nvSpPr>
        <p:spPr>
          <a:xfrm>
            <a:off x="8171688" y="2029968"/>
            <a:ext cx="3422904" cy="658368"/>
          </a:xfrm>
          <a:prstGeom prst="rect">
            <a:avLst/>
          </a:prstGeom>
          <a:noFill/>
          <a:ln/>
        </p:spPr>
        <p:txBody>
          <a:bodyPr wrap="square" lIns="0" tIns="0" rIns="0" bIns="0" rtlCol="0" anchor="t"/>
          <a:lstStyle/>
          <a:p>
            <a:pPr indent="0" marL="0">
              <a:buNone/>
            </a:pPr>
            <a:r>
              <a:rPr lang="en-US" sz="4000" dirty="0">
                <a:solidFill>
                  <a:srgbClr val="16191C"/>
                </a:solidFill>
                <a:latin typeface="Cambria" pitchFamily="34" charset="0"/>
                <a:ea typeface="Cambria" pitchFamily="34" charset="-122"/>
                <a:cs typeface="Cambria" pitchFamily="34" charset="-120"/>
              </a:rPr>
              <a:t>138</a:t>
            </a:r>
            <a:endParaRPr lang="en-US" sz="4000" dirty="0"/>
          </a:p>
        </p:txBody>
      </p:sp>
      <p:sp>
        <p:nvSpPr>
          <p:cNvPr id="27" name="Text 24"/>
          <p:cNvSpPr txBox="1"/>
          <p:nvPr/>
        </p:nvSpPr>
        <p:spPr>
          <a:xfrm>
            <a:off x="8171688" y="2724912"/>
            <a:ext cx="3422904" cy="411480"/>
          </a:xfrm>
          <a:prstGeom prst="rect">
            <a:avLst/>
          </a:prstGeom>
          <a:noFill/>
          <a:ln/>
        </p:spPr>
        <p:txBody>
          <a:bodyPr wrap="square" lIns="0" tIns="0" rIns="0" bIns="0" rtlCol="0" anchor="t"/>
          <a:lstStyle/>
          <a:p>
            <a:pPr indent="0" marL="0">
              <a:buNone/>
            </a:pPr>
            <a:r>
              <a:rPr lang="en-US" sz="1100" dirty="0">
                <a:solidFill>
                  <a:srgbClr val="6F747A"/>
                </a:solidFill>
                <a:latin typeface="Arial" pitchFamily="34" charset="0"/>
                <a:ea typeface="Arial" pitchFamily="34" charset="-122"/>
                <a:cs typeface="Arial" pitchFamily="34" charset="-120"/>
              </a:rPr>
              <a:t>browser checks on live data, 0 console errors.</a:t>
            </a:r>
            <a:endParaRPr lang="en-US" sz="1100" dirty="0"/>
          </a:p>
        </p:txBody>
      </p:sp>
      <p:sp>
        <p:nvSpPr>
          <p:cNvPr id="28" name="Shape 25"/>
          <p:cNvSpPr/>
          <p:nvPr/>
        </p:nvSpPr>
        <p:spPr>
          <a:xfrm>
            <a:off x="8171688" y="3310128"/>
            <a:ext cx="3422904" cy="0"/>
          </a:xfrm>
          <a:prstGeom prst="line">
            <a:avLst/>
          </a:prstGeom>
          <a:noFill/>
          <a:ln w="9525">
            <a:solidFill>
              <a:srgbClr val="D6D1C7"/>
            </a:solidFill>
            <a:prstDash val="solid"/>
          </a:ln>
        </p:spPr>
      </p:sp>
      <p:sp>
        <p:nvSpPr>
          <p:cNvPr id="29" name="Text 26"/>
          <p:cNvSpPr txBox="1"/>
          <p:nvPr/>
        </p:nvSpPr>
        <p:spPr>
          <a:xfrm>
            <a:off x="8171688" y="3383280"/>
            <a:ext cx="2325624" cy="219456"/>
          </a:xfrm>
          <a:prstGeom prst="rect">
            <a:avLst/>
          </a:prstGeom>
          <a:noFill/>
          <a:ln/>
        </p:spPr>
        <p:txBody>
          <a:bodyPr wrap="square" lIns="0" tIns="0" rIns="0" bIns="0" rtlCol="0" anchor="t"/>
          <a:lstStyle/>
          <a:p>
            <a:pPr indent="0" marL="0">
              <a:buNone/>
            </a:pPr>
            <a:r>
              <a:rPr lang="en-US" sz="1200" dirty="0">
                <a:solidFill>
                  <a:srgbClr val="3B4045"/>
                </a:solidFill>
                <a:latin typeface="Arial" pitchFamily="34" charset="0"/>
                <a:ea typeface="Arial" pitchFamily="34" charset="-122"/>
                <a:cs typeface="Arial" pitchFamily="34" charset="-120"/>
              </a:rPr>
              <a:t>Market feed switched off</a:t>
            </a:r>
            <a:endParaRPr lang="en-US" sz="1200" dirty="0"/>
          </a:p>
        </p:txBody>
      </p:sp>
      <p:sp>
        <p:nvSpPr>
          <p:cNvPr id="30" name="Text 27"/>
          <p:cNvSpPr txBox="1"/>
          <p:nvPr/>
        </p:nvSpPr>
        <p:spPr>
          <a:xfrm>
            <a:off x="10497312" y="3383280"/>
            <a:ext cx="1097280" cy="219456"/>
          </a:xfrm>
          <a:prstGeom prst="rect">
            <a:avLst/>
          </a:prstGeom>
          <a:noFill/>
          <a:ln/>
        </p:spPr>
        <p:txBody>
          <a:bodyPr wrap="square" lIns="0" tIns="0" rIns="0" bIns="0" rtlCol="0" anchor="t"/>
          <a:lstStyle/>
          <a:p>
            <a:pPr algn="r" indent="0" marL="0">
              <a:buNone/>
            </a:pPr>
            <a:r>
              <a:rPr lang="en-US" sz="1200" b="1" dirty="0">
                <a:solidFill>
                  <a:srgbClr val="16191C"/>
                </a:solidFill>
                <a:latin typeface="Arial" pitchFamily="34" charset="0"/>
                <a:ea typeface="Arial" pitchFamily="34" charset="-122"/>
                <a:cs typeface="Arial" pitchFamily="34" charset="-120"/>
              </a:rPr>
              <a:t>124</a:t>
            </a:r>
            <a:endParaRPr lang="en-US" sz="1200" dirty="0"/>
          </a:p>
        </p:txBody>
      </p:sp>
      <p:sp>
        <p:nvSpPr>
          <p:cNvPr id="31" name="Shape 28"/>
          <p:cNvSpPr/>
          <p:nvPr/>
        </p:nvSpPr>
        <p:spPr>
          <a:xfrm>
            <a:off x="8171688" y="3648456"/>
            <a:ext cx="3422904" cy="0"/>
          </a:xfrm>
          <a:prstGeom prst="line">
            <a:avLst/>
          </a:prstGeom>
          <a:noFill/>
          <a:ln w="9525">
            <a:solidFill>
              <a:srgbClr val="D6D1C7"/>
            </a:solidFill>
            <a:prstDash val="solid"/>
          </a:ln>
        </p:spPr>
      </p:sp>
      <p:sp>
        <p:nvSpPr>
          <p:cNvPr id="32" name="Text 29"/>
          <p:cNvSpPr txBox="1"/>
          <p:nvPr/>
        </p:nvSpPr>
        <p:spPr>
          <a:xfrm>
            <a:off x="8171688" y="3721608"/>
            <a:ext cx="2325624" cy="219456"/>
          </a:xfrm>
          <a:prstGeom prst="rect">
            <a:avLst/>
          </a:prstGeom>
          <a:noFill/>
          <a:ln/>
        </p:spPr>
        <p:txBody>
          <a:bodyPr wrap="square" lIns="0" tIns="0" rIns="0" bIns="0" rtlCol="0" anchor="t"/>
          <a:lstStyle/>
          <a:p>
            <a:pPr indent="0" marL="0">
              <a:buNone/>
            </a:pPr>
            <a:r>
              <a:rPr lang="en-US" sz="1200" dirty="0">
                <a:solidFill>
                  <a:srgbClr val="3B4045"/>
                </a:solidFill>
                <a:latin typeface="Arial" pitchFamily="34" charset="0"/>
                <a:ea typeface="Arial" pitchFamily="34" charset="-122"/>
                <a:cs typeface="Arial" pitchFamily="34" charset="-120"/>
              </a:rPr>
              <a:t>Backend not running</a:t>
            </a:r>
            <a:endParaRPr lang="en-US" sz="1200" dirty="0"/>
          </a:p>
        </p:txBody>
      </p:sp>
      <p:sp>
        <p:nvSpPr>
          <p:cNvPr id="33" name="Text 30"/>
          <p:cNvSpPr txBox="1"/>
          <p:nvPr/>
        </p:nvSpPr>
        <p:spPr>
          <a:xfrm>
            <a:off x="10497312" y="3721608"/>
            <a:ext cx="1097280" cy="219456"/>
          </a:xfrm>
          <a:prstGeom prst="rect">
            <a:avLst/>
          </a:prstGeom>
          <a:noFill/>
          <a:ln/>
        </p:spPr>
        <p:txBody>
          <a:bodyPr wrap="square" lIns="0" tIns="0" rIns="0" bIns="0" rtlCol="0" anchor="t"/>
          <a:lstStyle/>
          <a:p>
            <a:pPr algn="r" indent="0" marL="0">
              <a:buNone/>
            </a:pPr>
            <a:r>
              <a:rPr lang="en-US" sz="1200" b="1" dirty="0">
                <a:solidFill>
                  <a:srgbClr val="16191C"/>
                </a:solidFill>
                <a:latin typeface="Arial" pitchFamily="34" charset="0"/>
                <a:ea typeface="Arial" pitchFamily="34" charset="-122"/>
                <a:cs typeface="Arial" pitchFamily="34" charset="-120"/>
              </a:rPr>
              <a:t>124</a:t>
            </a:r>
            <a:endParaRPr lang="en-US" sz="1200" dirty="0"/>
          </a:p>
        </p:txBody>
      </p:sp>
      <p:sp>
        <p:nvSpPr>
          <p:cNvPr id="34" name="Shape 31"/>
          <p:cNvSpPr/>
          <p:nvPr/>
        </p:nvSpPr>
        <p:spPr>
          <a:xfrm>
            <a:off x="8171688" y="3986784"/>
            <a:ext cx="3422904" cy="0"/>
          </a:xfrm>
          <a:prstGeom prst="line">
            <a:avLst/>
          </a:prstGeom>
          <a:noFill/>
          <a:ln w="9525">
            <a:solidFill>
              <a:srgbClr val="D6D1C7"/>
            </a:solidFill>
            <a:prstDash val="solid"/>
          </a:ln>
        </p:spPr>
      </p:sp>
      <p:sp>
        <p:nvSpPr>
          <p:cNvPr id="35" name="Text 32"/>
          <p:cNvSpPr txBox="1"/>
          <p:nvPr/>
        </p:nvSpPr>
        <p:spPr>
          <a:xfrm>
            <a:off x="8171688" y="4059936"/>
            <a:ext cx="2325624" cy="219456"/>
          </a:xfrm>
          <a:prstGeom prst="rect">
            <a:avLst/>
          </a:prstGeom>
          <a:noFill/>
          <a:ln/>
        </p:spPr>
        <p:txBody>
          <a:bodyPr wrap="square" lIns="0" tIns="0" rIns="0" bIns="0" rtlCol="0" anchor="t"/>
          <a:lstStyle/>
          <a:p>
            <a:pPr indent="0" marL="0">
              <a:buNone/>
            </a:pPr>
            <a:r>
              <a:rPr lang="en-US" sz="1200" dirty="0">
                <a:solidFill>
                  <a:srgbClr val="3B4045"/>
                </a:solidFill>
                <a:latin typeface="Arial" pitchFamily="34" charset="0"/>
                <a:ea typeface="Arial" pitchFamily="34" charset="-122"/>
                <a:cs typeface="Arial" pitchFamily="34" charset="-120"/>
              </a:rPr>
              <a:t>Browser tests, offline</a:t>
            </a:r>
            <a:endParaRPr lang="en-US" sz="1200" dirty="0"/>
          </a:p>
        </p:txBody>
      </p:sp>
      <p:sp>
        <p:nvSpPr>
          <p:cNvPr id="36" name="Text 33"/>
          <p:cNvSpPr txBox="1"/>
          <p:nvPr/>
        </p:nvSpPr>
        <p:spPr>
          <a:xfrm>
            <a:off x="10497312" y="4059936"/>
            <a:ext cx="1097280" cy="219456"/>
          </a:xfrm>
          <a:prstGeom prst="rect">
            <a:avLst/>
          </a:prstGeom>
          <a:noFill/>
          <a:ln/>
        </p:spPr>
        <p:txBody>
          <a:bodyPr wrap="square" lIns="0" tIns="0" rIns="0" bIns="0" rtlCol="0" anchor="t"/>
          <a:lstStyle/>
          <a:p>
            <a:pPr algn="r" indent="0" marL="0">
              <a:buNone/>
            </a:pPr>
            <a:r>
              <a:rPr lang="en-US" sz="1200" b="1" dirty="0">
                <a:solidFill>
                  <a:srgbClr val="16191C"/>
                </a:solidFill>
                <a:latin typeface="Arial" pitchFamily="34" charset="0"/>
                <a:ea typeface="Arial" pitchFamily="34" charset="-122"/>
                <a:cs typeface="Arial" pitchFamily="34" charset="-120"/>
              </a:rPr>
              <a:t>15 / 15</a:t>
            </a:r>
            <a:endParaRPr lang="en-US" sz="1200" dirty="0"/>
          </a:p>
        </p:txBody>
      </p:sp>
      <p:sp>
        <p:nvSpPr>
          <p:cNvPr id="37" name="Shape 34"/>
          <p:cNvSpPr/>
          <p:nvPr/>
        </p:nvSpPr>
        <p:spPr>
          <a:xfrm>
            <a:off x="8171688" y="4325112"/>
            <a:ext cx="3422904" cy="0"/>
          </a:xfrm>
          <a:prstGeom prst="line">
            <a:avLst/>
          </a:prstGeom>
          <a:noFill/>
          <a:ln w="9525">
            <a:solidFill>
              <a:srgbClr val="D6D1C7"/>
            </a:solidFill>
            <a:prstDash val="solid"/>
          </a:ln>
        </p:spPr>
      </p:sp>
      <p:sp>
        <p:nvSpPr>
          <p:cNvPr id="38" name="Text 35"/>
          <p:cNvSpPr txBox="1"/>
          <p:nvPr/>
        </p:nvSpPr>
        <p:spPr>
          <a:xfrm>
            <a:off x="8171688" y="4398264"/>
            <a:ext cx="2325624" cy="219456"/>
          </a:xfrm>
          <a:prstGeom prst="rect">
            <a:avLst/>
          </a:prstGeom>
          <a:noFill/>
          <a:ln/>
        </p:spPr>
        <p:txBody>
          <a:bodyPr wrap="square" lIns="0" tIns="0" rIns="0" bIns="0" rtlCol="0" anchor="t"/>
          <a:lstStyle/>
          <a:p>
            <a:pPr indent="0" marL="0">
              <a:buNone/>
            </a:pPr>
            <a:r>
              <a:rPr lang="en-US" sz="1200" dirty="0">
                <a:solidFill>
                  <a:srgbClr val="3B4045"/>
                </a:solidFill>
                <a:latin typeface="Arial" pitchFamily="34" charset="0"/>
                <a:ea typeface="Arial" pitchFamily="34" charset="-122"/>
                <a:cs typeface="Arial" pitchFamily="34" charset="-120"/>
              </a:rPr>
              <a:t>Backend tests</a:t>
            </a:r>
            <a:endParaRPr lang="en-US" sz="1200" dirty="0"/>
          </a:p>
        </p:txBody>
      </p:sp>
      <p:sp>
        <p:nvSpPr>
          <p:cNvPr id="39" name="Text 36"/>
          <p:cNvSpPr txBox="1"/>
          <p:nvPr/>
        </p:nvSpPr>
        <p:spPr>
          <a:xfrm>
            <a:off x="10497312" y="4398264"/>
            <a:ext cx="1097280" cy="219456"/>
          </a:xfrm>
          <a:prstGeom prst="rect">
            <a:avLst/>
          </a:prstGeom>
          <a:noFill/>
          <a:ln/>
        </p:spPr>
        <p:txBody>
          <a:bodyPr wrap="square" lIns="0" tIns="0" rIns="0" bIns="0" rtlCol="0" anchor="t"/>
          <a:lstStyle/>
          <a:p>
            <a:pPr algn="r" indent="0" marL="0">
              <a:buNone/>
            </a:pPr>
            <a:r>
              <a:rPr lang="en-US" sz="1200" b="1" dirty="0">
                <a:solidFill>
                  <a:srgbClr val="16191C"/>
                </a:solidFill>
                <a:latin typeface="Arial" pitchFamily="34" charset="0"/>
                <a:ea typeface="Arial" pitchFamily="34" charset="-122"/>
                <a:cs typeface="Arial" pitchFamily="34" charset="-120"/>
              </a:rPr>
              <a:t>107</a:t>
            </a:r>
            <a:endParaRPr lang="en-US" sz="1200" dirty="0"/>
          </a:p>
        </p:txBody>
      </p:sp>
      <p:sp>
        <p:nvSpPr>
          <p:cNvPr id="40" name="Shape 37"/>
          <p:cNvSpPr/>
          <p:nvPr/>
        </p:nvSpPr>
        <p:spPr>
          <a:xfrm>
            <a:off x="8171688" y="4663440"/>
            <a:ext cx="3422904" cy="0"/>
          </a:xfrm>
          <a:prstGeom prst="line">
            <a:avLst/>
          </a:prstGeom>
          <a:noFill/>
          <a:ln w="9525">
            <a:solidFill>
              <a:srgbClr val="D6D1C7"/>
            </a:solidFill>
            <a:prstDash val="solid"/>
          </a:ln>
        </p:spPr>
      </p:sp>
      <p:sp>
        <p:nvSpPr>
          <p:cNvPr id="41" name="Text 38"/>
          <p:cNvSpPr txBox="1"/>
          <p:nvPr/>
        </p:nvSpPr>
        <p:spPr>
          <a:xfrm>
            <a:off x="8171688" y="4736592"/>
            <a:ext cx="2325624" cy="219456"/>
          </a:xfrm>
          <a:prstGeom prst="rect">
            <a:avLst/>
          </a:prstGeom>
          <a:noFill/>
          <a:ln/>
        </p:spPr>
        <p:txBody>
          <a:bodyPr wrap="square" lIns="0" tIns="0" rIns="0" bIns="0" rtlCol="0" anchor="t"/>
          <a:lstStyle/>
          <a:p>
            <a:pPr indent="0" marL="0">
              <a:buNone/>
            </a:pPr>
            <a:r>
              <a:rPr lang="en-US" sz="1200" dirty="0">
                <a:solidFill>
                  <a:srgbClr val="3B4045"/>
                </a:solidFill>
                <a:latin typeface="Arial" pitchFamily="34" charset="0"/>
                <a:ea typeface="Arial" pitchFamily="34" charset="-122"/>
                <a:cs typeface="Arial" pitchFamily="34" charset="-120"/>
              </a:rPr>
              <a:t>Front-end tests</a:t>
            </a:r>
            <a:endParaRPr lang="en-US" sz="1200" dirty="0"/>
          </a:p>
        </p:txBody>
      </p:sp>
      <p:sp>
        <p:nvSpPr>
          <p:cNvPr id="42" name="Text 39"/>
          <p:cNvSpPr txBox="1"/>
          <p:nvPr/>
        </p:nvSpPr>
        <p:spPr>
          <a:xfrm>
            <a:off x="10497312" y="4736592"/>
            <a:ext cx="1097280" cy="219456"/>
          </a:xfrm>
          <a:prstGeom prst="rect">
            <a:avLst/>
          </a:prstGeom>
          <a:noFill/>
          <a:ln/>
        </p:spPr>
        <p:txBody>
          <a:bodyPr wrap="square" lIns="0" tIns="0" rIns="0" bIns="0" rtlCol="0" anchor="t"/>
          <a:lstStyle/>
          <a:p>
            <a:pPr algn="r" indent="0" marL="0">
              <a:buNone/>
            </a:pPr>
            <a:r>
              <a:rPr lang="en-US" sz="1200" b="1" dirty="0">
                <a:solidFill>
                  <a:srgbClr val="16191C"/>
                </a:solidFill>
                <a:latin typeface="Arial" pitchFamily="34" charset="0"/>
                <a:ea typeface="Arial" pitchFamily="34" charset="-122"/>
                <a:cs typeface="Arial" pitchFamily="34" charset="-120"/>
              </a:rPr>
              <a:t>112</a:t>
            </a:r>
            <a:endParaRPr lang="en-US" sz="1200" dirty="0"/>
          </a:p>
        </p:txBody>
      </p:sp>
      <p:sp>
        <p:nvSpPr>
          <p:cNvPr id="43" name="Shape 40"/>
          <p:cNvSpPr/>
          <p:nvPr/>
        </p:nvSpPr>
        <p:spPr>
          <a:xfrm>
            <a:off x="8171688" y="5001768"/>
            <a:ext cx="3422904" cy="0"/>
          </a:xfrm>
          <a:prstGeom prst="line">
            <a:avLst/>
          </a:prstGeom>
          <a:noFill/>
          <a:ln w="9525">
            <a:solidFill>
              <a:srgbClr val="D6D1C7"/>
            </a:solidFill>
            <a:prstDash val="solid"/>
          </a:ln>
        </p:spPr>
      </p:sp>
      <p:sp>
        <p:nvSpPr>
          <p:cNvPr id="44" name="Text 41"/>
          <p:cNvSpPr txBox="1"/>
          <p:nvPr/>
        </p:nvSpPr>
        <p:spPr>
          <a:xfrm>
            <a:off x="8171688" y="5074920"/>
            <a:ext cx="2325624" cy="219456"/>
          </a:xfrm>
          <a:prstGeom prst="rect">
            <a:avLst/>
          </a:prstGeom>
          <a:noFill/>
          <a:ln/>
        </p:spPr>
        <p:txBody>
          <a:bodyPr wrap="square" lIns="0" tIns="0" rIns="0" bIns="0" rtlCol="0" anchor="t"/>
          <a:lstStyle/>
          <a:p>
            <a:pPr indent="0" marL="0">
              <a:buNone/>
            </a:pPr>
            <a:r>
              <a:rPr lang="en-US" sz="1200" dirty="0">
                <a:solidFill>
                  <a:srgbClr val="3B4045"/>
                </a:solidFill>
                <a:latin typeface="Arial" pitchFamily="34" charset="0"/>
                <a:ea typeface="Arial" pitchFamily="34" charset="-122"/>
                <a:cs typeface="Arial" pitchFamily="34" charset="-120"/>
              </a:rPr>
              <a:t>Serious accessibility issues</a:t>
            </a:r>
            <a:endParaRPr lang="en-US" sz="1200" dirty="0"/>
          </a:p>
        </p:txBody>
      </p:sp>
      <p:sp>
        <p:nvSpPr>
          <p:cNvPr id="45" name="Text 42"/>
          <p:cNvSpPr txBox="1"/>
          <p:nvPr/>
        </p:nvSpPr>
        <p:spPr>
          <a:xfrm>
            <a:off x="10497312" y="5074920"/>
            <a:ext cx="1097280" cy="219456"/>
          </a:xfrm>
          <a:prstGeom prst="rect">
            <a:avLst/>
          </a:prstGeom>
          <a:noFill/>
          <a:ln/>
        </p:spPr>
        <p:txBody>
          <a:bodyPr wrap="square" lIns="0" tIns="0" rIns="0" bIns="0" rtlCol="0" anchor="t"/>
          <a:lstStyle/>
          <a:p>
            <a:pPr algn="r" indent="0" marL="0">
              <a:buNone/>
            </a:pPr>
            <a:r>
              <a:rPr lang="en-US" sz="1200" b="1" dirty="0">
                <a:solidFill>
                  <a:srgbClr val="16191C"/>
                </a:solidFill>
                <a:latin typeface="Arial" pitchFamily="34" charset="0"/>
                <a:ea typeface="Arial" pitchFamily="34" charset="-122"/>
                <a:cs typeface="Arial" pitchFamily="34" charset="-120"/>
              </a:rPr>
              <a:t>0</a:t>
            </a:r>
            <a:endParaRPr lang="en-US" sz="1200" dirty="0"/>
          </a:p>
        </p:txBody>
      </p:sp>
      <p:sp>
        <p:nvSpPr>
          <p:cNvPr id="46" name="Text 43"/>
          <p:cNvSpPr txBox="1"/>
          <p:nvPr/>
        </p:nvSpPr>
        <p:spPr>
          <a:xfrm>
            <a:off x="594360" y="5669280"/>
            <a:ext cx="11000232" cy="457200"/>
          </a:xfrm>
          <a:prstGeom prst="rect">
            <a:avLst/>
          </a:prstGeom>
          <a:noFill/>
          <a:ln/>
        </p:spPr>
        <p:txBody>
          <a:bodyPr wrap="square" lIns="0" tIns="0" rIns="0" bIns="0" rtlCol="0" anchor="t"/>
          <a:lstStyle/>
          <a:p>
            <a:pPr indent="0" marL="0">
              <a:buNone/>
            </a:pPr>
            <a:r>
              <a:rPr lang="en-US" sz="1150" b="1" dirty="0">
                <a:solidFill>
                  <a:srgbClr val="16191C"/>
                </a:solidFill>
                <a:latin typeface="Arial" pitchFamily="34" charset="0"/>
                <a:ea typeface="Arial" pitchFamily="34" charset="-122"/>
                <a:cs typeface="Arial" pitchFamily="34" charset="-120"/>
              </a:rPr>
              <a:t>Discussion   </a:t>
            </a:r>
            <a:pPr indent="0" marL="0">
              <a:buNone/>
            </a:pPr>
            <a:r>
              <a:rPr lang="en-US" sz="1150" dirty="0">
                <a:solidFill>
                  <a:srgbClr val="3B4045"/>
                </a:solidFill>
                <a:latin typeface="Arial" pitchFamily="34" charset="0"/>
                <a:ea typeface="Arial" pitchFamily="34" charset="-122"/>
                <a:cs typeface="Arial" pitchFamily="34" charset="-120"/>
              </a:rPr>
              <a:t>The user-style run caught what unit tests missed: a retired Tata Motors ticker, a −99% value at risk printed as rupees, and an unreadable light theme. Each is fixed and now has a test.</a:t>
            </a:r>
            <a:endParaRPr lang="en-US" sz="1150" dirty="0"/>
          </a:p>
        </p:txBody>
      </p:sp>
      <p:sp>
        <p:nvSpPr>
          <p:cNvPr id="47" name="Text 44"/>
          <p:cNvSpPr txBox="1"/>
          <p:nvPr/>
        </p:nvSpPr>
        <p:spPr>
          <a:xfrm>
            <a:off x="594360" y="6382512"/>
            <a:ext cx="2743200" cy="201168"/>
          </a:xfrm>
          <a:prstGeom prst="rect">
            <a:avLst/>
          </a:prstGeom>
          <a:noFill/>
          <a:ln/>
        </p:spPr>
        <p:txBody>
          <a:bodyPr wrap="square" lIns="0" tIns="0" rIns="0" bIns="0" rtlCol="0" anchor="t"/>
          <a:lstStyle/>
          <a:p>
            <a:pPr indent="0" marL="0">
              <a:buNone/>
            </a:pPr>
            <a:r>
              <a:rPr lang="en-US" sz="1000" i="1" dirty="0">
                <a:solidFill>
                  <a:srgbClr val="6F747A"/>
                </a:solidFill>
                <a:latin typeface="Georgia" pitchFamily="34" charset="0"/>
                <a:ea typeface="Georgia" pitchFamily="34" charset="-122"/>
                <a:cs typeface="Georgia" pitchFamily="34" charset="-120"/>
              </a:rPr>
              <a:t>MarketLens</a:t>
            </a:r>
            <a:endParaRPr lang="en-US" sz="1000" dirty="0"/>
          </a:p>
        </p:txBody>
      </p:sp>
      <p:sp>
        <p:nvSpPr>
          <p:cNvPr id="48" name="Text 45"/>
          <p:cNvSpPr txBox="1"/>
          <p:nvPr/>
        </p:nvSpPr>
        <p:spPr>
          <a:xfrm>
            <a:off x="9765792" y="6382512"/>
            <a:ext cx="1828800" cy="201168"/>
          </a:xfrm>
          <a:prstGeom prst="rect">
            <a:avLst/>
          </a:prstGeom>
          <a:noFill/>
          <a:ln/>
        </p:spPr>
        <p:txBody>
          <a:bodyPr wrap="square" lIns="0" tIns="0" rIns="0" bIns="0" rtlCol="0" anchor="t"/>
          <a:lstStyle/>
          <a:p>
            <a:pPr algn="r" indent="0" marL="0">
              <a:buNone/>
            </a:pPr>
            <a:r>
              <a:rPr lang="en-US" sz="900" spc="100" kern="0" dirty="0">
                <a:solidFill>
                  <a:srgbClr val="6F747A"/>
                </a:solidFill>
                <a:latin typeface="Arial" pitchFamily="34" charset="0"/>
                <a:ea typeface="Arial" pitchFamily="34" charset="-122"/>
                <a:cs typeface="Arial" pitchFamily="34" charset="-120"/>
              </a:rPr>
              <a:t>10 / 12</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94360" y="457200"/>
            <a:ext cx="6400800" cy="228600"/>
          </a:xfrm>
          <a:prstGeom prst="rect">
            <a:avLst/>
          </a:prstGeom>
          <a:noFill/>
          <a:ln/>
        </p:spPr>
        <p:txBody>
          <a:bodyPr wrap="square" lIns="0" tIns="0" rIns="0" bIns="0" rtlCol="0" anchor="t"/>
          <a:lstStyle/>
          <a:p>
            <a:pPr indent="0" marL="0">
              <a:buNone/>
            </a:pPr>
            <a:r>
              <a:rPr lang="en-US" sz="950" b="1" spc="200" kern="0" dirty="0">
                <a:solidFill>
                  <a:srgbClr val="16191C"/>
                </a:solidFill>
                <a:latin typeface="Arial" pitchFamily="34" charset="0"/>
                <a:ea typeface="Arial" pitchFamily="34" charset="-122"/>
                <a:cs typeface="Arial" pitchFamily="34" charset="-120"/>
              </a:rPr>
              <a:t>No. 11</a:t>
            </a:r>
            <a:pPr indent="0" marL="0">
              <a:buNone/>
            </a:pPr>
            <a:r>
              <a:rPr lang="en-US" sz="950" b="1" spc="200" kern="0" dirty="0">
                <a:solidFill>
                  <a:srgbClr val="1F6F5C"/>
                </a:solidFill>
                <a:latin typeface="Arial" pitchFamily="34" charset="0"/>
                <a:ea typeface="Arial" pitchFamily="34" charset="-122"/>
                <a:cs typeface="Arial" pitchFamily="34" charset="-120"/>
              </a:rPr>
              <a:t>     ADVANTAGES AND APPLICATIONS</a:t>
            </a:r>
            <a:endParaRPr lang="en-US" sz="950" dirty="0"/>
          </a:p>
        </p:txBody>
      </p:sp>
      <p:sp>
        <p:nvSpPr>
          <p:cNvPr id="3" name="Text 1"/>
          <p:cNvSpPr txBox="1"/>
          <p:nvPr/>
        </p:nvSpPr>
        <p:spPr>
          <a:xfrm>
            <a:off x="594360" y="749808"/>
            <a:ext cx="11000232" cy="731520"/>
          </a:xfrm>
          <a:prstGeom prst="rect">
            <a:avLst/>
          </a:prstGeom>
          <a:noFill/>
          <a:ln/>
        </p:spPr>
        <p:txBody>
          <a:bodyPr wrap="square" lIns="0" tIns="0" rIns="0" bIns="0" rtlCol="0" anchor="t"/>
          <a:lstStyle/>
          <a:p>
            <a:pPr indent="0" marL="0">
              <a:buNone/>
            </a:pPr>
            <a:r>
              <a:rPr lang="en-US" sz="3200" dirty="0">
                <a:solidFill>
                  <a:srgbClr val="16191C"/>
                </a:solidFill>
                <a:latin typeface="Georgia" pitchFamily="34" charset="0"/>
                <a:ea typeface="Georgia" pitchFamily="34" charset="-122"/>
                <a:cs typeface="Georgia" pitchFamily="34" charset="-120"/>
              </a:rPr>
              <a:t>Built for learning what trading really costs.</a:t>
            </a:r>
            <a:endParaRPr lang="en-US" sz="3200" dirty="0"/>
          </a:p>
        </p:txBody>
      </p:sp>
      <p:sp>
        <p:nvSpPr>
          <p:cNvPr id="4" name="Text 2"/>
          <p:cNvSpPr txBox="1"/>
          <p:nvPr/>
        </p:nvSpPr>
        <p:spPr>
          <a:xfrm>
            <a:off x="594360" y="1783080"/>
            <a:ext cx="2743200" cy="219456"/>
          </a:xfrm>
          <a:prstGeom prst="rect">
            <a:avLst/>
          </a:prstGeom>
          <a:noFill/>
          <a:ln/>
        </p:spPr>
        <p:txBody>
          <a:bodyPr wrap="square" lIns="0" tIns="0" rIns="0" bIns="0" rtlCol="0" anchor="t"/>
          <a:lstStyle/>
          <a:p>
            <a:pPr indent="0" marL="0">
              <a:buNone/>
            </a:pPr>
            <a:r>
              <a:rPr lang="en-US" sz="950" b="1" spc="200" kern="0" dirty="0">
                <a:solidFill>
                  <a:srgbClr val="1F6F5C"/>
                </a:solidFill>
                <a:latin typeface="Arial" pitchFamily="34" charset="0"/>
                <a:ea typeface="Arial" pitchFamily="34" charset="-122"/>
                <a:cs typeface="Arial" pitchFamily="34" charset="-120"/>
              </a:rPr>
              <a:t>ADVANTAGES</a:t>
            </a:r>
            <a:endParaRPr lang="en-US" sz="950" dirty="0"/>
          </a:p>
        </p:txBody>
      </p:sp>
      <p:sp>
        <p:nvSpPr>
          <p:cNvPr id="5" name="Shape 3"/>
          <p:cNvSpPr/>
          <p:nvPr/>
        </p:nvSpPr>
        <p:spPr>
          <a:xfrm>
            <a:off x="594360" y="2103120"/>
            <a:ext cx="2788920" cy="1143000"/>
          </a:xfrm>
          <a:prstGeom prst="rect">
            <a:avLst/>
          </a:prstGeom>
          <a:solidFill>
            <a:srgbClr val="FFFFFF"/>
          </a:solidFill>
          <a:ln w="9525">
            <a:solidFill>
              <a:srgbClr val="D6D1C7"/>
            </a:solidFill>
            <a:prstDash val="solid"/>
          </a:ln>
          <a:effectLst>
            <a:outerShdw sx="100000" sy="100000" kx="0" ky="0" algn="bl" rotWithShape="0" blurRad="127000" dist="25400" dir="5400000">
              <a:srgbClr val="000000">
                <a:alpha val="7000"/>
              </a:srgbClr>
            </a:outerShdw>
          </a:effectLst>
        </p:spPr>
      </p:sp>
      <p:sp>
        <p:nvSpPr>
          <p:cNvPr id="6" name="Text 4"/>
          <p:cNvSpPr txBox="1"/>
          <p:nvPr/>
        </p:nvSpPr>
        <p:spPr>
          <a:xfrm>
            <a:off x="795528" y="2286000"/>
            <a:ext cx="457200" cy="274320"/>
          </a:xfrm>
          <a:prstGeom prst="rect">
            <a:avLst/>
          </a:prstGeom>
          <a:noFill/>
          <a:ln/>
        </p:spPr>
        <p:txBody>
          <a:bodyPr wrap="square" lIns="0" tIns="0" rIns="0" bIns="0" rtlCol="0" anchor="t"/>
          <a:lstStyle/>
          <a:p>
            <a:pPr indent="0" marL="0">
              <a:buNone/>
            </a:pPr>
            <a:r>
              <a:rPr lang="en-US" sz="1400" b="1" dirty="0">
                <a:solidFill>
                  <a:srgbClr val="1F6F5C"/>
                </a:solidFill>
                <a:latin typeface="Cambria" pitchFamily="34" charset="0"/>
                <a:ea typeface="Cambria" pitchFamily="34" charset="-122"/>
                <a:cs typeface="Cambria" pitchFamily="34" charset="-120"/>
              </a:rPr>
              <a:t>01</a:t>
            </a:r>
            <a:endParaRPr lang="en-US" sz="1400" dirty="0"/>
          </a:p>
        </p:txBody>
      </p:sp>
      <p:sp>
        <p:nvSpPr>
          <p:cNvPr id="7" name="Text 5"/>
          <p:cNvSpPr txBox="1"/>
          <p:nvPr/>
        </p:nvSpPr>
        <p:spPr>
          <a:xfrm>
            <a:off x="1234440" y="2286000"/>
            <a:ext cx="1965960" cy="274320"/>
          </a:xfrm>
          <a:prstGeom prst="rect">
            <a:avLst/>
          </a:prstGeom>
          <a:noFill/>
          <a:ln/>
        </p:spPr>
        <p:txBody>
          <a:bodyPr wrap="square" lIns="0" tIns="0" rIns="0" bIns="0" rtlCol="0" anchor="t"/>
          <a:lstStyle/>
          <a:p>
            <a:pPr indent="0" marL="0">
              <a:buNone/>
            </a:pPr>
            <a:r>
              <a:rPr lang="en-US" sz="1400" b="1" dirty="0">
                <a:solidFill>
                  <a:srgbClr val="16191C"/>
                </a:solidFill>
                <a:latin typeface="Arial" pitchFamily="34" charset="0"/>
                <a:ea typeface="Arial" pitchFamily="34" charset="-122"/>
                <a:cs typeface="Arial" pitchFamily="34" charset="-120"/>
              </a:rPr>
              <a:t>Real costs</a:t>
            </a:r>
            <a:endParaRPr lang="en-US" sz="1400" dirty="0"/>
          </a:p>
        </p:txBody>
      </p:sp>
      <p:sp>
        <p:nvSpPr>
          <p:cNvPr id="8" name="Text 6"/>
          <p:cNvSpPr txBox="1"/>
          <p:nvPr/>
        </p:nvSpPr>
        <p:spPr>
          <a:xfrm>
            <a:off x="1234440" y="2606040"/>
            <a:ext cx="1965960" cy="548640"/>
          </a:xfrm>
          <a:prstGeom prst="rect">
            <a:avLst/>
          </a:prstGeom>
          <a:noFill/>
          <a:ln/>
        </p:spPr>
        <p:txBody>
          <a:bodyPr wrap="square" lIns="0" tIns="0" rIns="0" bIns="0" rtlCol="0" anchor="t"/>
          <a:lstStyle/>
          <a:p>
            <a:pPr indent="0" marL="0">
              <a:buNone/>
            </a:pPr>
            <a:r>
              <a:rPr lang="en-US" sz="1200" dirty="0">
                <a:solidFill>
                  <a:srgbClr val="3B4045"/>
                </a:solidFill>
                <a:latin typeface="Arial" pitchFamily="34" charset="0"/>
                <a:ea typeface="Arial" pitchFamily="34" charset="-122"/>
                <a:cs typeface="Arial" pitchFamily="34" charset="-120"/>
              </a:rPr>
              <a:t>Seven charges itemised on every order.</a:t>
            </a:r>
            <a:endParaRPr lang="en-US" sz="1200" dirty="0"/>
          </a:p>
        </p:txBody>
      </p:sp>
      <p:sp>
        <p:nvSpPr>
          <p:cNvPr id="9" name="Shape 7"/>
          <p:cNvSpPr/>
          <p:nvPr/>
        </p:nvSpPr>
        <p:spPr>
          <a:xfrm>
            <a:off x="3566160" y="2103120"/>
            <a:ext cx="2788920" cy="1143000"/>
          </a:xfrm>
          <a:prstGeom prst="rect">
            <a:avLst/>
          </a:prstGeom>
          <a:solidFill>
            <a:srgbClr val="FFFFFF"/>
          </a:solidFill>
          <a:ln w="9525">
            <a:solidFill>
              <a:srgbClr val="D6D1C7"/>
            </a:solidFill>
            <a:prstDash val="solid"/>
          </a:ln>
          <a:effectLst>
            <a:outerShdw sx="100000" sy="100000" kx="0" ky="0" algn="bl" rotWithShape="0" blurRad="127000" dist="25400" dir="5400000">
              <a:srgbClr val="000000">
                <a:alpha val="7000"/>
              </a:srgbClr>
            </a:outerShdw>
          </a:effectLst>
        </p:spPr>
      </p:sp>
      <p:sp>
        <p:nvSpPr>
          <p:cNvPr id="10" name="Text 8"/>
          <p:cNvSpPr txBox="1"/>
          <p:nvPr/>
        </p:nvSpPr>
        <p:spPr>
          <a:xfrm>
            <a:off x="3767328" y="2286000"/>
            <a:ext cx="457200" cy="274320"/>
          </a:xfrm>
          <a:prstGeom prst="rect">
            <a:avLst/>
          </a:prstGeom>
          <a:noFill/>
          <a:ln/>
        </p:spPr>
        <p:txBody>
          <a:bodyPr wrap="square" lIns="0" tIns="0" rIns="0" bIns="0" rtlCol="0" anchor="t"/>
          <a:lstStyle/>
          <a:p>
            <a:pPr indent="0" marL="0">
              <a:buNone/>
            </a:pPr>
            <a:r>
              <a:rPr lang="en-US" sz="1400" b="1" dirty="0">
                <a:solidFill>
                  <a:srgbClr val="1F6F5C"/>
                </a:solidFill>
                <a:latin typeface="Cambria" pitchFamily="34" charset="0"/>
                <a:ea typeface="Cambria" pitchFamily="34" charset="-122"/>
                <a:cs typeface="Cambria" pitchFamily="34" charset="-120"/>
              </a:rPr>
              <a:t>02</a:t>
            </a:r>
            <a:endParaRPr lang="en-US" sz="1400" dirty="0"/>
          </a:p>
        </p:txBody>
      </p:sp>
      <p:sp>
        <p:nvSpPr>
          <p:cNvPr id="11" name="Text 9"/>
          <p:cNvSpPr txBox="1"/>
          <p:nvPr/>
        </p:nvSpPr>
        <p:spPr>
          <a:xfrm>
            <a:off x="4206240" y="2286000"/>
            <a:ext cx="1965960" cy="274320"/>
          </a:xfrm>
          <a:prstGeom prst="rect">
            <a:avLst/>
          </a:prstGeom>
          <a:noFill/>
          <a:ln/>
        </p:spPr>
        <p:txBody>
          <a:bodyPr wrap="square" lIns="0" tIns="0" rIns="0" bIns="0" rtlCol="0" anchor="t"/>
          <a:lstStyle/>
          <a:p>
            <a:pPr indent="0" marL="0">
              <a:buNone/>
            </a:pPr>
            <a:r>
              <a:rPr lang="en-US" sz="1400" b="1" dirty="0">
                <a:solidFill>
                  <a:srgbClr val="16191C"/>
                </a:solidFill>
                <a:latin typeface="Arial" pitchFamily="34" charset="0"/>
                <a:ea typeface="Arial" pitchFamily="34" charset="-122"/>
                <a:cs typeface="Arial" pitchFamily="34" charset="-120"/>
              </a:rPr>
              <a:t>Real rules</a:t>
            </a:r>
            <a:endParaRPr lang="en-US" sz="1400" dirty="0"/>
          </a:p>
        </p:txBody>
      </p:sp>
      <p:sp>
        <p:nvSpPr>
          <p:cNvPr id="12" name="Text 10"/>
          <p:cNvSpPr txBox="1"/>
          <p:nvPr/>
        </p:nvSpPr>
        <p:spPr>
          <a:xfrm>
            <a:off x="4206240" y="2606040"/>
            <a:ext cx="1965960" cy="548640"/>
          </a:xfrm>
          <a:prstGeom prst="rect">
            <a:avLst/>
          </a:prstGeom>
          <a:noFill/>
          <a:ln/>
        </p:spPr>
        <p:txBody>
          <a:bodyPr wrap="square" lIns="0" tIns="0" rIns="0" bIns="0" rtlCol="0" anchor="t"/>
          <a:lstStyle/>
          <a:p>
            <a:pPr indent="0" marL="0">
              <a:buNone/>
            </a:pPr>
            <a:r>
              <a:rPr lang="en-US" sz="1200" dirty="0">
                <a:solidFill>
                  <a:srgbClr val="3B4045"/>
                </a:solidFill>
                <a:latin typeface="Arial" pitchFamily="34" charset="0"/>
                <a:ea typeface="Arial" pitchFamily="34" charset="-122"/>
                <a:cs typeface="Arial" pitchFamily="34" charset="-120"/>
              </a:rPr>
              <a:t>Indian sessions, holidays and the 3:15 PM square-off.</a:t>
            </a:r>
            <a:endParaRPr lang="en-US" sz="1200" dirty="0"/>
          </a:p>
        </p:txBody>
      </p:sp>
      <p:sp>
        <p:nvSpPr>
          <p:cNvPr id="13" name="Shape 11"/>
          <p:cNvSpPr/>
          <p:nvPr/>
        </p:nvSpPr>
        <p:spPr>
          <a:xfrm>
            <a:off x="594360" y="3429000"/>
            <a:ext cx="2788920" cy="1143000"/>
          </a:xfrm>
          <a:prstGeom prst="rect">
            <a:avLst/>
          </a:prstGeom>
          <a:solidFill>
            <a:srgbClr val="FFFFFF"/>
          </a:solidFill>
          <a:ln w="9525">
            <a:solidFill>
              <a:srgbClr val="D6D1C7"/>
            </a:solidFill>
            <a:prstDash val="solid"/>
          </a:ln>
          <a:effectLst>
            <a:outerShdw sx="100000" sy="100000" kx="0" ky="0" algn="bl" rotWithShape="0" blurRad="127000" dist="25400" dir="5400000">
              <a:srgbClr val="000000">
                <a:alpha val="7000"/>
              </a:srgbClr>
            </a:outerShdw>
          </a:effectLst>
        </p:spPr>
      </p:sp>
      <p:sp>
        <p:nvSpPr>
          <p:cNvPr id="14" name="Text 12"/>
          <p:cNvSpPr txBox="1"/>
          <p:nvPr/>
        </p:nvSpPr>
        <p:spPr>
          <a:xfrm>
            <a:off x="795528" y="3611880"/>
            <a:ext cx="457200" cy="274320"/>
          </a:xfrm>
          <a:prstGeom prst="rect">
            <a:avLst/>
          </a:prstGeom>
          <a:noFill/>
          <a:ln/>
        </p:spPr>
        <p:txBody>
          <a:bodyPr wrap="square" lIns="0" tIns="0" rIns="0" bIns="0" rtlCol="0" anchor="t"/>
          <a:lstStyle/>
          <a:p>
            <a:pPr indent="0" marL="0">
              <a:buNone/>
            </a:pPr>
            <a:r>
              <a:rPr lang="en-US" sz="1400" b="1" dirty="0">
                <a:solidFill>
                  <a:srgbClr val="1F6F5C"/>
                </a:solidFill>
                <a:latin typeface="Cambria" pitchFamily="34" charset="0"/>
                <a:ea typeface="Cambria" pitchFamily="34" charset="-122"/>
                <a:cs typeface="Cambria" pitchFamily="34" charset="-120"/>
              </a:rPr>
              <a:t>03</a:t>
            </a:r>
            <a:endParaRPr lang="en-US" sz="1400" dirty="0"/>
          </a:p>
        </p:txBody>
      </p:sp>
      <p:sp>
        <p:nvSpPr>
          <p:cNvPr id="15" name="Text 13"/>
          <p:cNvSpPr txBox="1"/>
          <p:nvPr/>
        </p:nvSpPr>
        <p:spPr>
          <a:xfrm>
            <a:off x="1234440" y="3611880"/>
            <a:ext cx="1965960" cy="274320"/>
          </a:xfrm>
          <a:prstGeom prst="rect">
            <a:avLst/>
          </a:prstGeom>
          <a:noFill/>
          <a:ln/>
        </p:spPr>
        <p:txBody>
          <a:bodyPr wrap="square" lIns="0" tIns="0" rIns="0" bIns="0" rtlCol="0" anchor="t"/>
          <a:lstStyle/>
          <a:p>
            <a:pPr indent="0" marL="0">
              <a:buNone/>
            </a:pPr>
            <a:r>
              <a:rPr lang="en-US" sz="1400" b="1" dirty="0">
                <a:solidFill>
                  <a:srgbClr val="16191C"/>
                </a:solidFill>
                <a:latin typeface="Arial" pitchFamily="34" charset="0"/>
                <a:ea typeface="Arial" pitchFamily="34" charset="-122"/>
                <a:cs typeface="Arial" pitchFamily="34" charset="-120"/>
              </a:rPr>
              <a:t>Honest data</a:t>
            </a:r>
            <a:endParaRPr lang="en-US" sz="1400" dirty="0"/>
          </a:p>
        </p:txBody>
      </p:sp>
      <p:sp>
        <p:nvSpPr>
          <p:cNvPr id="16" name="Text 14"/>
          <p:cNvSpPr txBox="1"/>
          <p:nvPr/>
        </p:nvSpPr>
        <p:spPr>
          <a:xfrm>
            <a:off x="1234440" y="3931920"/>
            <a:ext cx="1965960" cy="548640"/>
          </a:xfrm>
          <a:prstGeom prst="rect">
            <a:avLst/>
          </a:prstGeom>
          <a:noFill/>
          <a:ln/>
        </p:spPr>
        <p:txBody>
          <a:bodyPr wrap="square" lIns="0" tIns="0" rIns="0" bIns="0" rtlCol="0" anchor="t"/>
          <a:lstStyle/>
          <a:p>
            <a:pPr indent="0" marL="0">
              <a:buNone/>
            </a:pPr>
            <a:r>
              <a:rPr lang="en-US" sz="1200" dirty="0">
                <a:solidFill>
                  <a:srgbClr val="3B4045"/>
                </a:solidFill>
                <a:latin typeface="Arial" pitchFamily="34" charset="0"/>
                <a:ea typeface="Arial" pitchFamily="34" charset="-122"/>
                <a:cs typeface="Arial" pitchFamily="34" charset="-120"/>
              </a:rPr>
              <a:t>A dash and a named source, never an invented price.</a:t>
            </a:r>
            <a:endParaRPr lang="en-US" sz="1200" dirty="0"/>
          </a:p>
        </p:txBody>
      </p:sp>
      <p:sp>
        <p:nvSpPr>
          <p:cNvPr id="17" name="Shape 15"/>
          <p:cNvSpPr/>
          <p:nvPr/>
        </p:nvSpPr>
        <p:spPr>
          <a:xfrm>
            <a:off x="3566160" y="3429000"/>
            <a:ext cx="2788920" cy="1143000"/>
          </a:xfrm>
          <a:prstGeom prst="rect">
            <a:avLst/>
          </a:prstGeom>
          <a:solidFill>
            <a:srgbClr val="FFFFFF"/>
          </a:solidFill>
          <a:ln w="9525">
            <a:solidFill>
              <a:srgbClr val="D6D1C7"/>
            </a:solidFill>
            <a:prstDash val="solid"/>
          </a:ln>
          <a:effectLst>
            <a:outerShdw sx="100000" sy="100000" kx="0" ky="0" algn="bl" rotWithShape="0" blurRad="127000" dist="25400" dir="5400000">
              <a:srgbClr val="000000">
                <a:alpha val="7000"/>
              </a:srgbClr>
            </a:outerShdw>
          </a:effectLst>
        </p:spPr>
      </p:sp>
      <p:sp>
        <p:nvSpPr>
          <p:cNvPr id="18" name="Text 16"/>
          <p:cNvSpPr txBox="1"/>
          <p:nvPr/>
        </p:nvSpPr>
        <p:spPr>
          <a:xfrm>
            <a:off x="3767328" y="3611880"/>
            <a:ext cx="457200" cy="274320"/>
          </a:xfrm>
          <a:prstGeom prst="rect">
            <a:avLst/>
          </a:prstGeom>
          <a:noFill/>
          <a:ln/>
        </p:spPr>
        <p:txBody>
          <a:bodyPr wrap="square" lIns="0" tIns="0" rIns="0" bIns="0" rtlCol="0" anchor="t"/>
          <a:lstStyle/>
          <a:p>
            <a:pPr indent="0" marL="0">
              <a:buNone/>
            </a:pPr>
            <a:r>
              <a:rPr lang="en-US" sz="1400" b="1" dirty="0">
                <a:solidFill>
                  <a:srgbClr val="1F6F5C"/>
                </a:solidFill>
                <a:latin typeface="Cambria" pitchFamily="34" charset="0"/>
                <a:ea typeface="Cambria" pitchFamily="34" charset="-122"/>
                <a:cs typeface="Cambria" pitchFamily="34" charset="-120"/>
              </a:rPr>
              <a:t>04</a:t>
            </a:r>
            <a:endParaRPr lang="en-US" sz="1400" dirty="0"/>
          </a:p>
        </p:txBody>
      </p:sp>
      <p:sp>
        <p:nvSpPr>
          <p:cNvPr id="19" name="Text 17"/>
          <p:cNvSpPr txBox="1"/>
          <p:nvPr/>
        </p:nvSpPr>
        <p:spPr>
          <a:xfrm>
            <a:off x="4206240" y="3611880"/>
            <a:ext cx="1965960" cy="274320"/>
          </a:xfrm>
          <a:prstGeom prst="rect">
            <a:avLst/>
          </a:prstGeom>
          <a:noFill/>
          <a:ln/>
        </p:spPr>
        <p:txBody>
          <a:bodyPr wrap="square" lIns="0" tIns="0" rIns="0" bIns="0" rtlCol="0" anchor="t"/>
          <a:lstStyle/>
          <a:p>
            <a:pPr indent="0" marL="0">
              <a:buNone/>
            </a:pPr>
            <a:r>
              <a:rPr lang="en-US" sz="1400" b="1" dirty="0">
                <a:solidFill>
                  <a:srgbClr val="16191C"/>
                </a:solidFill>
                <a:latin typeface="Arial" pitchFamily="34" charset="0"/>
                <a:ea typeface="Arial" pitchFamily="34" charset="-122"/>
                <a:cs typeface="Arial" pitchFamily="34" charset="-120"/>
              </a:rPr>
              <a:t>Auditable</a:t>
            </a:r>
            <a:endParaRPr lang="en-US" sz="1400" dirty="0"/>
          </a:p>
        </p:txBody>
      </p:sp>
      <p:sp>
        <p:nvSpPr>
          <p:cNvPr id="20" name="Text 18"/>
          <p:cNvSpPr txBox="1"/>
          <p:nvPr/>
        </p:nvSpPr>
        <p:spPr>
          <a:xfrm>
            <a:off x="4206240" y="3931920"/>
            <a:ext cx="1965960" cy="548640"/>
          </a:xfrm>
          <a:prstGeom prst="rect">
            <a:avLst/>
          </a:prstGeom>
          <a:noFill/>
          <a:ln/>
        </p:spPr>
        <p:txBody>
          <a:bodyPr wrap="square" lIns="0" tIns="0" rIns="0" bIns="0" rtlCol="0" anchor="t"/>
          <a:lstStyle/>
          <a:p>
            <a:pPr indent="0" marL="0">
              <a:buNone/>
            </a:pPr>
            <a:r>
              <a:rPr lang="en-US" sz="1200" dirty="0">
                <a:solidFill>
                  <a:srgbClr val="3B4045"/>
                </a:solidFill>
                <a:latin typeface="Arial" pitchFamily="34" charset="0"/>
                <a:ea typeface="Arial" pitchFamily="34" charset="-122"/>
                <a:cs typeface="Arial" pitchFamily="34" charset="-120"/>
              </a:rPr>
              <a:t>Fingerprinted, read-only runs anyone can re-check.</a:t>
            </a:r>
            <a:endParaRPr lang="en-US" sz="1200" dirty="0"/>
          </a:p>
        </p:txBody>
      </p:sp>
      <p:sp>
        <p:nvSpPr>
          <p:cNvPr id="21" name="Shape 19"/>
          <p:cNvSpPr/>
          <p:nvPr/>
        </p:nvSpPr>
        <p:spPr>
          <a:xfrm>
            <a:off x="594360" y="4754880"/>
            <a:ext cx="2788920" cy="1143000"/>
          </a:xfrm>
          <a:prstGeom prst="rect">
            <a:avLst/>
          </a:prstGeom>
          <a:solidFill>
            <a:srgbClr val="FFFFFF"/>
          </a:solidFill>
          <a:ln w="9525">
            <a:solidFill>
              <a:srgbClr val="D6D1C7"/>
            </a:solidFill>
            <a:prstDash val="solid"/>
          </a:ln>
          <a:effectLst>
            <a:outerShdw sx="100000" sy="100000" kx="0" ky="0" algn="bl" rotWithShape="0" blurRad="127000" dist="25400" dir="5400000">
              <a:srgbClr val="000000">
                <a:alpha val="7000"/>
              </a:srgbClr>
            </a:outerShdw>
          </a:effectLst>
        </p:spPr>
      </p:sp>
      <p:sp>
        <p:nvSpPr>
          <p:cNvPr id="22" name="Text 20"/>
          <p:cNvSpPr txBox="1"/>
          <p:nvPr/>
        </p:nvSpPr>
        <p:spPr>
          <a:xfrm>
            <a:off x="795528" y="4937760"/>
            <a:ext cx="457200" cy="274320"/>
          </a:xfrm>
          <a:prstGeom prst="rect">
            <a:avLst/>
          </a:prstGeom>
          <a:noFill/>
          <a:ln/>
        </p:spPr>
        <p:txBody>
          <a:bodyPr wrap="square" lIns="0" tIns="0" rIns="0" bIns="0" rtlCol="0" anchor="t"/>
          <a:lstStyle/>
          <a:p>
            <a:pPr indent="0" marL="0">
              <a:buNone/>
            </a:pPr>
            <a:r>
              <a:rPr lang="en-US" sz="1400" b="1" dirty="0">
                <a:solidFill>
                  <a:srgbClr val="1F6F5C"/>
                </a:solidFill>
                <a:latin typeface="Cambria" pitchFamily="34" charset="0"/>
                <a:ea typeface="Cambria" pitchFamily="34" charset="-122"/>
                <a:cs typeface="Cambria" pitchFamily="34" charset="-120"/>
              </a:rPr>
              <a:t>05</a:t>
            </a:r>
            <a:endParaRPr lang="en-US" sz="1400" dirty="0"/>
          </a:p>
        </p:txBody>
      </p:sp>
      <p:sp>
        <p:nvSpPr>
          <p:cNvPr id="23" name="Text 21"/>
          <p:cNvSpPr txBox="1"/>
          <p:nvPr/>
        </p:nvSpPr>
        <p:spPr>
          <a:xfrm>
            <a:off x="1234440" y="4937760"/>
            <a:ext cx="1965960" cy="274320"/>
          </a:xfrm>
          <a:prstGeom prst="rect">
            <a:avLst/>
          </a:prstGeom>
          <a:noFill/>
          <a:ln/>
        </p:spPr>
        <p:txBody>
          <a:bodyPr wrap="square" lIns="0" tIns="0" rIns="0" bIns="0" rtlCol="0" anchor="t"/>
          <a:lstStyle/>
          <a:p>
            <a:pPr indent="0" marL="0">
              <a:buNone/>
            </a:pPr>
            <a:r>
              <a:rPr lang="en-US" sz="1400" b="1" dirty="0">
                <a:solidFill>
                  <a:srgbClr val="16191C"/>
                </a:solidFill>
                <a:latin typeface="Arial" pitchFamily="34" charset="0"/>
                <a:ea typeface="Arial" pitchFamily="34" charset="-122"/>
                <a:cs typeface="Arial" pitchFamily="34" charset="-120"/>
              </a:rPr>
              <a:t>Free to run</a:t>
            </a:r>
            <a:endParaRPr lang="en-US" sz="1400" dirty="0"/>
          </a:p>
        </p:txBody>
      </p:sp>
      <p:sp>
        <p:nvSpPr>
          <p:cNvPr id="24" name="Text 22"/>
          <p:cNvSpPr txBox="1"/>
          <p:nvPr/>
        </p:nvSpPr>
        <p:spPr>
          <a:xfrm>
            <a:off x="1234440" y="5257800"/>
            <a:ext cx="1965960" cy="548640"/>
          </a:xfrm>
          <a:prstGeom prst="rect">
            <a:avLst/>
          </a:prstGeom>
          <a:noFill/>
          <a:ln/>
        </p:spPr>
        <p:txBody>
          <a:bodyPr wrap="square" lIns="0" tIns="0" rIns="0" bIns="0" rtlCol="0" anchor="t"/>
          <a:lstStyle/>
          <a:p>
            <a:pPr indent="0" marL="0">
              <a:buNone/>
            </a:pPr>
            <a:r>
              <a:rPr lang="en-US" sz="1200" dirty="0">
                <a:solidFill>
                  <a:srgbClr val="3B4045"/>
                </a:solidFill>
                <a:latin typeface="Arial" pitchFamily="34" charset="0"/>
                <a:ea typeface="Arial" pitchFamily="34" charset="-122"/>
                <a:cs typeface="Arial" pitchFamily="34" charset="-120"/>
              </a:rPr>
              <a:t>No paid data feed or key. The scenario engine works offline.</a:t>
            </a:r>
            <a:endParaRPr lang="en-US" sz="1200" dirty="0"/>
          </a:p>
        </p:txBody>
      </p:sp>
      <p:sp>
        <p:nvSpPr>
          <p:cNvPr id="25" name="Shape 23"/>
          <p:cNvSpPr/>
          <p:nvPr/>
        </p:nvSpPr>
        <p:spPr>
          <a:xfrm>
            <a:off x="3566160" y="4754880"/>
            <a:ext cx="2788920" cy="1143000"/>
          </a:xfrm>
          <a:prstGeom prst="rect">
            <a:avLst/>
          </a:prstGeom>
          <a:solidFill>
            <a:srgbClr val="FFFFFF"/>
          </a:solidFill>
          <a:ln w="9525">
            <a:solidFill>
              <a:srgbClr val="D6D1C7"/>
            </a:solidFill>
            <a:prstDash val="solid"/>
          </a:ln>
          <a:effectLst>
            <a:outerShdw sx="100000" sy="100000" kx="0" ky="0" algn="bl" rotWithShape="0" blurRad="127000" dist="25400" dir="5400000">
              <a:srgbClr val="000000">
                <a:alpha val="7000"/>
              </a:srgbClr>
            </a:outerShdw>
          </a:effectLst>
        </p:spPr>
      </p:sp>
      <p:sp>
        <p:nvSpPr>
          <p:cNvPr id="26" name="Text 24"/>
          <p:cNvSpPr txBox="1"/>
          <p:nvPr/>
        </p:nvSpPr>
        <p:spPr>
          <a:xfrm>
            <a:off x="3767328" y="4937760"/>
            <a:ext cx="457200" cy="274320"/>
          </a:xfrm>
          <a:prstGeom prst="rect">
            <a:avLst/>
          </a:prstGeom>
          <a:noFill/>
          <a:ln/>
        </p:spPr>
        <p:txBody>
          <a:bodyPr wrap="square" lIns="0" tIns="0" rIns="0" bIns="0" rtlCol="0" anchor="t"/>
          <a:lstStyle/>
          <a:p>
            <a:pPr indent="0" marL="0">
              <a:buNone/>
            </a:pPr>
            <a:r>
              <a:rPr lang="en-US" sz="1400" b="1" dirty="0">
                <a:solidFill>
                  <a:srgbClr val="1F6F5C"/>
                </a:solidFill>
                <a:latin typeface="Cambria" pitchFamily="34" charset="0"/>
                <a:ea typeface="Cambria" pitchFamily="34" charset="-122"/>
                <a:cs typeface="Cambria" pitchFamily="34" charset="-120"/>
              </a:rPr>
              <a:t>06</a:t>
            </a:r>
            <a:endParaRPr lang="en-US" sz="1400" dirty="0"/>
          </a:p>
        </p:txBody>
      </p:sp>
      <p:sp>
        <p:nvSpPr>
          <p:cNvPr id="27" name="Text 25"/>
          <p:cNvSpPr txBox="1"/>
          <p:nvPr/>
        </p:nvSpPr>
        <p:spPr>
          <a:xfrm>
            <a:off x="4206240" y="4937760"/>
            <a:ext cx="1965960" cy="274320"/>
          </a:xfrm>
          <a:prstGeom prst="rect">
            <a:avLst/>
          </a:prstGeom>
          <a:noFill/>
          <a:ln/>
        </p:spPr>
        <p:txBody>
          <a:bodyPr wrap="square" lIns="0" tIns="0" rIns="0" bIns="0" rtlCol="0" anchor="t"/>
          <a:lstStyle/>
          <a:p>
            <a:pPr indent="0" marL="0">
              <a:buNone/>
            </a:pPr>
            <a:r>
              <a:rPr lang="en-US" sz="1400" b="1" dirty="0">
                <a:solidFill>
                  <a:srgbClr val="16191C"/>
                </a:solidFill>
                <a:latin typeface="Arial" pitchFamily="34" charset="0"/>
                <a:ea typeface="Arial" pitchFamily="34" charset="-122"/>
                <a:cs typeface="Arial" pitchFamily="34" charset="-120"/>
              </a:rPr>
              <a:t>Works anywhere</a:t>
            </a:r>
            <a:endParaRPr lang="en-US" sz="1400" dirty="0"/>
          </a:p>
        </p:txBody>
      </p:sp>
      <p:sp>
        <p:nvSpPr>
          <p:cNvPr id="28" name="Text 26"/>
          <p:cNvSpPr txBox="1"/>
          <p:nvPr/>
        </p:nvSpPr>
        <p:spPr>
          <a:xfrm>
            <a:off x="4206240" y="5257800"/>
            <a:ext cx="1965960" cy="548640"/>
          </a:xfrm>
          <a:prstGeom prst="rect">
            <a:avLst/>
          </a:prstGeom>
          <a:noFill/>
          <a:ln/>
        </p:spPr>
        <p:txBody>
          <a:bodyPr wrap="square" lIns="0" tIns="0" rIns="0" bIns="0" rtlCol="0" anchor="t"/>
          <a:lstStyle/>
          <a:p>
            <a:pPr indent="0" marL="0">
              <a:buNone/>
            </a:pPr>
            <a:r>
              <a:rPr lang="en-US" sz="1200" dirty="0">
                <a:solidFill>
                  <a:srgbClr val="3B4045"/>
                </a:solidFill>
                <a:latin typeface="Arial" pitchFamily="34" charset="0"/>
                <a:ea typeface="Arial" pitchFamily="34" charset="-122"/>
                <a:cs typeface="Arial" pitchFamily="34" charset="-120"/>
              </a:rPr>
              <a:t>Phone to desktop, light and dark, no serious axe issues.</a:t>
            </a:r>
            <a:endParaRPr lang="en-US" sz="1200" dirty="0"/>
          </a:p>
        </p:txBody>
      </p:sp>
      <p:sp>
        <p:nvSpPr>
          <p:cNvPr id="29" name="Text 27"/>
          <p:cNvSpPr txBox="1"/>
          <p:nvPr/>
        </p:nvSpPr>
        <p:spPr>
          <a:xfrm>
            <a:off x="6766560" y="1783080"/>
            <a:ext cx="2743200" cy="219456"/>
          </a:xfrm>
          <a:prstGeom prst="rect">
            <a:avLst/>
          </a:prstGeom>
          <a:noFill/>
          <a:ln/>
        </p:spPr>
        <p:txBody>
          <a:bodyPr wrap="square" lIns="0" tIns="0" rIns="0" bIns="0" rtlCol="0" anchor="t"/>
          <a:lstStyle/>
          <a:p>
            <a:pPr indent="0" marL="0">
              <a:buNone/>
            </a:pPr>
            <a:r>
              <a:rPr lang="en-US" sz="950" b="1" spc="200" kern="0" dirty="0">
                <a:solidFill>
                  <a:srgbClr val="1F6F5C"/>
                </a:solidFill>
                <a:latin typeface="Arial" pitchFamily="34" charset="0"/>
                <a:ea typeface="Arial" pitchFamily="34" charset="-122"/>
                <a:cs typeface="Arial" pitchFamily="34" charset="-120"/>
              </a:rPr>
              <a:t>APPLICATIONS</a:t>
            </a:r>
            <a:endParaRPr lang="en-US" sz="950" dirty="0"/>
          </a:p>
        </p:txBody>
      </p:sp>
      <p:sp>
        <p:nvSpPr>
          <p:cNvPr id="30" name="Shape 28"/>
          <p:cNvSpPr/>
          <p:nvPr/>
        </p:nvSpPr>
        <p:spPr>
          <a:xfrm>
            <a:off x="6766560" y="2103120"/>
            <a:ext cx="4828032" cy="0"/>
          </a:xfrm>
          <a:prstGeom prst="line">
            <a:avLst/>
          </a:prstGeom>
          <a:noFill/>
          <a:ln w="12700">
            <a:solidFill>
              <a:srgbClr val="16191C"/>
            </a:solidFill>
            <a:prstDash val="solid"/>
          </a:ln>
        </p:spPr>
      </p:sp>
      <p:sp>
        <p:nvSpPr>
          <p:cNvPr id="31" name="Text 29"/>
          <p:cNvSpPr txBox="1"/>
          <p:nvPr/>
        </p:nvSpPr>
        <p:spPr>
          <a:xfrm>
            <a:off x="6766560" y="2212848"/>
            <a:ext cx="4828032" cy="256032"/>
          </a:xfrm>
          <a:prstGeom prst="rect">
            <a:avLst/>
          </a:prstGeom>
          <a:noFill/>
          <a:ln/>
        </p:spPr>
        <p:txBody>
          <a:bodyPr wrap="square" lIns="0" tIns="0" rIns="0" bIns="0" rtlCol="0" anchor="t"/>
          <a:lstStyle/>
          <a:p>
            <a:pPr indent="0" marL="0">
              <a:buNone/>
            </a:pPr>
            <a:r>
              <a:rPr lang="en-US" sz="1400" b="1" dirty="0">
                <a:solidFill>
                  <a:srgbClr val="16191C"/>
                </a:solidFill>
                <a:latin typeface="Arial" pitchFamily="34" charset="0"/>
                <a:ea typeface="Arial" pitchFamily="34" charset="-122"/>
                <a:cs typeface="Arial" pitchFamily="34" charset="-120"/>
              </a:rPr>
              <a:t>Classrooms</a:t>
            </a:r>
            <a:endParaRPr lang="en-US" sz="1400" dirty="0"/>
          </a:p>
        </p:txBody>
      </p:sp>
      <p:sp>
        <p:nvSpPr>
          <p:cNvPr id="32" name="Text 30"/>
          <p:cNvSpPr txBox="1"/>
          <p:nvPr/>
        </p:nvSpPr>
        <p:spPr>
          <a:xfrm>
            <a:off x="6766560" y="2487168"/>
            <a:ext cx="4828032" cy="274320"/>
          </a:xfrm>
          <a:prstGeom prst="rect">
            <a:avLst/>
          </a:prstGeom>
          <a:noFill/>
          <a:ln/>
        </p:spPr>
        <p:txBody>
          <a:bodyPr wrap="square" lIns="0" tIns="0" rIns="0" bIns="0" rtlCol="0" anchor="t"/>
          <a:lstStyle/>
          <a:p>
            <a:pPr indent="0" marL="0">
              <a:buNone/>
            </a:pPr>
            <a:r>
              <a:rPr lang="en-US" sz="1200" dirty="0">
                <a:solidFill>
                  <a:srgbClr val="3B4045"/>
                </a:solidFill>
                <a:latin typeface="Arial" pitchFamily="34" charset="0"/>
                <a:ea typeface="Arial" pitchFamily="34" charset="-122"/>
                <a:cs typeface="Arial" pitchFamily="34" charset="-120"/>
              </a:rPr>
              <a:t>Teach trading costs and market rules on live data.</a:t>
            </a:r>
            <a:endParaRPr lang="en-US" sz="1200" dirty="0"/>
          </a:p>
        </p:txBody>
      </p:sp>
      <p:sp>
        <p:nvSpPr>
          <p:cNvPr id="33" name="Shape 31"/>
          <p:cNvSpPr/>
          <p:nvPr/>
        </p:nvSpPr>
        <p:spPr>
          <a:xfrm>
            <a:off x="6766560" y="2834640"/>
            <a:ext cx="4828032" cy="0"/>
          </a:xfrm>
          <a:prstGeom prst="line">
            <a:avLst/>
          </a:prstGeom>
          <a:noFill/>
          <a:ln w="9525">
            <a:solidFill>
              <a:srgbClr val="D6D1C7"/>
            </a:solidFill>
            <a:prstDash val="solid"/>
          </a:ln>
        </p:spPr>
      </p:sp>
      <p:sp>
        <p:nvSpPr>
          <p:cNvPr id="34" name="Text 32"/>
          <p:cNvSpPr txBox="1"/>
          <p:nvPr/>
        </p:nvSpPr>
        <p:spPr>
          <a:xfrm>
            <a:off x="6766560" y="2944368"/>
            <a:ext cx="4828032" cy="256032"/>
          </a:xfrm>
          <a:prstGeom prst="rect">
            <a:avLst/>
          </a:prstGeom>
          <a:noFill/>
          <a:ln/>
        </p:spPr>
        <p:txBody>
          <a:bodyPr wrap="square" lIns="0" tIns="0" rIns="0" bIns="0" rtlCol="0" anchor="t"/>
          <a:lstStyle/>
          <a:p>
            <a:pPr indent="0" marL="0">
              <a:buNone/>
            </a:pPr>
            <a:r>
              <a:rPr lang="en-US" sz="1400" b="1" dirty="0">
                <a:solidFill>
                  <a:srgbClr val="16191C"/>
                </a:solidFill>
                <a:latin typeface="Arial" pitchFamily="34" charset="0"/>
                <a:ea typeface="Arial" pitchFamily="34" charset="-122"/>
                <a:cs typeface="Arial" pitchFamily="34" charset="-120"/>
              </a:rPr>
              <a:t>New investors</a:t>
            </a:r>
            <a:endParaRPr lang="en-US" sz="1400" dirty="0"/>
          </a:p>
        </p:txBody>
      </p:sp>
      <p:sp>
        <p:nvSpPr>
          <p:cNvPr id="35" name="Text 33"/>
          <p:cNvSpPr txBox="1"/>
          <p:nvPr/>
        </p:nvSpPr>
        <p:spPr>
          <a:xfrm>
            <a:off x="6766560" y="3218688"/>
            <a:ext cx="4828032" cy="274320"/>
          </a:xfrm>
          <a:prstGeom prst="rect">
            <a:avLst/>
          </a:prstGeom>
          <a:noFill/>
          <a:ln/>
        </p:spPr>
        <p:txBody>
          <a:bodyPr wrap="square" lIns="0" tIns="0" rIns="0" bIns="0" rtlCol="0" anchor="t"/>
          <a:lstStyle/>
          <a:p>
            <a:pPr indent="0" marL="0">
              <a:buNone/>
            </a:pPr>
            <a:r>
              <a:rPr lang="en-US" sz="1200" dirty="0">
                <a:solidFill>
                  <a:srgbClr val="3B4045"/>
                </a:solidFill>
                <a:latin typeface="Arial" pitchFamily="34" charset="0"/>
                <a:ea typeface="Arial" pitchFamily="34" charset="-122"/>
                <a:cs typeface="Arial" pitchFamily="34" charset="-120"/>
              </a:rPr>
              <a:t>Practise intraday and delivery trades with virtual money.</a:t>
            </a:r>
            <a:endParaRPr lang="en-US" sz="1200" dirty="0"/>
          </a:p>
        </p:txBody>
      </p:sp>
      <p:sp>
        <p:nvSpPr>
          <p:cNvPr id="36" name="Shape 34"/>
          <p:cNvSpPr/>
          <p:nvPr/>
        </p:nvSpPr>
        <p:spPr>
          <a:xfrm>
            <a:off x="6766560" y="3566160"/>
            <a:ext cx="4828032" cy="0"/>
          </a:xfrm>
          <a:prstGeom prst="line">
            <a:avLst/>
          </a:prstGeom>
          <a:noFill/>
          <a:ln w="9525">
            <a:solidFill>
              <a:srgbClr val="D6D1C7"/>
            </a:solidFill>
            <a:prstDash val="solid"/>
          </a:ln>
        </p:spPr>
      </p:sp>
      <p:sp>
        <p:nvSpPr>
          <p:cNvPr id="37" name="Text 35"/>
          <p:cNvSpPr txBox="1"/>
          <p:nvPr/>
        </p:nvSpPr>
        <p:spPr>
          <a:xfrm>
            <a:off x="6766560" y="3675888"/>
            <a:ext cx="4828032" cy="256032"/>
          </a:xfrm>
          <a:prstGeom prst="rect">
            <a:avLst/>
          </a:prstGeom>
          <a:noFill/>
          <a:ln/>
        </p:spPr>
        <p:txBody>
          <a:bodyPr wrap="square" lIns="0" tIns="0" rIns="0" bIns="0" rtlCol="0" anchor="t"/>
          <a:lstStyle/>
          <a:p>
            <a:pPr indent="0" marL="0">
              <a:buNone/>
            </a:pPr>
            <a:r>
              <a:rPr lang="en-US" sz="1400" b="1" dirty="0">
                <a:solidFill>
                  <a:srgbClr val="16191C"/>
                </a:solidFill>
                <a:latin typeface="Arial" pitchFamily="34" charset="0"/>
                <a:ea typeface="Arial" pitchFamily="34" charset="-122"/>
                <a:cs typeface="Arial" pitchFamily="34" charset="-120"/>
              </a:rPr>
              <a:t>Strategy research</a:t>
            </a:r>
            <a:endParaRPr lang="en-US" sz="1400" dirty="0"/>
          </a:p>
        </p:txBody>
      </p:sp>
      <p:sp>
        <p:nvSpPr>
          <p:cNvPr id="38" name="Text 36"/>
          <p:cNvSpPr txBox="1"/>
          <p:nvPr/>
        </p:nvSpPr>
        <p:spPr>
          <a:xfrm>
            <a:off x="6766560" y="3950208"/>
            <a:ext cx="4828032" cy="274320"/>
          </a:xfrm>
          <a:prstGeom prst="rect">
            <a:avLst/>
          </a:prstGeom>
          <a:noFill/>
          <a:ln/>
        </p:spPr>
        <p:txBody>
          <a:bodyPr wrap="square" lIns="0" tIns="0" rIns="0" bIns="0" rtlCol="0" anchor="t"/>
          <a:lstStyle/>
          <a:p>
            <a:pPr indent="0" marL="0">
              <a:buNone/>
            </a:pPr>
            <a:r>
              <a:rPr lang="en-US" sz="1200" dirty="0">
                <a:solidFill>
                  <a:srgbClr val="3B4045"/>
                </a:solidFill>
                <a:latin typeface="Arial" pitchFamily="34" charset="0"/>
                <a:ea typeface="Arial" pitchFamily="34" charset="-122"/>
                <a:cs typeface="Arial" pitchFamily="34" charset="-120"/>
              </a:rPr>
              <a:t>Test a rule on a reproducible backtest before trusting it.</a:t>
            </a:r>
            <a:endParaRPr lang="en-US" sz="1200" dirty="0"/>
          </a:p>
        </p:txBody>
      </p:sp>
      <p:sp>
        <p:nvSpPr>
          <p:cNvPr id="39" name="Shape 37"/>
          <p:cNvSpPr/>
          <p:nvPr/>
        </p:nvSpPr>
        <p:spPr>
          <a:xfrm>
            <a:off x="6766560" y="4297680"/>
            <a:ext cx="4828032" cy="0"/>
          </a:xfrm>
          <a:prstGeom prst="line">
            <a:avLst/>
          </a:prstGeom>
          <a:noFill/>
          <a:ln w="9525">
            <a:solidFill>
              <a:srgbClr val="D6D1C7"/>
            </a:solidFill>
            <a:prstDash val="solid"/>
          </a:ln>
        </p:spPr>
      </p:sp>
      <p:sp>
        <p:nvSpPr>
          <p:cNvPr id="40" name="Text 38"/>
          <p:cNvSpPr txBox="1"/>
          <p:nvPr/>
        </p:nvSpPr>
        <p:spPr>
          <a:xfrm>
            <a:off x="6766560" y="4407408"/>
            <a:ext cx="4828032" cy="256032"/>
          </a:xfrm>
          <a:prstGeom prst="rect">
            <a:avLst/>
          </a:prstGeom>
          <a:noFill/>
          <a:ln/>
        </p:spPr>
        <p:txBody>
          <a:bodyPr wrap="square" lIns="0" tIns="0" rIns="0" bIns="0" rtlCol="0" anchor="t"/>
          <a:lstStyle/>
          <a:p>
            <a:pPr indent="0" marL="0">
              <a:buNone/>
            </a:pPr>
            <a:r>
              <a:rPr lang="en-US" sz="1400" b="1" dirty="0">
                <a:solidFill>
                  <a:srgbClr val="16191C"/>
                </a:solidFill>
                <a:latin typeface="Arial" pitchFamily="34" charset="0"/>
                <a:ea typeface="Arial" pitchFamily="34" charset="-122"/>
                <a:cs typeface="Arial" pitchFamily="34" charset="-120"/>
              </a:rPr>
              <a:t>Data analytics teaching</a:t>
            </a:r>
            <a:endParaRPr lang="en-US" sz="1400" dirty="0"/>
          </a:p>
        </p:txBody>
      </p:sp>
      <p:sp>
        <p:nvSpPr>
          <p:cNvPr id="41" name="Text 39"/>
          <p:cNvSpPr txBox="1"/>
          <p:nvPr/>
        </p:nvSpPr>
        <p:spPr>
          <a:xfrm>
            <a:off x="6766560" y="4681728"/>
            <a:ext cx="4828032" cy="274320"/>
          </a:xfrm>
          <a:prstGeom prst="rect">
            <a:avLst/>
          </a:prstGeom>
          <a:noFill/>
          <a:ln/>
        </p:spPr>
        <p:txBody>
          <a:bodyPr wrap="square" lIns="0" tIns="0" rIns="0" bIns="0" rtlCol="0" anchor="t"/>
          <a:lstStyle/>
          <a:p>
            <a:pPr indent="0" marL="0">
              <a:buNone/>
            </a:pPr>
            <a:r>
              <a:rPr lang="en-US" sz="1200" dirty="0">
                <a:solidFill>
                  <a:srgbClr val="3B4045"/>
                </a:solidFill>
                <a:latin typeface="Arial" pitchFamily="34" charset="0"/>
                <a:ea typeface="Arial" pitchFamily="34" charset="-122"/>
                <a:cs typeface="Arial" pitchFamily="34" charset="-120"/>
              </a:rPr>
              <a:t>A full pipeline: ingest, clean, model, validate, visualise.</a:t>
            </a:r>
            <a:endParaRPr lang="en-US" sz="1200" dirty="0"/>
          </a:p>
        </p:txBody>
      </p:sp>
      <p:sp>
        <p:nvSpPr>
          <p:cNvPr id="42" name="Shape 40"/>
          <p:cNvSpPr/>
          <p:nvPr/>
        </p:nvSpPr>
        <p:spPr>
          <a:xfrm>
            <a:off x="6766560" y="5029200"/>
            <a:ext cx="4828032" cy="0"/>
          </a:xfrm>
          <a:prstGeom prst="line">
            <a:avLst/>
          </a:prstGeom>
          <a:noFill/>
          <a:ln w="9525">
            <a:solidFill>
              <a:srgbClr val="D6D1C7"/>
            </a:solidFill>
            <a:prstDash val="solid"/>
          </a:ln>
        </p:spPr>
      </p:sp>
      <p:sp>
        <p:nvSpPr>
          <p:cNvPr id="43" name="Text 41"/>
          <p:cNvSpPr txBox="1"/>
          <p:nvPr/>
        </p:nvSpPr>
        <p:spPr>
          <a:xfrm>
            <a:off x="6766560" y="5138928"/>
            <a:ext cx="4828032" cy="256032"/>
          </a:xfrm>
          <a:prstGeom prst="rect">
            <a:avLst/>
          </a:prstGeom>
          <a:noFill/>
          <a:ln/>
        </p:spPr>
        <p:txBody>
          <a:bodyPr wrap="square" lIns="0" tIns="0" rIns="0" bIns="0" rtlCol="0" anchor="t"/>
          <a:lstStyle/>
          <a:p>
            <a:pPr indent="0" marL="0">
              <a:buNone/>
            </a:pPr>
            <a:r>
              <a:rPr lang="en-US" sz="1400" b="1" dirty="0">
                <a:solidFill>
                  <a:srgbClr val="16191C"/>
                </a:solidFill>
                <a:latin typeface="Arial" pitchFamily="34" charset="0"/>
                <a:ea typeface="Arial" pitchFamily="34" charset="-122"/>
                <a:cs typeface="Arial" pitchFamily="34" charset="-120"/>
              </a:rPr>
              <a:t>Fintech prototyping</a:t>
            </a:r>
            <a:endParaRPr lang="en-US" sz="1400" dirty="0"/>
          </a:p>
        </p:txBody>
      </p:sp>
      <p:sp>
        <p:nvSpPr>
          <p:cNvPr id="44" name="Text 42"/>
          <p:cNvSpPr txBox="1"/>
          <p:nvPr/>
        </p:nvSpPr>
        <p:spPr>
          <a:xfrm>
            <a:off x="6766560" y="5413248"/>
            <a:ext cx="4828032" cy="274320"/>
          </a:xfrm>
          <a:prstGeom prst="rect">
            <a:avLst/>
          </a:prstGeom>
          <a:noFill/>
          <a:ln/>
        </p:spPr>
        <p:txBody>
          <a:bodyPr wrap="square" lIns="0" tIns="0" rIns="0" bIns="0" rtlCol="0" anchor="t"/>
          <a:lstStyle/>
          <a:p>
            <a:pPr indent="0" marL="0">
              <a:buNone/>
            </a:pPr>
            <a:r>
              <a:rPr lang="en-US" sz="1200" dirty="0">
                <a:solidFill>
                  <a:srgbClr val="3B4045"/>
                </a:solidFill>
                <a:latin typeface="Arial" pitchFamily="34" charset="0"/>
                <a:ea typeface="Arial" pitchFamily="34" charset="-122"/>
                <a:cs typeface="Arial" pitchFamily="34" charset="-120"/>
              </a:rPr>
              <a:t>A base for a research tool on a licensed broker feed.</a:t>
            </a:r>
            <a:endParaRPr lang="en-US" sz="1200" dirty="0"/>
          </a:p>
        </p:txBody>
      </p:sp>
      <p:sp>
        <p:nvSpPr>
          <p:cNvPr id="45" name="Shape 43"/>
          <p:cNvSpPr/>
          <p:nvPr/>
        </p:nvSpPr>
        <p:spPr>
          <a:xfrm>
            <a:off x="6766560" y="5760720"/>
            <a:ext cx="4828032" cy="0"/>
          </a:xfrm>
          <a:prstGeom prst="line">
            <a:avLst/>
          </a:prstGeom>
          <a:noFill/>
          <a:ln w="9525">
            <a:solidFill>
              <a:srgbClr val="D6D1C7"/>
            </a:solidFill>
            <a:prstDash val="solid"/>
          </a:ln>
        </p:spPr>
      </p:sp>
      <p:sp>
        <p:nvSpPr>
          <p:cNvPr id="46" name="Text 44"/>
          <p:cNvSpPr txBox="1"/>
          <p:nvPr/>
        </p:nvSpPr>
        <p:spPr>
          <a:xfrm>
            <a:off x="594360" y="6382512"/>
            <a:ext cx="2743200" cy="201168"/>
          </a:xfrm>
          <a:prstGeom prst="rect">
            <a:avLst/>
          </a:prstGeom>
          <a:noFill/>
          <a:ln/>
        </p:spPr>
        <p:txBody>
          <a:bodyPr wrap="square" lIns="0" tIns="0" rIns="0" bIns="0" rtlCol="0" anchor="t"/>
          <a:lstStyle/>
          <a:p>
            <a:pPr indent="0" marL="0">
              <a:buNone/>
            </a:pPr>
            <a:r>
              <a:rPr lang="en-US" sz="1000" i="1" dirty="0">
                <a:solidFill>
                  <a:srgbClr val="6F747A"/>
                </a:solidFill>
                <a:latin typeface="Georgia" pitchFamily="34" charset="0"/>
                <a:ea typeface="Georgia" pitchFamily="34" charset="-122"/>
                <a:cs typeface="Georgia" pitchFamily="34" charset="-120"/>
              </a:rPr>
              <a:t>MarketLens</a:t>
            </a:r>
            <a:endParaRPr lang="en-US" sz="1000" dirty="0"/>
          </a:p>
        </p:txBody>
      </p:sp>
      <p:sp>
        <p:nvSpPr>
          <p:cNvPr id="47" name="Text 45"/>
          <p:cNvSpPr txBox="1"/>
          <p:nvPr/>
        </p:nvSpPr>
        <p:spPr>
          <a:xfrm>
            <a:off x="9765792" y="6382512"/>
            <a:ext cx="1828800" cy="201168"/>
          </a:xfrm>
          <a:prstGeom prst="rect">
            <a:avLst/>
          </a:prstGeom>
          <a:noFill/>
          <a:ln/>
        </p:spPr>
        <p:txBody>
          <a:bodyPr wrap="square" lIns="0" tIns="0" rIns="0" bIns="0" rtlCol="0" anchor="t"/>
          <a:lstStyle/>
          <a:p>
            <a:pPr algn="r" indent="0" marL="0">
              <a:buNone/>
            </a:pPr>
            <a:r>
              <a:rPr lang="en-US" sz="900" spc="100" kern="0" dirty="0">
                <a:solidFill>
                  <a:srgbClr val="6F747A"/>
                </a:solidFill>
                <a:latin typeface="Arial" pitchFamily="34" charset="0"/>
                <a:ea typeface="Arial" pitchFamily="34" charset="-122"/>
                <a:cs typeface="Arial" pitchFamily="34" charset="-120"/>
              </a:rPr>
              <a:t>11 / 12</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94360" y="457200"/>
            <a:ext cx="6400800" cy="228600"/>
          </a:xfrm>
          <a:prstGeom prst="rect">
            <a:avLst/>
          </a:prstGeom>
          <a:noFill/>
          <a:ln/>
        </p:spPr>
        <p:txBody>
          <a:bodyPr wrap="square" lIns="0" tIns="0" rIns="0" bIns="0" rtlCol="0" anchor="t"/>
          <a:lstStyle/>
          <a:p>
            <a:pPr indent="0" marL="0">
              <a:buNone/>
            </a:pPr>
            <a:r>
              <a:rPr lang="en-US" sz="950" b="1" spc="200" kern="0" dirty="0">
                <a:solidFill>
                  <a:srgbClr val="16191C"/>
                </a:solidFill>
                <a:latin typeface="Arial" pitchFamily="34" charset="0"/>
                <a:ea typeface="Arial" pitchFamily="34" charset="-122"/>
                <a:cs typeface="Arial" pitchFamily="34" charset="-120"/>
              </a:rPr>
              <a:t>No. 12</a:t>
            </a:r>
            <a:pPr indent="0" marL="0">
              <a:buNone/>
            </a:pPr>
            <a:r>
              <a:rPr lang="en-US" sz="950" b="1" spc="200" kern="0" dirty="0">
                <a:solidFill>
                  <a:srgbClr val="1F6F5C"/>
                </a:solidFill>
                <a:latin typeface="Arial" pitchFamily="34" charset="0"/>
                <a:ea typeface="Arial" pitchFamily="34" charset="-122"/>
                <a:cs typeface="Arial" pitchFamily="34" charset="-120"/>
              </a:rPr>
              <a:t>     CONCLUSION AND FUTURE SCOPE</a:t>
            </a:r>
            <a:endParaRPr lang="en-US" sz="950" dirty="0"/>
          </a:p>
        </p:txBody>
      </p:sp>
      <p:sp>
        <p:nvSpPr>
          <p:cNvPr id="3" name="Text 1"/>
          <p:cNvSpPr txBox="1"/>
          <p:nvPr/>
        </p:nvSpPr>
        <p:spPr>
          <a:xfrm>
            <a:off x="594360" y="749808"/>
            <a:ext cx="11000232" cy="731520"/>
          </a:xfrm>
          <a:prstGeom prst="rect">
            <a:avLst/>
          </a:prstGeom>
          <a:noFill/>
          <a:ln/>
        </p:spPr>
        <p:txBody>
          <a:bodyPr wrap="square" lIns="0" tIns="0" rIns="0" bIns="0" rtlCol="0" anchor="t"/>
          <a:lstStyle/>
          <a:p>
            <a:pPr indent="0" marL="0">
              <a:buNone/>
            </a:pPr>
            <a:r>
              <a:rPr lang="en-US" sz="3000" dirty="0">
                <a:solidFill>
                  <a:srgbClr val="16191C"/>
                </a:solidFill>
                <a:latin typeface="Georgia" pitchFamily="34" charset="0"/>
                <a:ea typeface="Georgia" pitchFamily="34" charset="-122"/>
                <a:cs typeface="Georgia" pitchFamily="34" charset="-120"/>
              </a:rPr>
              <a:t>A dashboard is only as good as the numbers behind it.</a:t>
            </a:r>
            <a:endParaRPr lang="en-US" sz="3000" dirty="0"/>
          </a:p>
        </p:txBody>
      </p:sp>
      <p:sp>
        <p:nvSpPr>
          <p:cNvPr id="4" name="Text 2"/>
          <p:cNvSpPr txBox="1"/>
          <p:nvPr/>
        </p:nvSpPr>
        <p:spPr>
          <a:xfrm>
            <a:off x="594360" y="1828800"/>
            <a:ext cx="2743200" cy="219456"/>
          </a:xfrm>
          <a:prstGeom prst="rect">
            <a:avLst/>
          </a:prstGeom>
          <a:noFill/>
          <a:ln/>
        </p:spPr>
        <p:txBody>
          <a:bodyPr wrap="square" lIns="0" tIns="0" rIns="0" bIns="0" rtlCol="0" anchor="t"/>
          <a:lstStyle/>
          <a:p>
            <a:pPr indent="0" marL="0">
              <a:buNone/>
            </a:pPr>
            <a:r>
              <a:rPr lang="en-US" sz="950" b="1" spc="200" kern="0" dirty="0">
                <a:solidFill>
                  <a:srgbClr val="1F6F5C"/>
                </a:solidFill>
                <a:latin typeface="Arial" pitchFamily="34" charset="0"/>
                <a:ea typeface="Arial" pitchFamily="34" charset="-122"/>
                <a:cs typeface="Arial" pitchFamily="34" charset="-120"/>
              </a:rPr>
              <a:t>CONCLUSION</a:t>
            </a:r>
            <a:endParaRPr lang="en-US" sz="950" dirty="0"/>
          </a:p>
        </p:txBody>
      </p:sp>
      <p:sp>
        <p:nvSpPr>
          <p:cNvPr id="5" name="Text 3"/>
          <p:cNvSpPr txBox="1"/>
          <p:nvPr/>
        </p:nvSpPr>
        <p:spPr>
          <a:xfrm>
            <a:off x="594360" y="2121408"/>
            <a:ext cx="5486400" cy="1600200"/>
          </a:xfrm>
          <a:prstGeom prst="rect">
            <a:avLst/>
          </a:prstGeom>
          <a:noFill/>
          <a:ln/>
        </p:spPr>
        <p:txBody>
          <a:bodyPr wrap="square" lIns="0" tIns="0" rIns="0" bIns="0" rtlCol="0" anchor="t"/>
          <a:lstStyle/>
          <a:p>
            <a:pPr indent="0" marL="0">
              <a:lnSpc>
                <a:spcPct val="112000"/>
              </a:lnSpc>
              <a:buNone/>
            </a:pPr>
            <a:r>
              <a:rPr lang="en-US" sz="1400" dirty="0">
                <a:solidFill>
                  <a:srgbClr val="3B4045"/>
                </a:solidFill>
                <a:latin typeface="Arial" pitchFamily="34" charset="0"/>
                <a:ea typeface="Arial" pitchFamily="34" charset="-122"/>
                <a:cs typeface="Arial" pitchFamily="34" charset="-120"/>
              </a:rPr>
              <a:t>MarketLens covers the whole DAV pipeline: ingest and clean live data, model and validate it, simulate risk with Monte Carlo, and visualise it in an interface people can use. Every number on screen is real, labelled as an assumption, or shown as a dash.</a:t>
            </a:r>
            <a:endParaRPr lang="en-US" sz="1400" dirty="0"/>
          </a:p>
        </p:txBody>
      </p:sp>
      <p:sp>
        <p:nvSpPr>
          <p:cNvPr id="6" name="Text 4"/>
          <p:cNvSpPr txBox="1"/>
          <p:nvPr/>
        </p:nvSpPr>
        <p:spPr>
          <a:xfrm>
            <a:off x="6766560" y="1828800"/>
            <a:ext cx="2743200" cy="219456"/>
          </a:xfrm>
          <a:prstGeom prst="rect">
            <a:avLst/>
          </a:prstGeom>
          <a:noFill/>
          <a:ln/>
        </p:spPr>
        <p:txBody>
          <a:bodyPr wrap="square" lIns="0" tIns="0" rIns="0" bIns="0" rtlCol="0" anchor="t"/>
          <a:lstStyle/>
          <a:p>
            <a:pPr indent="0" marL="0">
              <a:buNone/>
            </a:pPr>
            <a:r>
              <a:rPr lang="en-US" sz="950" b="1" spc="200" kern="0" dirty="0">
                <a:solidFill>
                  <a:srgbClr val="1F6F5C"/>
                </a:solidFill>
                <a:latin typeface="Arial" pitchFamily="34" charset="0"/>
                <a:ea typeface="Arial" pitchFamily="34" charset="-122"/>
                <a:cs typeface="Arial" pitchFamily="34" charset="-120"/>
              </a:rPr>
              <a:t>FUTURE SCOPE</a:t>
            </a:r>
            <a:endParaRPr lang="en-US" sz="950" dirty="0"/>
          </a:p>
        </p:txBody>
      </p:sp>
      <p:sp>
        <p:nvSpPr>
          <p:cNvPr id="7" name="Text 5"/>
          <p:cNvSpPr txBox="1"/>
          <p:nvPr/>
        </p:nvSpPr>
        <p:spPr>
          <a:xfrm>
            <a:off x="6766560" y="2121408"/>
            <a:ext cx="274320" cy="237744"/>
          </a:xfrm>
          <a:prstGeom prst="rect">
            <a:avLst/>
          </a:prstGeom>
          <a:noFill/>
          <a:ln/>
        </p:spPr>
        <p:txBody>
          <a:bodyPr wrap="square" lIns="0" tIns="0" rIns="0" bIns="0" rtlCol="0" anchor="t"/>
          <a:lstStyle/>
          <a:p>
            <a:pPr indent="0" marL="0">
              <a:buNone/>
            </a:pPr>
            <a:r>
              <a:rPr lang="en-US" sz="1300" b="1" dirty="0">
                <a:solidFill>
                  <a:srgbClr val="1F6F5C"/>
                </a:solidFill>
                <a:latin typeface="Cambria" pitchFamily="34" charset="0"/>
                <a:ea typeface="Cambria" pitchFamily="34" charset="-122"/>
                <a:cs typeface="Cambria" pitchFamily="34" charset="-120"/>
              </a:rPr>
              <a:t>1</a:t>
            </a:r>
            <a:endParaRPr lang="en-US" sz="1300" dirty="0"/>
          </a:p>
        </p:txBody>
      </p:sp>
      <p:sp>
        <p:nvSpPr>
          <p:cNvPr id="8" name="Text 6"/>
          <p:cNvSpPr txBox="1"/>
          <p:nvPr/>
        </p:nvSpPr>
        <p:spPr>
          <a:xfrm>
            <a:off x="7114032" y="2121408"/>
            <a:ext cx="4480560" cy="237744"/>
          </a:xfrm>
          <a:prstGeom prst="rect">
            <a:avLst/>
          </a:prstGeom>
          <a:noFill/>
          <a:ln/>
        </p:spPr>
        <p:txBody>
          <a:bodyPr wrap="square" lIns="0" tIns="0" rIns="0" bIns="0" rtlCol="0" anchor="t"/>
          <a:lstStyle/>
          <a:p>
            <a:pPr indent="0" marL="0">
              <a:buNone/>
            </a:pPr>
            <a:r>
              <a:rPr lang="en-US" sz="1350" dirty="0">
                <a:solidFill>
                  <a:srgbClr val="16191C"/>
                </a:solidFill>
                <a:latin typeface="Arial" pitchFamily="34" charset="0"/>
                <a:ea typeface="Arial" pitchFamily="34" charset="-122"/>
                <a:cs typeface="Arial" pitchFamily="34" charset="-120"/>
              </a:rPr>
              <a:t>Browser tests in CI on every push</a:t>
            </a:r>
            <a:endParaRPr lang="en-US" sz="1350" dirty="0"/>
          </a:p>
        </p:txBody>
      </p:sp>
      <p:sp>
        <p:nvSpPr>
          <p:cNvPr id="9" name="Text 7"/>
          <p:cNvSpPr txBox="1"/>
          <p:nvPr/>
        </p:nvSpPr>
        <p:spPr>
          <a:xfrm>
            <a:off x="6766560" y="2487168"/>
            <a:ext cx="274320" cy="237744"/>
          </a:xfrm>
          <a:prstGeom prst="rect">
            <a:avLst/>
          </a:prstGeom>
          <a:noFill/>
          <a:ln/>
        </p:spPr>
        <p:txBody>
          <a:bodyPr wrap="square" lIns="0" tIns="0" rIns="0" bIns="0" rtlCol="0" anchor="t"/>
          <a:lstStyle/>
          <a:p>
            <a:pPr indent="0" marL="0">
              <a:buNone/>
            </a:pPr>
            <a:r>
              <a:rPr lang="en-US" sz="1300" b="1" dirty="0">
                <a:solidFill>
                  <a:srgbClr val="1F6F5C"/>
                </a:solidFill>
                <a:latin typeface="Cambria" pitchFamily="34" charset="0"/>
                <a:ea typeface="Cambria" pitchFamily="34" charset="-122"/>
                <a:cs typeface="Cambria" pitchFamily="34" charset="-120"/>
              </a:rPr>
              <a:t>2</a:t>
            </a:r>
            <a:endParaRPr lang="en-US" sz="1300" dirty="0"/>
          </a:p>
        </p:txBody>
      </p:sp>
      <p:sp>
        <p:nvSpPr>
          <p:cNvPr id="10" name="Text 8"/>
          <p:cNvSpPr txBox="1"/>
          <p:nvPr/>
        </p:nvSpPr>
        <p:spPr>
          <a:xfrm>
            <a:off x="7114032" y="2487168"/>
            <a:ext cx="4480560" cy="237744"/>
          </a:xfrm>
          <a:prstGeom prst="rect">
            <a:avLst/>
          </a:prstGeom>
          <a:noFill/>
          <a:ln/>
        </p:spPr>
        <p:txBody>
          <a:bodyPr wrap="square" lIns="0" tIns="0" rIns="0" bIns="0" rtlCol="0" anchor="t"/>
          <a:lstStyle/>
          <a:p>
            <a:pPr indent="0" marL="0">
              <a:buNone/>
            </a:pPr>
            <a:r>
              <a:rPr lang="en-US" sz="1350" dirty="0">
                <a:solidFill>
                  <a:srgbClr val="16191C"/>
                </a:solidFill>
                <a:latin typeface="Arial" pitchFamily="34" charset="0"/>
                <a:ea typeface="Arial" pitchFamily="34" charset="-122"/>
                <a:cs typeface="Arial" pitchFamily="34" charset="-120"/>
              </a:rPr>
              <a:t>Rate limiting and stricter CORS on the API</a:t>
            </a:r>
            <a:endParaRPr lang="en-US" sz="1350" dirty="0"/>
          </a:p>
        </p:txBody>
      </p:sp>
      <p:sp>
        <p:nvSpPr>
          <p:cNvPr id="11" name="Text 9"/>
          <p:cNvSpPr txBox="1"/>
          <p:nvPr/>
        </p:nvSpPr>
        <p:spPr>
          <a:xfrm>
            <a:off x="6766560" y="2852928"/>
            <a:ext cx="274320" cy="237744"/>
          </a:xfrm>
          <a:prstGeom prst="rect">
            <a:avLst/>
          </a:prstGeom>
          <a:noFill/>
          <a:ln/>
        </p:spPr>
        <p:txBody>
          <a:bodyPr wrap="square" lIns="0" tIns="0" rIns="0" bIns="0" rtlCol="0" anchor="t"/>
          <a:lstStyle/>
          <a:p>
            <a:pPr indent="0" marL="0">
              <a:buNone/>
            </a:pPr>
            <a:r>
              <a:rPr lang="en-US" sz="1300" b="1" dirty="0">
                <a:solidFill>
                  <a:srgbClr val="1F6F5C"/>
                </a:solidFill>
                <a:latin typeface="Cambria" pitchFamily="34" charset="0"/>
                <a:ea typeface="Cambria" pitchFamily="34" charset="-122"/>
                <a:cs typeface="Cambria" pitchFamily="34" charset="-120"/>
              </a:rPr>
              <a:t>3</a:t>
            </a:r>
            <a:endParaRPr lang="en-US" sz="1300" dirty="0"/>
          </a:p>
        </p:txBody>
      </p:sp>
      <p:sp>
        <p:nvSpPr>
          <p:cNvPr id="12" name="Text 10"/>
          <p:cNvSpPr txBox="1"/>
          <p:nvPr/>
        </p:nvSpPr>
        <p:spPr>
          <a:xfrm>
            <a:off x="7114032" y="2852928"/>
            <a:ext cx="4480560" cy="237744"/>
          </a:xfrm>
          <a:prstGeom prst="rect">
            <a:avLst/>
          </a:prstGeom>
          <a:noFill/>
          <a:ln/>
        </p:spPr>
        <p:txBody>
          <a:bodyPr wrap="square" lIns="0" tIns="0" rIns="0" bIns="0" rtlCol="0" anchor="t"/>
          <a:lstStyle/>
          <a:p>
            <a:pPr indent="0" marL="0">
              <a:buNone/>
            </a:pPr>
            <a:r>
              <a:rPr lang="en-US" sz="1350" dirty="0">
                <a:solidFill>
                  <a:srgbClr val="16191C"/>
                </a:solidFill>
                <a:latin typeface="Arial" pitchFamily="34" charset="0"/>
                <a:ea typeface="Arial" pitchFamily="34" charset="-122"/>
                <a:cs typeface="Arial" pitchFamily="34" charset="-120"/>
              </a:rPr>
              <a:t>A licensed broker data adapter</a:t>
            </a:r>
            <a:endParaRPr lang="en-US" sz="1350" dirty="0"/>
          </a:p>
        </p:txBody>
      </p:sp>
      <p:sp>
        <p:nvSpPr>
          <p:cNvPr id="13" name="Text 11"/>
          <p:cNvSpPr txBox="1"/>
          <p:nvPr/>
        </p:nvSpPr>
        <p:spPr>
          <a:xfrm>
            <a:off x="6766560" y="3218688"/>
            <a:ext cx="274320" cy="237744"/>
          </a:xfrm>
          <a:prstGeom prst="rect">
            <a:avLst/>
          </a:prstGeom>
          <a:noFill/>
          <a:ln/>
        </p:spPr>
        <p:txBody>
          <a:bodyPr wrap="square" lIns="0" tIns="0" rIns="0" bIns="0" rtlCol="0" anchor="t"/>
          <a:lstStyle/>
          <a:p>
            <a:pPr indent="0" marL="0">
              <a:buNone/>
            </a:pPr>
            <a:r>
              <a:rPr lang="en-US" sz="1300" b="1" dirty="0">
                <a:solidFill>
                  <a:srgbClr val="1F6F5C"/>
                </a:solidFill>
                <a:latin typeface="Cambria" pitchFamily="34" charset="0"/>
                <a:ea typeface="Cambria" pitchFamily="34" charset="-122"/>
                <a:cs typeface="Cambria" pitchFamily="34" charset="-120"/>
              </a:rPr>
              <a:t>4</a:t>
            </a:r>
            <a:endParaRPr lang="en-US" sz="1300" dirty="0"/>
          </a:p>
        </p:txBody>
      </p:sp>
      <p:sp>
        <p:nvSpPr>
          <p:cNvPr id="14" name="Text 12"/>
          <p:cNvSpPr txBox="1"/>
          <p:nvPr/>
        </p:nvSpPr>
        <p:spPr>
          <a:xfrm>
            <a:off x="7114032" y="3218688"/>
            <a:ext cx="4480560" cy="237744"/>
          </a:xfrm>
          <a:prstGeom prst="rect">
            <a:avLst/>
          </a:prstGeom>
          <a:noFill/>
          <a:ln/>
        </p:spPr>
        <p:txBody>
          <a:bodyPr wrap="square" lIns="0" tIns="0" rIns="0" bIns="0" rtlCol="0" anchor="t"/>
          <a:lstStyle/>
          <a:p>
            <a:pPr indent="0" marL="0">
              <a:buNone/>
            </a:pPr>
            <a:r>
              <a:rPr lang="en-US" sz="1350" dirty="0">
                <a:solidFill>
                  <a:srgbClr val="16191C"/>
                </a:solidFill>
                <a:latin typeface="Arial" pitchFamily="34" charset="0"/>
                <a:ea typeface="Arial" pitchFamily="34" charset="-122"/>
                <a:cs typeface="Arial" pitchFamily="34" charset="-120"/>
              </a:rPr>
              <a:t>Fee schedule verified against NSE circulars</a:t>
            </a:r>
            <a:endParaRPr lang="en-US" sz="1350" dirty="0"/>
          </a:p>
        </p:txBody>
      </p:sp>
      <p:sp>
        <p:nvSpPr>
          <p:cNvPr id="15" name="Text 13"/>
          <p:cNvSpPr txBox="1"/>
          <p:nvPr/>
        </p:nvSpPr>
        <p:spPr>
          <a:xfrm>
            <a:off x="6766560" y="3584448"/>
            <a:ext cx="274320" cy="237744"/>
          </a:xfrm>
          <a:prstGeom prst="rect">
            <a:avLst/>
          </a:prstGeom>
          <a:noFill/>
          <a:ln/>
        </p:spPr>
        <p:txBody>
          <a:bodyPr wrap="square" lIns="0" tIns="0" rIns="0" bIns="0" rtlCol="0" anchor="t"/>
          <a:lstStyle/>
          <a:p>
            <a:pPr indent="0" marL="0">
              <a:buNone/>
            </a:pPr>
            <a:r>
              <a:rPr lang="en-US" sz="1300" b="1" dirty="0">
                <a:solidFill>
                  <a:srgbClr val="1F6F5C"/>
                </a:solidFill>
                <a:latin typeface="Cambria" pitchFamily="34" charset="0"/>
                <a:ea typeface="Cambria" pitchFamily="34" charset="-122"/>
                <a:cs typeface="Cambria" pitchFamily="34" charset="-120"/>
              </a:rPr>
              <a:t>5</a:t>
            </a:r>
            <a:endParaRPr lang="en-US" sz="1300" dirty="0"/>
          </a:p>
        </p:txBody>
      </p:sp>
      <p:sp>
        <p:nvSpPr>
          <p:cNvPr id="16" name="Text 14"/>
          <p:cNvSpPr txBox="1"/>
          <p:nvPr/>
        </p:nvSpPr>
        <p:spPr>
          <a:xfrm>
            <a:off x="7114032" y="3584448"/>
            <a:ext cx="4480560" cy="237744"/>
          </a:xfrm>
          <a:prstGeom prst="rect">
            <a:avLst/>
          </a:prstGeom>
          <a:noFill/>
          <a:ln/>
        </p:spPr>
        <p:txBody>
          <a:bodyPr wrap="square" lIns="0" tIns="0" rIns="0" bIns="0" rtlCol="0" anchor="t"/>
          <a:lstStyle/>
          <a:p>
            <a:pPr indent="0" marL="0">
              <a:buNone/>
            </a:pPr>
            <a:r>
              <a:rPr lang="en-US" sz="1350" dirty="0">
                <a:solidFill>
                  <a:srgbClr val="16191C"/>
                </a:solidFill>
                <a:latin typeface="Arial" pitchFamily="34" charset="0"/>
                <a:ea typeface="Arial" pitchFamily="34" charset="-122"/>
                <a:cs typeface="Arial" pitchFamily="34" charset="-120"/>
              </a:rPr>
              <a:t>Backtests on real historical data</a:t>
            </a:r>
            <a:endParaRPr lang="en-US" sz="1350" dirty="0"/>
          </a:p>
        </p:txBody>
      </p:sp>
      <p:sp>
        <p:nvSpPr>
          <p:cNvPr id="17" name="Shape 15"/>
          <p:cNvSpPr/>
          <p:nvPr/>
        </p:nvSpPr>
        <p:spPr>
          <a:xfrm>
            <a:off x="594360" y="4206240"/>
            <a:ext cx="11000232" cy="0"/>
          </a:xfrm>
          <a:prstGeom prst="line">
            <a:avLst/>
          </a:prstGeom>
          <a:noFill/>
          <a:ln w="12700">
            <a:solidFill>
              <a:srgbClr val="16191C"/>
            </a:solidFill>
            <a:prstDash val="solid"/>
          </a:ln>
        </p:spPr>
      </p:sp>
      <p:sp>
        <p:nvSpPr>
          <p:cNvPr id="18" name="Text 16"/>
          <p:cNvSpPr txBox="1"/>
          <p:nvPr/>
        </p:nvSpPr>
        <p:spPr>
          <a:xfrm>
            <a:off x="594360" y="4389120"/>
            <a:ext cx="5486400" cy="914400"/>
          </a:xfrm>
          <a:prstGeom prst="rect">
            <a:avLst/>
          </a:prstGeom>
          <a:noFill/>
          <a:ln/>
        </p:spPr>
        <p:txBody>
          <a:bodyPr wrap="square" lIns="0" tIns="0" rIns="0" bIns="0" rtlCol="0" anchor="t"/>
          <a:lstStyle/>
          <a:p>
            <a:pPr indent="0" marL="0">
              <a:buNone/>
            </a:pPr>
            <a:r>
              <a:rPr lang="en-US" sz="5400" dirty="0">
                <a:solidFill>
                  <a:srgbClr val="16191C"/>
                </a:solidFill>
                <a:latin typeface="Georgia" pitchFamily="34" charset="0"/>
                <a:ea typeface="Georgia" pitchFamily="34" charset="-122"/>
                <a:cs typeface="Georgia" pitchFamily="34" charset="-120"/>
              </a:rPr>
              <a:t>Thank you.</a:t>
            </a:r>
            <a:endParaRPr lang="en-US" sz="5400" dirty="0"/>
          </a:p>
        </p:txBody>
      </p:sp>
      <p:sp>
        <p:nvSpPr>
          <p:cNvPr id="19" name="Text 17"/>
          <p:cNvSpPr txBox="1"/>
          <p:nvPr/>
        </p:nvSpPr>
        <p:spPr>
          <a:xfrm>
            <a:off x="594360" y="5349240"/>
            <a:ext cx="5486400" cy="274320"/>
          </a:xfrm>
          <a:prstGeom prst="rect">
            <a:avLst/>
          </a:prstGeom>
          <a:noFill/>
          <a:ln/>
        </p:spPr>
        <p:txBody>
          <a:bodyPr wrap="square" lIns="0" tIns="0" rIns="0" bIns="0" rtlCol="0" anchor="t"/>
          <a:lstStyle/>
          <a:p>
            <a:pPr indent="0" marL="0">
              <a:buNone/>
            </a:pPr>
            <a:r>
              <a:rPr lang="en-US" sz="1400" dirty="0">
                <a:solidFill>
                  <a:srgbClr val="6F747A"/>
                </a:solidFill>
                <a:latin typeface="Arial" pitchFamily="34" charset="0"/>
                <a:ea typeface="Arial" pitchFamily="34" charset="-122"/>
                <a:cs typeface="Arial" pitchFamily="34" charset="-120"/>
              </a:rPr>
              <a:t>Questions are welcome.</a:t>
            </a:r>
            <a:endParaRPr lang="en-US" sz="1400" dirty="0"/>
          </a:p>
        </p:txBody>
      </p:sp>
      <p:sp>
        <p:nvSpPr>
          <p:cNvPr id="20" name="Text 18"/>
          <p:cNvSpPr txBox="1"/>
          <p:nvPr/>
        </p:nvSpPr>
        <p:spPr>
          <a:xfrm>
            <a:off x="6766560" y="4489704"/>
            <a:ext cx="1097280" cy="219456"/>
          </a:xfrm>
          <a:prstGeom prst="rect">
            <a:avLst/>
          </a:prstGeom>
          <a:noFill/>
          <a:ln/>
        </p:spPr>
        <p:txBody>
          <a:bodyPr wrap="square" lIns="0" tIns="0" rIns="0" bIns="0" rtlCol="0" anchor="t"/>
          <a:lstStyle/>
          <a:p>
            <a:pPr indent="0" marL="0">
              <a:buNone/>
            </a:pPr>
            <a:r>
              <a:rPr lang="en-US" sz="950" b="1" spc="200" kern="0" dirty="0">
                <a:solidFill>
                  <a:srgbClr val="1F6F5C"/>
                </a:solidFill>
                <a:latin typeface="Arial" pitchFamily="34" charset="0"/>
                <a:ea typeface="Arial" pitchFamily="34" charset="-122"/>
                <a:cs typeface="Arial" pitchFamily="34" charset="-120"/>
              </a:rPr>
              <a:t>LIVE DEMO</a:t>
            </a:r>
            <a:endParaRPr lang="en-US" sz="950" dirty="0"/>
          </a:p>
        </p:txBody>
      </p:sp>
      <p:sp>
        <p:nvSpPr>
          <p:cNvPr id="21" name="Text 19">
            <a:hlinkClick r:id="rId2" tooltip=""/>
          </p:cNvPr>
          <p:cNvSpPr txBox="1"/>
          <p:nvPr/>
        </p:nvSpPr>
        <p:spPr>
          <a:xfrm>
            <a:off x="7909560" y="4462272"/>
            <a:ext cx="3685032" cy="237744"/>
          </a:xfrm>
          <a:prstGeom prst="rect">
            <a:avLst/>
          </a:prstGeom>
          <a:noFill/>
          <a:ln/>
        </p:spPr>
        <p:txBody>
          <a:bodyPr wrap="square" lIns="0" tIns="0" rIns="0" bIns="0" rtlCol="0" anchor="t"/>
          <a:lstStyle/>
          <a:p>
            <a:pPr indent="0" marL="0">
              <a:buNone/>
            </a:pPr>
            <a:r>
              <a:rPr lang="en-US" sz="1250" u="sng" dirty="0">
                <a:solidFill>
                  <a:srgbClr val="16191C"/>
                </a:solidFill>
                <a:latin typeface="Arial" pitchFamily="34" charset="0"/>
                <a:ea typeface="Arial" pitchFamily="34" charset="-122"/>
                <a:cs typeface="Arial" pitchFamily="34" charset="-120"/>
                <a:hlinkClick r:id="rId2" invalidUrl="" action="" tgtFrame="" tooltip="" history="1" highlightClick="0" endSnd="0">
                  <a:extLst>
                    <a:ext uri="{A12FA001-AC4F-418D-AE19-62706E023703}">
                      <ahyp:hlinkClr xmlns:ahyp="http://schemas.microsoft.com/office/drawing/2018/hyperlinkcolor" val="tx"/>
                    </a:ext>
                  </a:extLst>
                </a:hlinkClick>
              </a:rPr>
              <a:t>market-lens-kappa.vercel.app</a:t>
            </a:r>
            <a:endParaRPr lang="en-US" sz="1250" dirty="0"/>
          </a:p>
        </p:txBody>
      </p:sp>
      <p:sp>
        <p:nvSpPr>
          <p:cNvPr id="22" name="Text 20"/>
          <p:cNvSpPr txBox="1"/>
          <p:nvPr/>
        </p:nvSpPr>
        <p:spPr>
          <a:xfrm>
            <a:off x="6766560" y="4855464"/>
            <a:ext cx="1097280" cy="219456"/>
          </a:xfrm>
          <a:prstGeom prst="rect">
            <a:avLst/>
          </a:prstGeom>
          <a:noFill/>
          <a:ln/>
        </p:spPr>
        <p:txBody>
          <a:bodyPr wrap="square" lIns="0" tIns="0" rIns="0" bIns="0" rtlCol="0" anchor="t"/>
          <a:lstStyle/>
          <a:p>
            <a:pPr indent="0" marL="0">
              <a:buNone/>
            </a:pPr>
            <a:r>
              <a:rPr lang="en-US" sz="950" b="1" spc="200" kern="0" dirty="0">
                <a:solidFill>
                  <a:srgbClr val="1F6F5C"/>
                </a:solidFill>
                <a:latin typeface="Arial" pitchFamily="34" charset="0"/>
                <a:ea typeface="Arial" pitchFamily="34" charset="-122"/>
                <a:cs typeface="Arial" pitchFamily="34" charset="-120"/>
              </a:rPr>
              <a:t>CODE</a:t>
            </a:r>
            <a:endParaRPr lang="en-US" sz="950" dirty="0"/>
          </a:p>
        </p:txBody>
      </p:sp>
      <p:sp>
        <p:nvSpPr>
          <p:cNvPr id="23" name="Text 21">
            <a:hlinkClick r:id="rId3" tooltip=""/>
          </p:cNvPr>
          <p:cNvSpPr txBox="1"/>
          <p:nvPr/>
        </p:nvSpPr>
        <p:spPr>
          <a:xfrm>
            <a:off x="7909560" y="4828032"/>
            <a:ext cx="3685032" cy="237744"/>
          </a:xfrm>
          <a:prstGeom prst="rect">
            <a:avLst/>
          </a:prstGeom>
          <a:noFill/>
          <a:ln/>
        </p:spPr>
        <p:txBody>
          <a:bodyPr wrap="square" lIns="0" tIns="0" rIns="0" bIns="0" rtlCol="0" anchor="t"/>
          <a:lstStyle/>
          <a:p>
            <a:pPr indent="0" marL="0">
              <a:buNone/>
            </a:pPr>
            <a:r>
              <a:rPr lang="en-US" sz="1250" u="sng" dirty="0">
                <a:solidFill>
                  <a:srgbClr val="16191C"/>
                </a:solidFill>
                <a:latin typeface="Arial" pitchFamily="34" charset="0"/>
                <a:ea typeface="Arial" pitchFamily="34" charset="-122"/>
                <a:cs typeface="Arial" pitchFamily="34" charset="-120"/>
                <a:hlinkClick r:id="rId3" invalidUrl="" action="" tgtFrame="" tooltip="" history="1" highlightClick="0" endSnd="0">
                  <a:extLst>
                    <a:ext uri="{A12FA001-AC4F-418D-AE19-62706E023703}">
                      <ahyp:hlinkClr xmlns:ahyp="http://schemas.microsoft.com/office/drawing/2018/hyperlinkcolor" val="tx"/>
                    </a:ext>
                  </a:extLst>
                </a:hlinkClick>
              </a:rPr>
              <a:t>github.com/Krishpotanwar/MarketLens</a:t>
            </a:r>
            <a:endParaRPr lang="en-US" sz="1250" dirty="0"/>
          </a:p>
        </p:txBody>
      </p:sp>
      <p:sp>
        <p:nvSpPr>
          <p:cNvPr id="24" name="Text 22"/>
          <p:cNvSpPr txBox="1"/>
          <p:nvPr/>
        </p:nvSpPr>
        <p:spPr>
          <a:xfrm>
            <a:off x="6766560" y="5221224"/>
            <a:ext cx="1097280" cy="219456"/>
          </a:xfrm>
          <a:prstGeom prst="rect">
            <a:avLst/>
          </a:prstGeom>
          <a:noFill/>
          <a:ln/>
        </p:spPr>
        <p:txBody>
          <a:bodyPr wrap="square" lIns="0" tIns="0" rIns="0" bIns="0" rtlCol="0" anchor="t"/>
          <a:lstStyle/>
          <a:p>
            <a:pPr indent="0" marL="0">
              <a:buNone/>
            </a:pPr>
            <a:r>
              <a:rPr lang="en-US" sz="950" b="1" spc="200" kern="0" dirty="0">
                <a:solidFill>
                  <a:srgbClr val="1F6F5C"/>
                </a:solidFill>
                <a:latin typeface="Arial" pitchFamily="34" charset="0"/>
                <a:ea typeface="Arial" pitchFamily="34" charset="-122"/>
                <a:cs typeface="Arial" pitchFamily="34" charset="-120"/>
              </a:rPr>
              <a:t>TEAM</a:t>
            </a:r>
            <a:endParaRPr lang="en-US" sz="950" dirty="0"/>
          </a:p>
        </p:txBody>
      </p:sp>
      <p:sp>
        <p:nvSpPr>
          <p:cNvPr id="25" name="Text 23"/>
          <p:cNvSpPr txBox="1"/>
          <p:nvPr/>
        </p:nvSpPr>
        <p:spPr>
          <a:xfrm>
            <a:off x="7909560" y="5193792"/>
            <a:ext cx="3685032" cy="237744"/>
          </a:xfrm>
          <a:prstGeom prst="rect">
            <a:avLst/>
          </a:prstGeom>
          <a:noFill/>
          <a:ln/>
        </p:spPr>
        <p:txBody>
          <a:bodyPr wrap="square" lIns="0" tIns="0" rIns="0" bIns="0" rtlCol="0" anchor="t"/>
          <a:lstStyle/>
          <a:p>
            <a:pPr indent="0" marL="0">
              <a:buNone/>
            </a:pPr>
            <a:r>
              <a:rPr lang="en-US" sz="1250" dirty="0">
                <a:solidFill>
                  <a:srgbClr val="16191C"/>
                </a:solidFill>
                <a:latin typeface="Arial" pitchFamily="34" charset="0"/>
                <a:ea typeface="Arial" pitchFamily="34" charset="-122"/>
                <a:cs typeface="Arial" pitchFamily="34" charset="-120"/>
              </a:rPr>
              <a:t>Shreya, Krish and Dhanashree</a:t>
            </a:r>
            <a:endParaRPr lang="en-US" sz="1250" dirty="0"/>
          </a:p>
        </p:txBody>
      </p:sp>
      <p:sp>
        <p:nvSpPr>
          <p:cNvPr id="26" name="Text 24"/>
          <p:cNvSpPr txBox="1"/>
          <p:nvPr/>
        </p:nvSpPr>
        <p:spPr>
          <a:xfrm>
            <a:off x="594360" y="6382512"/>
            <a:ext cx="2743200" cy="201168"/>
          </a:xfrm>
          <a:prstGeom prst="rect">
            <a:avLst/>
          </a:prstGeom>
          <a:noFill/>
          <a:ln/>
        </p:spPr>
        <p:txBody>
          <a:bodyPr wrap="square" lIns="0" tIns="0" rIns="0" bIns="0" rtlCol="0" anchor="t"/>
          <a:lstStyle/>
          <a:p>
            <a:pPr indent="0" marL="0">
              <a:buNone/>
            </a:pPr>
            <a:r>
              <a:rPr lang="en-US" sz="1000" i="1" dirty="0">
                <a:solidFill>
                  <a:srgbClr val="6F747A"/>
                </a:solidFill>
                <a:latin typeface="Georgia" pitchFamily="34" charset="0"/>
                <a:ea typeface="Georgia" pitchFamily="34" charset="-122"/>
                <a:cs typeface="Georgia" pitchFamily="34" charset="-120"/>
              </a:rPr>
              <a:t>MarketLens</a:t>
            </a:r>
            <a:endParaRPr lang="en-US" sz="1000" dirty="0"/>
          </a:p>
        </p:txBody>
      </p:sp>
    </p:spTree>
  </p:cSld>
  <p:clrMapOvr>
    <a:masterClrMapping/>
  </p:clrMapOvr>
</p:sld>
</file>

<file path=ppt/theme/theme1.xml><?xml version="1.0" encoding="utf-8"?>
<a:theme xmlns:a="http://schemas.openxmlformats.org/drawingml/2006/main" name="MarketLens">
  <a:themeElements>
    <a:clrScheme name="MarketLens">
      <a:dk1>
        <a:srgbClr val="16191C"/>
      </a:dk1>
      <a:lt1>
        <a:srgbClr val="FFFFFF"/>
      </a:lt1>
      <a:dk2>
        <a:srgbClr val="3B4045"/>
      </a:dk2>
      <a:lt2>
        <a:srgbClr val="FAF9F6"/>
      </a:lt2>
      <a:accent1>
        <a:srgbClr val="1F6F5C"/>
      </a:accent1>
      <a:accent2>
        <a:srgbClr val="A3433B"/>
      </a:accent2>
      <a:accent3>
        <a:srgbClr val="6F747A"/>
      </a:accent3>
      <a:accent4>
        <a:srgbClr val="D6D1C7"/>
      </a:accent4>
      <a:accent5>
        <a:srgbClr val="E3EEE9"/>
      </a:accent5>
      <a:accent6>
        <a:srgbClr val="F5E4E0"/>
      </a:accent6>
      <a:hlink>
        <a:srgbClr val="1F6F5C"/>
      </a:hlink>
      <a:folHlink>
        <a:srgbClr val="6F747A"/>
      </a:folHlink>
    </a:clrScheme>
    <a:fontScheme name="MarketLens">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MarketLens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MarketLens</dc:title>
  <dc:subject>Data Analytics and Visualization mini project, Lab Assessment II</dc:subject>
  <dc:creator>Shreya Sharma, Krish Potanwar, Dhanashree Sainis</dc:creator>
  <cp:lastModifiedBy>Shreya Sharma, Krish Potanwar, Dhanashree Sainis</cp:lastModifiedBy>
  <cp:revision>1</cp:revision>
  <dcterms:created xsi:type="dcterms:W3CDTF">2026-10-29T17:36:58Z</dcterms:created>
  <dcterms:modified xsi:type="dcterms:W3CDTF">2026-10-29T17:36:58Z</dcterms:modified>
</cp:coreProperties>
</file>